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eligible possessions</c:v>
                </c:pt>
              </c:strCache>
            </c:strRef>
          </c:tx>
          <c:spPr>
            <a:solidFill>
              <a:srgbClr val="3568F0"/>
            </a:solidFill>
            <a:effectLst/>
          </c:spPr>
          <c:invertIfNegative val="0"/>
          <c:dLbls>
            <c:numFmt formatCode="0.00&quot;%&quot;" sourceLinked="0"/>
            <c:txPr>
              <a:bodyPr/>
              <a:lstStyle/>
              <a:p>
                <a:pPr>
                  <a:defRPr b="0" i="0" strike="noStrike" sz="1400" u="none">
                    <a:solidFill>
                      <a:srgbClr val="161617"/>
                    </a:solidFill>
                    <a:latin typeface="Calibri"/>
                  </a:defRPr>
                </a:pPr>
              </a:p>
            </c:txPr>
            <c:showLegendKey val="0"/>
            <c:showVal val="1"/>
            <c:showCatName val="0"/>
            <c:showSerName val="0"/>
            <c:showPercent val="0"/>
            <c:showBubbleSize val="0"/>
            <c:showLeaderLines val="0"/>
          </c:dLbls>
          <c:cat>
            <c:multiLvlStrRef>
              <c:f>Sheet1!$A$2:$A$5</c:f>
              <c:multiLvlStrCache>
                <c:ptCount val="4"/>
                <c:lvl>
                  <c:pt idx="0">
                    <c:v>Wide Retreating Block</c:v>
                  </c:pt>
                  <c:pt idx="1">
                    <c:v>Compact Pressure Block</c:v>
                  </c:pt>
                  <c:pt idx="2">
                    <c:v>High-Intensity Press</c:v>
                  </c:pt>
                  <c:pt idx="3">
                    <c:v>Set-Piece Compact Shape</c:v>
                  </c:pt>
                </c:lvl>
              </c:multiLvlStrCache>
            </c:multiLvlStrRef>
          </c:cat>
          <c:val>
            <c:numRef>
              <c:f>Sheet1!$B$2:$B$5</c:f>
              <c:numCache>
                <c:formatCode>General</c:formatCode>
                <c:ptCount val="4"/>
                <c:pt idx="0">
                  <c:v>52.57</c:v>
                </c:pt>
                <c:pt idx="1">
                  <c:v>32.23</c:v>
                </c:pt>
                <c:pt idx="2">
                  <c:v>7.7</c:v>
                </c:pt>
                <c:pt idx="3">
                  <c:v>7.51</c:v>
                </c:pt>
              </c:numCache>
            </c:numRef>
          </c:val>
        </c:ser>
        <c:dLbls>
          <c:numFmt formatCode="0.00&quot;%&quot;" sourceLinked="0"/>
          <c:txPr>
            <a:bodyPr/>
            <a:lstStyle/>
            <a:p>
              <a:pPr>
                <a:defRPr b="0" i="0" strike="noStrike" sz="1400" u="none">
                  <a:solidFill>
                    <a:srgbClr val="16161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161617"/>
                </a:solidFill>
                <a:latin typeface="Calibri"/>
              </a:defRPr>
            </a:pPr>
            <a:endParaRPr lang="en-US"/>
          </a:p>
        </c:txPr>
        <c:crossAx val="2094734552"/>
        <c:crosses val="autoZero"/>
        <c:auto val="1"/>
        <c:lblAlgn val="ctr"/>
        <c:noMultiLvlLbl val="1"/>
      </c:catAx>
      <c:valAx>
        <c:axId val="2094734552"/>
        <c:scaling>
          <c:orientation val="minMax"/>
          <c:max val="60"/>
        </c:scaling>
        <c:delete val="0"/>
        <c:axPos val="b"/>
        <c:majorGridlines>
          <c:spPr>
            <a:ln w="12700" cap="flat">
              <a:solidFill>
                <a:srgbClr val="E2E2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E6E73"/>
                </a:solidFill>
                <a:latin typeface="Calibri"/>
              </a:defRPr>
            </a:pPr>
            <a:endParaRPr lang="en-US"/>
          </a:p>
        </c:txPr>
        <c:crossAx val="2094734554"/>
        <c:crosses val="autoZero"/>
        <c:crossBetween val="between"/>
      </c:valAx>
      <c:spPr>
        <a:solidFill>
          <a:srgbClr val="F5F5F7"/>
        </a:solidFill>
        <a:ln>
          <a:noFill/>
        </a:ln>
        <a:effectLst/>
      </c:spPr>
    </c:plotArea>
    <c:plotVisOnly val="1"/>
    <c:dispBlanksAs val="span"/>
  </c:chart>
  <c:spPr>
    <a:solidFill>
      <a:srgbClr val="F5F5F7"/>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Shot</c:v>
                </c:pt>
              </c:strCache>
            </c:strRef>
          </c:tx>
          <c:spPr>
            <a:solidFill>
              <a:srgbClr val="3568F0"/>
            </a:solidFill>
            <a:effectLst/>
          </c:spPr>
          <c:invertIfNegative val="0"/>
          <c:dLbls>
            <c:numFmt formatCode="0.0000" sourceLinked="0"/>
            <c:txPr>
              <a:bodyPr/>
              <a:lstStyle/>
              <a:p>
                <a:pPr>
                  <a:defRPr b="0" i="0" strike="noStrike" sz="1300" u="none">
                    <a:solidFill>
                      <a:srgbClr val="161617"/>
                    </a:solidFill>
                    <a:latin typeface="Calibri"/>
                  </a:defRPr>
                </a:pPr>
              </a:p>
            </c:txPr>
            <c:showLegendKey val="0"/>
            <c:showVal val="1"/>
            <c:showCatName val="0"/>
            <c:showSerName val="0"/>
            <c:showPercent val="0"/>
            <c:showBubbleSize val="0"/>
            <c:showLeaderLines val="0"/>
          </c:dLbls>
          <c:cat>
            <c:multiLvlStrRef>
              <c:f>Sheet1!$A$2:$A$3</c:f>
              <c:multiLvlStrCache>
                <c:ptCount val="2"/>
                <c:lvl>
                  <c:pt idx="0">
                    <c:v>ROC-AUC</c:v>
                  </c:pt>
                  <c:pt idx="1">
                    <c:v>PR-AUC</c:v>
                  </c:pt>
                </c:lvl>
              </c:multiLvlStrCache>
            </c:multiLvlStrRef>
          </c:cat>
          <c:val>
            <c:numRef>
              <c:f>Sheet1!$B$2:$B$3</c:f>
              <c:numCache>
                <c:formatCode>General</c:formatCode>
                <c:ptCount val="2"/>
                <c:pt idx="0">
                  <c:v>0.8918</c:v>
                </c:pt>
                <c:pt idx="1">
                  <c:v>0.5238</c:v>
                </c:pt>
              </c:numCache>
            </c:numRef>
          </c:val>
        </c:ser>
        <c:ser>
          <c:idx val="1"/>
          <c:order val="1"/>
          <c:tx>
            <c:strRef>
              <c:f>Sheet1!$C$1</c:f>
              <c:strCache>
                <c:ptCount val="1"/>
                <c:pt idx="0">
                  <c:v>Penalty-area entry</c:v>
                </c:pt>
              </c:strCache>
            </c:strRef>
          </c:tx>
          <c:spPr>
            <a:solidFill>
              <a:srgbClr val="9FB8F5"/>
            </a:solidFill>
            <a:effectLst/>
          </c:spPr>
          <c:invertIfNegative val="0"/>
          <c:dLbls>
            <c:numFmt formatCode="0.0000" sourceLinked="0"/>
            <c:txPr>
              <a:bodyPr/>
              <a:lstStyle/>
              <a:p>
                <a:pPr>
                  <a:defRPr b="0" i="0" strike="noStrike" sz="1300" u="none">
                    <a:solidFill>
                      <a:srgbClr val="161617"/>
                    </a:solidFill>
                    <a:latin typeface="Calibri"/>
                  </a:defRPr>
                </a:pPr>
              </a:p>
            </c:txPr>
            <c:showLegendKey val="0"/>
            <c:showVal val="1"/>
            <c:showCatName val="0"/>
            <c:showSerName val="0"/>
            <c:showPercent val="0"/>
            <c:showBubbleSize val="0"/>
            <c:showLeaderLines val="0"/>
          </c:dLbls>
          <c:cat>
            <c:multiLvlStrRef>
              <c:f>Sheet1!$A$2:$A$3</c:f>
              <c:multiLvlStrCache>
                <c:ptCount val="2"/>
                <c:lvl>
                  <c:pt idx="0">
                    <c:v>ROC-AUC</c:v>
                  </c:pt>
                  <c:pt idx="1">
                    <c:v>PR-AUC</c:v>
                  </c:pt>
                </c:lvl>
              </c:multiLvlStrCache>
            </c:multiLvlStrRef>
          </c:cat>
          <c:val>
            <c:numRef>
              <c:f>Sheet1!$C$2:$C$3</c:f>
              <c:numCache>
                <c:formatCode>General</c:formatCode>
                <c:ptCount val="2"/>
                <c:pt idx="0">
                  <c:v>0.9041</c:v>
                </c:pt>
                <c:pt idx="1">
                  <c:v>0.8304</c:v>
                </c:pt>
              </c:numCache>
            </c:numRef>
          </c:val>
        </c:ser>
        <c:dLbls>
          <c:numFmt formatCode="0.0000" sourceLinked="0"/>
          <c:txPr>
            <a:bodyPr/>
            <a:lstStyle/>
            <a:p>
              <a:pPr>
                <a:defRPr b="0" i="0" strike="noStrike" sz="1300" u="none">
                  <a:solidFill>
                    <a:srgbClr val="161617"/>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161617"/>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E2E2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E6E73"/>
                </a:solidFill>
                <a:latin typeface="Calibri"/>
              </a:defRPr>
            </a:pPr>
            <a:endParaRPr lang="en-US"/>
          </a:p>
        </c:txPr>
        <c:crossAx val="2094734554"/>
        <c:crosses val="autoZero"/>
        <c:crossBetween val="between"/>
      </c:valAx>
      <c:spPr>
        <a:solidFill>
          <a:srgbClr val="F5F5F7"/>
        </a:solidFill>
        <a:ln>
          <a:noFill/>
        </a:ln>
        <a:effectLst/>
      </c:spPr>
    </c:plotArea>
    <c:legend>
      <c:legendPos val="t"/>
      <c:overlay val="0"/>
      <c:txPr>
        <a:bodyPr/>
        <a:lstStyle/>
        <a:p>
          <a:pPr>
            <a:defRPr sz="1300">
              <a:solidFill>
                <a:srgbClr val="6E6E73"/>
              </a:solidFill>
              <a:latin typeface="Calibri"/>
              <a:cs typeface="Calibri"/>
            </a:defRPr>
          </a:pPr>
          <a:endParaRPr lang="en-US"/>
        </a:p>
      </c:txPr>
    </c:legend>
    <c:plotVisOnly val="1"/>
    <c:dispBlanksAs val="span"/>
  </c:chart>
  <c:spPr>
    <a:solidFill>
      <a:srgbClr val="F5F5F7"/>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deck: it is your map of the system, not a results presentation.
Say up front: the project is in active development. The analytical foundation is mature, while model development, validation, recommendation logic, and final interpretation remain in progress. Nothing in this deck is a final model or a final claim.
Frame the session: about 40 minutes, ending with a concrete first-week path. Interrupt at any point — questions about information cutoffs and validation are the most valuable ones you can ask.
Terminology note for the session: "possession" is the analytical unit, "360" is StatsBomb event-time freeze-frame spatial data, and "style" always means a discovered cluster, never a coach-assigned label.
[Sources] PRESENTATION_PROJECT_BRIEF.md (status and claim authority); README.md; data/raw/info.md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every design decision downstream follows from choosing the possession, not the player or the match, as the unit of analysis.
Definition — possession: an uninterrupted sequence of actions by one team, identified in StatsBomb data by a possession ID within a match and period. It is the smallest unit that still contains a tactical intention.
A box score tells you a team completed 600 passes. It does not tell you whether those passes built anything, or what the opponent was doing while they were played. The research question is deliberately two-part: discover styles (unsupervised), then examine effectiveness under defensive conditions (observational comparison).
Status: this slide is project framing, not a result. Emphasise that "effectiveness" here will always mean observed association within this tournament.
[Sources] PRESENTATION_PROJECT_BRIEF.md (status and claim authority); data/raw/info.md; 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these five objectives are how work is scoped. Any contribution should map to one of them.
Objective 5 is the one that gets misread most often. "Pre-decision context" means information that exists before the possession is played. It is not a live prediction system and it does not license causal language.
For the coaching audience: outputs are hypothesis generators for video review. The system never issues an instruction, and the experimental recommendation layer currently validates zero substitutions (see slide 22).
Status: strategic framing. No metrics on this slide.
[Sources] PRESENTATION_PROJECT_BRIEF.md (status and claim authority); data/raw/info.md; README.md; config/coaching_input_contract.md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the repository is larger than the proposal. If you read only info.md you will not know why half the scripts exist.
The five core stages are sequential dependencies, not a menu — stage 4 cannot run without stages 2 and 3, and stage 5 consumes the outputs of all of them.
The optional extensions are still open. Early style prediction (from the first 5–10 seconds of a possession) is one of the better-scoped starter workstreams for a new member because its information cutoff is unambiguous.
Status: stages 1–3 rest on a validated data foundation; stage 4 is a current analytical snapshot; stage 5 is provisional modeling; everything in the right-hand panel is the experimental layer.
[Sources] PRESENTATION_PROJECT_BRIEF.md (status and claim authority); data/raw/info.md; 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nearly every spatial feature in the project inherits the limits of this second data layer, so the boundary callout is not a footnote.
How the layers join: each event carries a UUID; the 360 file for a match keys freeze frames by that same event UUID. If an event has no frame, its possession simply has less spatial coverage — which is why coverage is reported explicitly (slide 12).
Definition — xG (expected goals): a model-estimated probability that a shot becomes a goal, supplied by StatsBomb. We consume it; we do not fit it.
Definition — visible area: the polygon of the pitch the broadcast camera could see at that event. Players outside it are not missing, they are unobserved — a distinction that matters when interpreting density measures.
Attribution: StatsBomb Open Data carries attribution requirements. Any public artifact from this project must credit StatsBomb.
Status: validated foundation.
[Sources] PRESENTATION_PROJECT_BRIEF.md (status and claim authority); data/raw/info.md; README.md; results/frames_360_validation.md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this is the single transformation that defines the project. Everything after it operates on rows of 11,016, not on events.
Read the arrow literally: 234,637 flattened event rows in the current snapshot, minus 106 penalty-shootout rows, aggregated into 11,016 possession rows. Shootouts are excluded because they are not open play and would contaminate both style discovery and outcome modeling.
The unique key is match + period + possession. Period matters — possession counters restart, so match + possession alone is not unique.
Goal reconciliation (172) is the strongest single integrity check we have: if aggregation silently dropped or duplicated sequences, the goal count would drift.
Status: validated foundation. These are data-integrity facts, not project conclusions.
Implementation: scripts/preprocess_possessions.py
[Sources] PRESENTATION_PROJECT_BRIEF.md (status and claim authority); results/possession_validation_report.md; data/processed/possession_data_dictionary.md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use this as the index for the whole deck. Slides 8–22 walk this map left to right, and slide 25 gives the executable commands in the same order.
The colour coding is the project's status vocabulary and is used consistently everywhere: green = validated foundation (acquisition, possession construction, 360 caching, feature generation and their recorded integrity checks); blue = current analytical snapshot (cluster assignments, matchup summaries, retrospective benchmarks produced by the current code); amber = provisional modeling (architectures, metrics, rankings, explanations that may change); red = experimental layer (recommendation, simulation, transition risk, lineup and substitution logic, coach-facing reporting).
Note the shape of the dependency chain: steps 1–3 must be green for anything downstream to mean anything, which is why validation is treated as a pipeline stage rather than a report at the end.
Steps 8 and 9 are deliberately separated. Step 8 explains completed possessions retrospectively; step 9 asks what could be known before the decision. Conflating them is the single most common misreading of this project.
[Sources] PRESENTATION_PROJECT_BRIEF.md (status and claim authority); README.md; results/reports/pipeline_manifest.json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these families are the vocabulary of every later model. Appendix A points at the full column-level dictionary.
Definitions on first use — progressive pass/carry: an action that advances the ball a meaningful distance toward the opponent goal. Final third: the attacking third of the 120-unit pitch length. Cutback: a pass played backwards from near the byline into the area in front of goal. Switch: a long lateral pass changing the side of the attack.
The right-hand panel is the reason the clustering can be called unsupervised in any useful sense. If shot or xG entered the feature matrix, the discovered "styles" would partly be outcome groupings, and every later effectiveness comparison would be circular.
Status: validated foundation — feature generation and its recorded integrity checks.
Implementation: scripts/preprocess_possessions.py, data/processed/possession_data_dictionary.md
[Sources] PRESENTATION_PROJECT_BRIEF.md (status and claim authority); data/processed/possession_data_dictionary.md; results/possession_validation_report.md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validation is a first-class pipeline stage here, not a report written afterwards. If a gate fails, the stage does not ship its table.
The bounded-completion and non-negative-duration checks look trivial but they catch aggregation bugs quickly: both are violated the moment event ordering or timestamp arithmetic breaks.
Note the difference between 1,438 shots and 1,282 possessions containing a shot — a single possession can contain more than one shot (rebounds, blocked follow-ups). Modeling targets are defined at possession level, so 1,282 is the relevant figure for a "did this possession produce a shot" target within the full table.
Total recorded xG (154.174) is StatsBomb-supplied and summed, not fitted by us.
Status: validated foundation. These numbers describe the data, and they change only if the source snapshot or the aggregation changes.
Implementation: scripts/preprocess_possessions.py, scripts/eda_validation_checks.py
[Sources] PRESENTATION_PROJECT_BRIEF.md (status and claim authority); results/possession_validation_report.md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this is where "style" is defined operationally. A style is a K-Means cluster over behavioural features, nothing more.
Definitions — K-Means: partitions observations into k groups by minimising distance to cluster centroids. Silhouette score: how well each point sits inside its own cluster versus the nearest other cluster, roughly -1 to 1. Adjusted Rand Index (ARI): agreement between two clusterings, 1 = identical.
Read the two diagnostics together. ARI 0.9974 across repeated fits says the solution is reproducible. Silhouette 0.2470 says the clusters are not well separated in feature space. Both are true, and only the second one limits interpretation.
The ordering of steps matters for leakage: clipping bounds and scaling parameters are stored artifacts. Note the open question on slide 27 — this pipeline is currently fitted tournament-wide rather than inside cross-validation folds.
Labels are assigned deterministically after clustering by an analyst reading centroid fingerprints. The algorithm produces cluster 0, 1, 2 — not "Patient Build-up".
Status: validated feature foundation, current analytical snapshot for the cluster assignments themselves.
Implementation: scripts/cluster_attacking_styles.py
[Sources] PRESENTATION_PROJECT_BRIEF.md (status and claim authority); results/attacking_style_summary.md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these three names will appear in matchup tables, model features and reports. They are shorthand for centroid fingerprints, and they are not stable facts about football.
Only the strongest distinguishing features are listed. Each cluster differs from the others on many dimensions; the ones shown are those that dominate the centroid contrast.
Guard against two misreadings in conversation: (1) a team does not "play Patient Build-up" — individual possessions are assigned, and every team appears in all three; (2) the shares are tournament-wide proportions of eligible possessions, not per-team averages.
Because silhouette is modest (0.2470, slide 10), possessions near cluster boundaries could flip under a different seed or feature set. Do not build an argument on a single possession's label.
Status: current analytical snapshot. Labels and shares may change if the clustering is refitted inside folds, which is planned open work.
[Sources] PRESENTATION_PROJECT_BRIEF.md (status and claim authority); results/attacking_style_summary.md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defensive analysis is not another view of the same table — it is a second data acquisition with its own cache, its own validation report and its own coverage limits.
Definitions — back-line height: how far up the pitch the deepest defensive line sits. Compactness: how tightly the defensive block is packed. Behind-ball share: the fraction of visible defenders positioned between the ball and their own goal.
Normalizing into the attacking team's direction is what makes features comparable across halves and teams; without it, "high line" would mean opposite things in the two periods.
Coverage of 96.13% is good but not complete, and it is not missing at random — frames depend on broadcast visibility. Retaining observed-player counts lets downstream models and readers see how much of the shape was actually visible.
The anonymity boundary is why we never claim a named defender did something in the off-ball shape. Only the event actor is identified.
Status: validated foundation — 360 cache and spatial feature coverage.
Implementation: scripts/cache_360_frames.py, scripts/build_defensive_features.py
[Sources] PRESENTATION_PROJECT_BRIEF.md (status and claim authority); results/frames_360_validation.md; results/defensive_feature_validation.md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the defensive layer answers "what did the defence look like during this possession", which is a property of the possession, not a badge worn by a team.
Eligibility drops to 9,685 here because a possession needs adequate 360 coverage to receive defensive features. That same 9,685 population reappears in stage 5 modeling and in the pre-decision branch — it is the project's effective modeling population.
Silhouette 0.1897 is lower than the attacking side. Defensive responses blend into each other even more than attacking behaviour, so these labels carry correspondingly less weight. Stability ARI 0.9999 again says only that the fit is reproducible.
"Set-Piece Compact Shape" is a reminder that clusters can capture situation rather than intent — set pieces produce a distinctive shape regardless of a team's defensive philosophy.
Status: current analytical snapshot.
Implementation: scripts/cluster_defensive_styles.py
[Sources] PRESENTATION_PROJECT_BRIEF.md (status and claim authority); results/defensive_style_summary.md; results/defensive_feature_validation.md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this is the slide most likely to be screenshotted and misquoted, so the language discipline starts here.
What the stage computes per cell: sample size, shot rate, box-entry rate and mean xG, plus team style shares and each team's exposure to each matchup. Sample counts stay beside every effectiveness measure because some cells are thin — High-Intensity Press and Set-Piece Compact Shape together account for roughly 15% of eligible possessions.
Why it is not causal: style is not assigned by us, it is observed. Teams choose how to attack partly in response to the defence they face, and both are shaped by scoreline, opponent quality and match stage. A high shot rate in a cell tells you what co-occurred, not what would happen if a coach switched approach.
Do not title or summarise this stage as "best tactics" or "winning strategy" in any artifact.
Status: current analytical snapshot.
Implementation: scripts/analyze_defensive_matchups.py
[Sources] PRESENTATION_PROJECT_BRIEF.md (status and claim authority); results/defensive_matchup_summary.md; results/attacking_style_summary.md; results/defensive_style_summary.md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this is the supervised branch, and it is retrospective by construction. It classifies possessions that have already finished.
Definitions — log loss: penalises confident wrong probabilities, lower is better. Brier score: mean squared error of predicted probabilities. ROC-AUC: ranking quality across all thresholds. PR-AUC: ranking quality focused on the positive class, which matters when positives are rare. Calibration: whether a predicted 0.3 actually happens about 30% of the time.
We lead with probability quality rather than AUC because the intended use is reasoning about likelihoods, not making a binary call at a fixed threshold.
The five feature layouts are the experiment: they vary how much possession-internal information the model is allowed to see, from Start Context (least) to Tactical + Shape and Player-Aware (most). Slide 17 explains why that gradient is the whole point.
Unit of analysis: one completed possession. Evaluation population: the eligible 9,685.
Status: provisional modeling.
Implementation: scripts/benchmark_coaching_models.py, scripts/benchmark_coaching_models_v2.py, scripts/select_coaching_models.py
[Sources] PRESENTATION_PROJECT_BRIEF.md (status and claim authority); results/coaching_model_benchmark.md; results/coaching_model_selection.md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this design is the reason the project's numbers are worth reading at all — and the one failing gate is the reason none of them can be published yet.
Definition — group cross-validation: folds are formed over groups (here, matches) so that no group appears in both training and validation. Stratification keeps the positive rate similar across folds.
Artifact replay, probability bounds and split isolation all pass. The failure is a schema contract mismatch, not a statistical result: world_cup_recommendation_features.csv provides first_play_pattern, the saved classifier bundle expects play_pattern.
Do not cite results/eda_validation_report.json as current evidence. The committed report says PASS and is stale relative to this checkout; it must be regenerated after the contract is repaired and the suite is rerun from the same checkout.
What could still leak even with this design: clustering is fitted tournament-wide (transductive), and player-position lookup is not yet fold-local. Both are listed as open work on slide 27.
Status: validated split infrastructure; blocked acceptance.
Implementation: scripts/eda_validation_checks.py --final
[Sources] PRESENTATION_PROJECT_BRIEF.md (status and claim authority); results/stage5_leakage_audit.md; scripts/eda_validation_checks.py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if you remember one slide from this session, make it this one. Most external misreadings of the project collapse the two columns.
The audit fact is concrete: 1,175 of the 1,207 shot-positive modeled possessions include the shot event's own freeze frame inside their spatial averages. The model is partly being told the outcome through the shape features.
That is not a bug in the code — it is the correct behaviour for a retrospective explanatory model that describes completed possessions. It becomes a bug only when someone reads the metric as forecasting skill.
Practical rule when you add a feature: state the timestamp at which its value becomes known. If that timestamp is after the possession starts, the feature belongs in the retrospective branch only.
This is exactly why the pre-decision branch (slide 19) exists as a separate pipeline with its own feature table rather than as a flag on this one.
Status: this boundary is a validated audit finding, not an interpretation.
[Sources] PRESENTATION_PROJECT_BRIEF.md (status and claim authority); results/stage5_leakage_audit.md; results/coaching_model_benchmark.md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these are the numbers people will ask you about, and every one of them is provisional.
Selected snapshots: shot target — XGBoost on the Tactical + Shape layout, log loss 0.2486, ROC-AUC 0.8918, PR-AUC 0.5238. Penalty-area entry — Histogram Gradient Boosting on the same layout, log loss 0.3556, ROC-AUC 0.9041, PR-AUC 0.8304.
Note the PR-AUC gap between targets. Penalty-area entry is far more common than a shot, so its PR-AUC sits much higher; comparing PR-AUC across targets with different prevalence is meaningless.
Both winners use Tactical + Shape, the layout richest in completed-possession information — which is exactly the slide-17 boundary showing up in the leaderboard rather than a discovery about football.
Transductive means the cluster structure was learned using all tournament possessions, including those in validation folds. The fold split protects the supervised step, not the unsupervised one.
Because model selection and evaluation use the same cross-validation, the reported metrics are optimistic as estimates of held-out performance. Nested CV or an independent tournament is required before any of this is quoted publicly.
Status: provisional modeling.
[Sources] PRESENTATION_PROJECT_BRIEF.md (status and claim authority); results/coaching_model_benchmark.md; results/coaching_model_selection.md; results/coaching_model_explanations.md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this branch is closer to the decision context a coach actually faces, and it is where the honest work is. It is a distinct pipeline from stage 5, not a variant of it.
"Strictly prior" means built only from matches before the one being evaluated, and the fold-specific construction means each fold recomputes its own history. That is what keeps the 5,000-match tournament from leaking backwards through team form features.
Expect weaker signal here than in the retrospective benchmark. That is the correct and expected result, not a failure — the retrospective model is partly reading the outcome.
The classifier bundle currently saved is not contract-compatible with the generated feature table. The temptation is to make the error disappear by regenerating play_pattern, the modal play pattern over the whole possession. That value is not known at the cutoff, so it would reintroduce leakage to fix a schema error. Retrain instead.
Status: provisional modeling with a blocked acceptance gate.
Implementation: scripts/build_recommendation_features.py, scripts/benchmark_recommendation_models.py
[Sources] PRESENTATION_PROJECT_BRIEF.md (status and claim authority); results/recommendation_feature_validation.md; results/recommendation_model_benchmark.md; scripts/build_recommendation_features.py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the metric habits from stage 5 do not transfer here. At 2.67% prevalence, a model can look excellent on ROC-AUC and still be useless in the only region anyone cares about.
Definitions — prevalence: the base rate of positives. Lift over prevalence: how much better the top-ranked slice is than the base rate. Hierarchical architecture: model the coarser event (final third) first, then the finer one (penalty area), rather than predicting each directly.
Recall in the top 10% of predicted risk is the operationally meaningful number: if a coach or analyst can only review a limited number of situations, ranking quality at the top of the list is what matters.
The 13-positive legacy target is a useful cautionary tale for a new member. With 13 positives, cross-validated estimates are dominated by which fold each positive lands in. Rejecting it was correct; do not resurrect it because a metric happened to look good.
Status: experimental layer / provisional modeling.
Implementation: scripts/benchmark_transition_models.py
[Sources] PRESENTATION_PROJECT_BRIEF.md (status and claim authority); results/transition_model_benchmark.md; results/recommendation_feature_validation.md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the player layer is an input to models, not a product. This project does not exist to rank players, and the deck should never drift into a leaderboard show.
Definition — shrinkage toward position priors: a player with very few minutes gets pulled toward the average for their position, so small samples cannot produce extreme scores.
Excluding the validation match from performance profiles is the same leakage principle as slide 16, applied to a feature rather than a fold: a player's profile must not be informed by the match we are scoring.
Names and IDs are join keys only. If identity entered the feature matrix, the model could memorise teams rather than learn structure.
The 300-minute threshold applies to rankings only, not to the features. 142 players clear it. The open-event pitch-value fallback is our own construction from open data; calling it OBV would be a licensing and accuracy error.
Status: validated foundation for the lineup coverage; provisional for the V4 player evaluation.
Implementation: scripts/build_player_skill_inputs.py
[Sources] PRESENTATION_PROJECT_BRIEF.md (status and claim authority); results/player_skill_input_validation.md; data/processed/player_evaluation_provenance.json; results/reports/final/world_cup_team_performance_and_top_players.md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this layer produces the most persuasive-looking artifacts in the repository and carries the least evidential weight. Handle accordingly.
Definition — counterfactual simulation: re-scoring a possession under a different candidate style while holding other inputs fixed. Off-policy evaluation: estimating how a different decision policy would have performed using data collected under the actual one. Both are observational here, so neither identifies a causal effect.
Read the 0 of 3,608 honestly, in both directions. The confidence, minutes and positional-compatibility gates are working as designed and the system correctly declines to recommend. It also means there is currently no substitution output a coach could act on, and no one should imply otherwise.
Leave-one-team-out checks are the closest thing here to an external validation, and they are still within the same tournament.
Status: experimental layer throughout. Nothing on this slide is a project claim.
Implementation: src/ simulation and report modules, scripts/build_recommendation_simulator.py, scripts/validate_recommendation_policy.py, scripts/validate_leave_one_team_out.py
[Sources] PRESENTATION_PROJECT_BRIEF.md (status and claim authority); results/recommendation_simulator_summary.md; results/recommendation_validation_summary.md; results/recommendation_leave_one_team_out.md; config/coaching_input_contract.md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the artifact set is the contract between stages. Each stage reads named inputs and writes named outputs, which is what makes a single stage reproducible without rerunning everything.
Because large intermediates are Git-ignored, a fresh clone will not have them. Your first reproduction (slide 28) regenerates one slice rather than trying to rebuild the whole tree.
Every processed table has a matching validation report under results/. Read the report before trusting the table — that is the habit this project runs on.
Definition — permutation importance: feature importance measured by shuffling a feature and observing the drop in held-out performance. Ours is computed within-match and held-out, which is why it is reported alongside the model rather than inside it.
Status: validated foundation for the tables and reports; provisional or experimental for the model and simulator bundles.
[Sources] PRESENTATION_PROJECT_BRIEF.md (status and claim authority); README.md; results/reports/pipeline_manifest.json; data/processed/possession_data_dictionary.md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the four-way separation — code, data, models, results — is enforced by convention, and pull requests that blur it get rejected.
data/raw is immutable. Nothing writes there. If you need a corrected input, you correct it in a processed stage with a recorded transformation, never in place.
notebooks/ holds the original acquisition and exploratory work and is historical context, not the production path. scripts/ is the reproducible pipeline. src/ holds the simulation and report-generation modules imported by those scripts.
The reading order on the right is deliberate: intent, then workflow, then limits, then artifact-level evidence. Reading a results table before the leakage audit is how people end up quoting a transductive benchmark as forecasting skill.
Status: validated documentation foundation.
[Sources] PRESENTATION_PROJECT_BRIEF.md (status and claim authority); README.md; data/raw/info.md; results/stage5_leakage_audit.md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run these in order on a fresh clone. File order in the directory listing is alphabetical and will mislead you.
The dependency chain is real: clustering needs the possession table, defensive features need the 360 cache, matchups need both cluster assignments, and the recommendation features need the player skill inputs.
On the V4 workflow: the unversioned V4 path is the only production workflow. Do not use refresh_v4_report_outputs.py in onboarding — it still writes to obsolete v3/ and final_v3/ output paths, and removing those is a tracked task (slide 27, item 3).
Requiring a genuine PASS "from the same checkout" is not pedantry. A committed PASS report proves only that some earlier state passed. Today the same suite reproduces a FAIL on the locked-classifier gate.
360 caching is resumable per match, so an interrupted cache run does not mean starting over — it is by far the longest step.
Status: validated reproduction path; blocked acceptance.
[Sources] PRESENTATION_PROJECT_BRIEF.md (status and claim authority); README.md; scripts/eda_validation_checks.py; results/reports/pipeline_manifest.json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this is the slide to reuse whenever anyone outside the team asks "is it done?". The honest answer is that the analytical foundation is mature while model development, validation, recommendation logic and final interpretation remain in progress.
If a source document in the repository says the core analysis is complete, that phrasing is superseded by the sentence above. The brief is the authority on status language.
The blocker rung is the operative one. The freshly rerun V4 acceptance suite passes 15 of 16 gates and fails locked_classifier_preserved. Artifact replay, probability bounds and split isolation pass; the failure is a feature-contract mismatch.
Say explicitly: the committed results/eda_validation_report.json reads PASS and is stale relative to this checkout. It is not current evidence.
No release candidate is declared until the contract is repaired, the bundle retrained, the artifacts regenerated and the suite rerun to 16 of 16 from one checkout.
[Sources] PRESENTATION_PROJECT_BRIEF.md (status and claim authority); results/stage5_leakage_audit.md; scripts/eda_validation_checks.py; 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the top three are unblocking work, not improvements. Nothing downstream can be trusted until acceptance returns 16 of 16 from a single checkout.
Items 4 and 5 are definitional rather than technical, and they are the cheapest high-value work available: once the prediction cutoff is declared, most disagreements about leakage resolve themselves.
Items 6 and 7 are the known transductive gaps. Fitting clustering inside folds will almost certainly reduce reported metrics, and that is the point — the current numbers are optimistic.
Item 8 is what separates "we measured it" from "we can quote it". Nested CV or an independent tournament is a precondition for any public claim.
Item 10 is a scoping decision for the team, not a code task. An observational recommendation layer can stay useful as a hypothesis generator; a causal claim needs a design we do not currently have.
The management principle at the bottom is the standard every workstream is held to.
[Sources] PRESENTATION_PROJECT_BRIEF.md (status and claim authority); results/stage5_leakage_audit.md; scripts/eda_validation_checks.py; results/recommendation_validation_summary.md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to you: onboarding here means reproducing a vertical slice, not reading the whole repository. One stage, end to end, with its validation report, teaches more than a week of code reading.
Tracing a single possession from raw events to final features is the exercise that makes the rest of the deck concrete. Pick one with 360 coverage so you see both layers.
Step 7 is directly on the critical path: comparing the saved bundle schema with the generated pre-decision table is how you will see the play_pattern versus first_play_pattern mismatch for yourself.
Choose a bounded contribution with a testable acceptance criterion — "make fold-local player-position lookup and show the metric delta" is a good scope; "improve the model" is not.
The three-line principle at the bottom is the operating model: boundary, then improvement, then communication. In that order.
[Sources] PRESENTATION_PROJECT_BRIEF.md (status and claim authority); README.md; data/raw/info.md; data/processed/possession_data_dictionary.md; results/stage5_leakage_audit.md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appendix on demand rather than presenting it. Appendix D is the checklist to run through before anyone quotes a number outside the team.
[Sources] PRESENTATION_PROJECT_BRIEF.md (status and claim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new members at the dictionary rather than memorising column names; families are stable, column names occasionally change.
Unit of analysis for every family here: one completed possession.
[Sources] PRESENTATION_PROJECT_BRIEF.md (status and claim authority); data/processed/possession_data_dictionary.md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coverage-control columns exist so that a reader can tell how much of the defensive shape was actually observed for a given possession.
first_play_pattern is the cutoff-safe field for the pre-decision branch; modal play_pattern is a completed-possession value and is not cutoff-safe.
[Sources] PRESENTATION_PROJECT_BRIEF.md (status and claim authority); data/processed/possession_data_dictionary.md; results/defensive_feature_validation.md; results/recommendation_feature_validation.md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87.92% eligibility figure is the one people forget when quoting model performance. Possessions drop out for coverage reasons that may correlate with match context.
Prevalence differs sharply by target: 1,207 shot positives versus 3,060 penalty-area positives in the same population, which is why their PR-AUC values are not comparable.
The 13-positive legacy transition target is retained here only as documentation of a rejected design.
[Sources] PRESENTATION_PROJECT_BRIEF.md (status and claim authority); results/coaching_model_benchmark.md; results/stage5_leakage_audit.md; results/transition_model_benchmark.md; results/recommendation_feature_validation.md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selected snapshots carry metrics here; the full leaderboard lives in results/coaching_model_benchmark.md and should be read from the current checkout rather than memorised.
Both selected models sit on the layout richest in completed-possession information, which is the leakage boundary showing up in the results rather than a football finding.
Every entry is provisional: selection and evaluation share one cross-validation exercise, and clustering is fitted tournament-wide.
[Sources] PRESENTATION_PROJECT_BRIEF.md (status and claim authority); results/coaching_model_benchmark.md; results/coaching_model_selection.md; results/recommendation_model_benchmark.md; scripts/benchmark_coaching_models_v2.py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boxes are practices already implemented in the pipeline. Red boxes are the outstanding conditions for acceptance.
Run this list before quoting any number outside the team.
Note that "group split by match" and "fold-fitted preprocessing" are implemented for the supervised step only — clustering remains tournament-wide, which is tracked as open work rather than a checklist item here.
[Sources] PRESENTATION_PROJECT_BRIEF.md (status and claim authority); results/stage5_leakage_audit.md; scripts/eda_validation_checks.py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these on first use during the session rather than assuming football fluency — the audience is technical, not necessarily tactical.
[Sources] PRESENTATION_PROJECT_BRIEF.md (status and claim authority); data/raw/info.md; data/processed/possession_data_dictionary.md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Transductive evaluation and temporal leakage are the two entries that matter most for reading this project's benchmarks correctly.
[Sources] PRESENTATION_PROJECT_BRIEF.md (status and claim authority); results/stage5_leakage_audit.md; results/coaching_model_benchmark.md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provenance list for every metric in the deck. If you change a number on a slide, change it because one of these files changed.
The committed eda_validation_report.json reads PASS and is stale; it is excluded from the source map until it is regenerated and the acceptance suite returns 16 of 16.
[Sources] PRESENTATION_PROJECT_BRIEF.md (status and claim authority); all files listed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617"/>
        </a:solidFill>
      </p:bgPr>
    </p:bg>
    <p:spTree>
      <p:nvGrpSpPr>
        <p:cNvPr id="1" name=""/>
        <p:cNvGrpSpPr/>
        <p:nvPr/>
      </p:nvGrpSpPr>
      <p:grpSpPr>
        <a:xfrm>
          <a:off x="0" y="0"/>
          <a:ext cx="0" cy="0"/>
          <a:chOff x="0" y="0"/>
          <a:chExt cx="0" cy="0"/>
        </a:xfrm>
      </p:grpSpPr>
      <p:sp>
        <p:nvSpPr>
          <p:cNvPr id="2" name="Shape 0"/>
          <p:cNvSpPr/>
          <p:nvPr/>
        </p:nvSpPr>
        <p:spPr>
          <a:xfrm>
            <a:off x="7360920" y="1234440"/>
            <a:ext cx="4160520" cy="4389120"/>
          </a:xfrm>
          <a:prstGeom prst="rect">
            <a:avLst/>
          </a:prstGeom>
          <a:solidFill>
            <a:srgbClr val="161617"/>
          </a:solidFill>
          <a:ln w="12700">
            <a:solidFill>
              <a:srgbClr val="34343A"/>
            </a:solidFill>
            <a:prstDash val="solid"/>
          </a:ln>
        </p:spPr>
      </p:sp>
      <p:sp>
        <p:nvSpPr>
          <p:cNvPr id="3" name="Shape 1"/>
          <p:cNvSpPr/>
          <p:nvPr/>
        </p:nvSpPr>
        <p:spPr>
          <a:xfrm>
            <a:off x="7360920" y="3429000"/>
            <a:ext cx="4160520" cy="0"/>
          </a:xfrm>
          <a:prstGeom prst="line">
            <a:avLst/>
          </a:prstGeom>
          <a:noFill/>
          <a:ln w="12700">
            <a:solidFill>
              <a:srgbClr val="34343A"/>
            </a:solidFill>
            <a:prstDash val="solid"/>
          </a:ln>
        </p:spPr>
      </p:sp>
      <p:sp>
        <p:nvSpPr>
          <p:cNvPr id="4" name="Shape 2"/>
          <p:cNvSpPr/>
          <p:nvPr/>
        </p:nvSpPr>
        <p:spPr>
          <a:xfrm>
            <a:off x="8782812" y="2770632"/>
            <a:ext cx="1316736" cy="1316736"/>
          </a:xfrm>
          <a:prstGeom prst="ellipse">
            <a:avLst/>
          </a:prstGeom>
          <a:ln w="12700">
            <a:solidFill>
              <a:srgbClr val="34343A"/>
            </a:solidFill>
            <a:prstDash val="solid"/>
          </a:ln>
        </p:spPr>
      </p:sp>
      <p:sp>
        <p:nvSpPr>
          <p:cNvPr id="5" name="Shape 3"/>
          <p:cNvSpPr/>
          <p:nvPr/>
        </p:nvSpPr>
        <p:spPr>
          <a:xfrm>
            <a:off x="7360920" y="2103120"/>
            <a:ext cx="1234440" cy="2651760"/>
          </a:xfrm>
          <a:prstGeom prst="rect">
            <a:avLst/>
          </a:prstGeom>
          <a:ln w="12700">
            <a:solidFill>
              <a:srgbClr val="34343A"/>
            </a:solidFill>
            <a:prstDash val="solid"/>
          </a:ln>
        </p:spPr>
      </p:sp>
      <p:sp>
        <p:nvSpPr>
          <p:cNvPr id="6" name="Shape 4"/>
          <p:cNvSpPr/>
          <p:nvPr/>
        </p:nvSpPr>
        <p:spPr>
          <a:xfrm>
            <a:off x="10287000" y="2103120"/>
            <a:ext cx="1234440" cy="2651760"/>
          </a:xfrm>
          <a:prstGeom prst="rect">
            <a:avLst/>
          </a:prstGeom>
          <a:ln w="12700">
            <a:solidFill>
              <a:srgbClr val="34343A"/>
            </a:solidFill>
            <a:prstDash val="solid"/>
          </a:ln>
        </p:spPr>
      </p:sp>
      <p:sp>
        <p:nvSpPr>
          <p:cNvPr id="7" name="Shape 5"/>
          <p:cNvSpPr/>
          <p:nvPr/>
        </p:nvSpPr>
        <p:spPr>
          <a:xfrm>
            <a:off x="7795260" y="4777740"/>
            <a:ext cx="137160" cy="137160"/>
          </a:xfrm>
          <a:prstGeom prst="ellipse">
            <a:avLst/>
          </a:prstGeom>
          <a:solidFill>
            <a:srgbClr val="FFFFFF"/>
          </a:solidFill>
          <a:ln w="6350">
            <a:solidFill>
              <a:srgbClr val="FFFFFF"/>
            </a:solidFill>
            <a:prstDash val="solid"/>
          </a:ln>
        </p:spPr>
      </p:sp>
      <p:sp>
        <p:nvSpPr>
          <p:cNvPr id="8" name="Shape 6"/>
          <p:cNvSpPr/>
          <p:nvPr/>
        </p:nvSpPr>
        <p:spPr>
          <a:xfrm>
            <a:off x="8526780" y="4183380"/>
            <a:ext cx="137160" cy="137160"/>
          </a:xfrm>
          <a:prstGeom prst="ellipse">
            <a:avLst/>
          </a:prstGeom>
          <a:solidFill>
            <a:srgbClr val="FFFFFF"/>
          </a:solidFill>
          <a:ln w="6350">
            <a:solidFill>
              <a:srgbClr val="FFFFFF"/>
            </a:solidFill>
            <a:prstDash val="solid"/>
          </a:ln>
        </p:spPr>
      </p:sp>
      <p:sp>
        <p:nvSpPr>
          <p:cNvPr id="9" name="Shape 7"/>
          <p:cNvSpPr/>
          <p:nvPr/>
        </p:nvSpPr>
        <p:spPr>
          <a:xfrm>
            <a:off x="9166860" y="3771900"/>
            <a:ext cx="137160" cy="137160"/>
          </a:xfrm>
          <a:prstGeom prst="ellipse">
            <a:avLst/>
          </a:prstGeom>
          <a:solidFill>
            <a:srgbClr val="FFFFFF"/>
          </a:solidFill>
          <a:ln w="6350">
            <a:solidFill>
              <a:srgbClr val="FFFFFF"/>
            </a:solidFill>
            <a:prstDash val="solid"/>
          </a:ln>
        </p:spPr>
      </p:sp>
      <p:sp>
        <p:nvSpPr>
          <p:cNvPr id="10" name="Shape 8"/>
          <p:cNvSpPr/>
          <p:nvPr/>
        </p:nvSpPr>
        <p:spPr>
          <a:xfrm>
            <a:off x="9624060" y="3131820"/>
            <a:ext cx="137160" cy="137160"/>
          </a:xfrm>
          <a:prstGeom prst="ellipse">
            <a:avLst/>
          </a:prstGeom>
          <a:solidFill>
            <a:srgbClr val="FFFFFF"/>
          </a:solidFill>
          <a:ln w="6350">
            <a:solidFill>
              <a:srgbClr val="FFFFFF"/>
            </a:solidFill>
            <a:prstDash val="solid"/>
          </a:ln>
        </p:spPr>
      </p:sp>
      <p:sp>
        <p:nvSpPr>
          <p:cNvPr id="11" name="Shape 9"/>
          <p:cNvSpPr/>
          <p:nvPr/>
        </p:nvSpPr>
        <p:spPr>
          <a:xfrm>
            <a:off x="10264140" y="2766060"/>
            <a:ext cx="137160" cy="137160"/>
          </a:xfrm>
          <a:prstGeom prst="ellipse">
            <a:avLst/>
          </a:prstGeom>
          <a:solidFill>
            <a:srgbClr val="FFFFFF"/>
          </a:solidFill>
          <a:ln w="6350">
            <a:solidFill>
              <a:srgbClr val="FFFFFF"/>
            </a:solidFill>
            <a:prstDash val="solid"/>
          </a:ln>
        </p:spPr>
      </p:sp>
      <p:sp>
        <p:nvSpPr>
          <p:cNvPr id="12" name="Shape 10"/>
          <p:cNvSpPr/>
          <p:nvPr/>
        </p:nvSpPr>
        <p:spPr>
          <a:xfrm>
            <a:off x="10812780" y="2354580"/>
            <a:ext cx="137160" cy="137160"/>
          </a:xfrm>
          <a:prstGeom prst="ellipse">
            <a:avLst/>
          </a:prstGeom>
          <a:solidFill>
            <a:srgbClr val="FFFFFF"/>
          </a:solidFill>
          <a:ln w="6350">
            <a:solidFill>
              <a:srgbClr val="FFFFFF"/>
            </a:solidFill>
            <a:prstDash val="solid"/>
          </a:ln>
        </p:spPr>
      </p:sp>
      <p:sp>
        <p:nvSpPr>
          <p:cNvPr id="13" name="Shape 11"/>
          <p:cNvSpPr/>
          <p:nvPr/>
        </p:nvSpPr>
        <p:spPr>
          <a:xfrm>
            <a:off x="8983980" y="2948940"/>
            <a:ext cx="137160" cy="137160"/>
          </a:xfrm>
          <a:prstGeom prst="ellipse">
            <a:avLst/>
          </a:prstGeom>
          <a:solidFill>
            <a:srgbClr val="3568F0"/>
          </a:solidFill>
          <a:ln w="6350">
            <a:solidFill>
              <a:srgbClr val="3568F0"/>
            </a:solidFill>
            <a:prstDash val="solid"/>
          </a:ln>
        </p:spPr>
      </p:sp>
      <p:sp>
        <p:nvSpPr>
          <p:cNvPr id="14" name="Shape 12"/>
          <p:cNvSpPr/>
          <p:nvPr/>
        </p:nvSpPr>
        <p:spPr>
          <a:xfrm>
            <a:off x="10081260" y="4411980"/>
            <a:ext cx="137160" cy="137160"/>
          </a:xfrm>
          <a:prstGeom prst="ellipse">
            <a:avLst/>
          </a:prstGeom>
          <a:solidFill>
            <a:srgbClr val="3568F0"/>
          </a:solidFill>
          <a:ln w="6350">
            <a:solidFill>
              <a:srgbClr val="3568F0"/>
            </a:solidFill>
            <a:prstDash val="solid"/>
          </a:ln>
        </p:spPr>
      </p:sp>
      <p:sp>
        <p:nvSpPr>
          <p:cNvPr id="15" name="Shape 13"/>
          <p:cNvSpPr/>
          <p:nvPr/>
        </p:nvSpPr>
        <p:spPr>
          <a:xfrm>
            <a:off x="7863840" y="4846320"/>
            <a:ext cx="731520" cy="-594360"/>
          </a:xfrm>
          <a:prstGeom prst="line">
            <a:avLst/>
          </a:prstGeom>
          <a:noFill/>
          <a:ln w="15875">
            <a:solidFill>
              <a:srgbClr val="3568F0"/>
            </a:solidFill>
            <a:prstDash val="solid"/>
          </a:ln>
        </p:spPr>
      </p:sp>
      <p:sp>
        <p:nvSpPr>
          <p:cNvPr id="16" name="Shape 14"/>
          <p:cNvSpPr/>
          <p:nvPr/>
        </p:nvSpPr>
        <p:spPr>
          <a:xfrm>
            <a:off x="8595360" y="4251960"/>
            <a:ext cx="640080" cy="-411480"/>
          </a:xfrm>
          <a:prstGeom prst="line">
            <a:avLst/>
          </a:prstGeom>
          <a:noFill/>
          <a:ln w="15875">
            <a:solidFill>
              <a:srgbClr val="3568F0"/>
            </a:solidFill>
            <a:prstDash val="solid"/>
          </a:ln>
        </p:spPr>
      </p:sp>
      <p:sp>
        <p:nvSpPr>
          <p:cNvPr id="17" name="Shape 15"/>
          <p:cNvSpPr/>
          <p:nvPr/>
        </p:nvSpPr>
        <p:spPr>
          <a:xfrm>
            <a:off x="9235440" y="3840480"/>
            <a:ext cx="457200" cy="-640080"/>
          </a:xfrm>
          <a:prstGeom prst="line">
            <a:avLst/>
          </a:prstGeom>
          <a:noFill/>
          <a:ln w="15875">
            <a:solidFill>
              <a:srgbClr val="3568F0"/>
            </a:solidFill>
            <a:prstDash val="solid"/>
          </a:ln>
        </p:spPr>
      </p:sp>
      <p:sp>
        <p:nvSpPr>
          <p:cNvPr id="18" name="Shape 16"/>
          <p:cNvSpPr/>
          <p:nvPr/>
        </p:nvSpPr>
        <p:spPr>
          <a:xfrm>
            <a:off x="9692640" y="3200400"/>
            <a:ext cx="640080" cy="-365760"/>
          </a:xfrm>
          <a:prstGeom prst="line">
            <a:avLst/>
          </a:prstGeom>
          <a:noFill/>
          <a:ln w="15875">
            <a:solidFill>
              <a:srgbClr val="3568F0"/>
            </a:solidFill>
            <a:prstDash val="solid"/>
          </a:ln>
        </p:spPr>
      </p:sp>
      <p:sp>
        <p:nvSpPr>
          <p:cNvPr id="19" name="Shape 17"/>
          <p:cNvSpPr/>
          <p:nvPr/>
        </p:nvSpPr>
        <p:spPr>
          <a:xfrm>
            <a:off x="10332720" y="2834640"/>
            <a:ext cx="548640" cy="-411480"/>
          </a:xfrm>
          <a:prstGeom prst="line">
            <a:avLst/>
          </a:prstGeom>
          <a:noFill/>
          <a:ln w="15875">
            <a:solidFill>
              <a:srgbClr val="3568F0"/>
            </a:solidFill>
            <a:prstDash val="solid"/>
          </a:ln>
        </p:spPr>
      </p:sp>
      <p:sp>
        <p:nvSpPr>
          <p:cNvPr id="20" name="Text 18"/>
          <p:cNvSpPr/>
          <p:nvPr/>
        </p:nvSpPr>
        <p:spPr>
          <a:xfrm>
            <a:off x="822960" y="2148840"/>
            <a:ext cx="6309360" cy="1005840"/>
          </a:xfrm>
          <a:prstGeom prst="rect">
            <a:avLst/>
          </a:prstGeom>
          <a:noFill/>
          <a:ln/>
        </p:spPr>
        <p:txBody>
          <a:bodyPr wrap="square" lIns="0" tIns="0" rIns="0" bIns="0" rtlCol="0" anchor="t"/>
          <a:lstStyle/>
          <a:p>
            <a:pPr indent="0" marL="0">
              <a:buNone/>
            </a:pPr>
            <a:r>
              <a:rPr lang="en-US" sz="5400" b="1" dirty="0">
                <a:solidFill>
                  <a:srgbClr val="FFFFFF"/>
                </a:solidFill>
                <a:latin typeface="Calibri" pitchFamily="34" charset="0"/>
                <a:ea typeface="Calibri" pitchFamily="34" charset="-122"/>
                <a:cs typeface="Calibri" pitchFamily="34" charset="-120"/>
              </a:rPr>
              <a:t>World Cup S-Bomb</a:t>
            </a:r>
            <a:endParaRPr lang="en-US" sz="5400" dirty="0"/>
          </a:p>
        </p:txBody>
      </p:sp>
      <p:sp>
        <p:nvSpPr>
          <p:cNvPr id="21" name="Text 19"/>
          <p:cNvSpPr/>
          <p:nvPr/>
        </p:nvSpPr>
        <p:spPr>
          <a:xfrm>
            <a:off x="822960" y="3291840"/>
            <a:ext cx="5943600" cy="914400"/>
          </a:xfrm>
          <a:prstGeom prst="rect">
            <a:avLst/>
          </a:prstGeom>
          <a:noFill/>
          <a:ln/>
        </p:spPr>
        <p:txBody>
          <a:bodyPr wrap="square" lIns="0" tIns="0" rIns="0" bIns="0" rtlCol="0" anchor="t"/>
          <a:lstStyle/>
          <a:p>
            <a:pPr indent="0" marL="0">
              <a:lnSpc>
                <a:spcPts val="3000"/>
              </a:lnSpc>
              <a:buNone/>
            </a:pPr>
            <a:r>
              <a:rPr lang="en-US" sz="2400" dirty="0">
                <a:solidFill>
                  <a:srgbClr val="D6D6DA"/>
                </a:solidFill>
                <a:latin typeface="Calibri" pitchFamily="34" charset="0"/>
                <a:ea typeface="Calibri" pitchFamily="34" charset="-122"/>
                <a:cs typeface="Calibri" pitchFamily="34" charset="-120"/>
              </a:rPr>
              <a:t>Technical onboarding for a possession-level tactical analytics project</a:t>
            </a:r>
            <a:endParaRPr lang="en-US" sz="2400" dirty="0"/>
          </a:p>
        </p:txBody>
      </p:sp>
      <p:sp>
        <p:nvSpPr>
          <p:cNvPr id="22" name="Text 20"/>
          <p:cNvSpPr/>
          <p:nvPr/>
        </p:nvSpPr>
        <p:spPr>
          <a:xfrm>
            <a:off x="822960" y="4892040"/>
            <a:ext cx="6309360" cy="365760"/>
          </a:xfrm>
          <a:prstGeom prst="rect">
            <a:avLst/>
          </a:prstGeom>
          <a:noFill/>
          <a:ln/>
        </p:spPr>
        <p:txBody>
          <a:bodyPr wrap="square" lIns="0" tIns="0" rIns="0" bIns="0" rtlCol="0" anchor="t"/>
          <a:lstStyle/>
          <a:p>
            <a:pPr indent="0" marL="0">
              <a:buNone/>
            </a:pPr>
            <a:r>
              <a:rPr lang="en-US" sz="1400" spc="60" kern="0" dirty="0">
                <a:solidFill>
                  <a:srgbClr val="9A9AA2"/>
                </a:solidFill>
                <a:latin typeface="Calibri" pitchFamily="34" charset="0"/>
                <a:ea typeface="Calibri" pitchFamily="34" charset="-122"/>
                <a:cs typeface="Calibri" pitchFamily="34" charset="-120"/>
              </a:rPr>
              <a:t>Active development  ·  2022 FIFA World Cup  ·  StatsBomb Open Data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02 / 28 · THE ANALYTICAL GAP</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The project asks how attacks work, not only what happened</a:t>
            </a:r>
            <a:endParaRPr lang="en-US" sz="3500" dirty="0"/>
          </a:p>
        </p:txBody>
      </p:sp>
      <p:sp>
        <p:nvSpPr>
          <p:cNvPr id="4" name="Shape 2"/>
          <p:cNvSpPr/>
          <p:nvPr/>
        </p:nvSpPr>
        <p:spPr>
          <a:xfrm>
            <a:off x="685800" y="1874520"/>
            <a:ext cx="4846320" cy="2331720"/>
          </a:xfrm>
          <a:prstGeom prst="roundRect">
            <a:avLst>
              <a:gd name="adj" fmla="val 2353"/>
            </a:avLst>
          </a:prstGeom>
          <a:solidFill>
            <a:srgbClr val="ECECF0"/>
          </a:solidFill>
          <a:ln w="9525">
            <a:solidFill>
              <a:srgbClr val="ECECF0"/>
            </a:solidFill>
            <a:prstDash val="solid"/>
          </a:ln>
        </p:spPr>
      </p:sp>
      <p:sp>
        <p:nvSpPr>
          <p:cNvPr id="5" name="Text 3"/>
          <p:cNvSpPr/>
          <p:nvPr/>
        </p:nvSpPr>
        <p:spPr>
          <a:xfrm>
            <a:off x="960120" y="2084832"/>
            <a:ext cx="4297680" cy="384048"/>
          </a:xfrm>
          <a:prstGeom prst="rect">
            <a:avLst/>
          </a:prstGeom>
          <a:noFill/>
          <a:ln/>
        </p:spPr>
        <p:txBody>
          <a:bodyPr wrap="square" lIns="0" tIns="0" rIns="0" bIns="0" rtlCol="0" anchor="t"/>
          <a:lstStyle/>
          <a:p>
            <a:pPr indent="0" marL="0">
              <a:buNone/>
            </a:pPr>
            <a:r>
              <a:rPr lang="en-US" sz="2400" b="1" dirty="0">
                <a:solidFill>
                  <a:srgbClr val="6E6E73"/>
                </a:solidFill>
                <a:latin typeface="Calibri" pitchFamily="34" charset="0"/>
                <a:ea typeface="Calibri" pitchFamily="34" charset="-122"/>
                <a:cs typeface="Calibri" pitchFamily="34" charset="-120"/>
              </a:rPr>
              <a:t>Conventional summaries</a:t>
            </a:r>
            <a:endParaRPr lang="en-US" sz="2400" dirty="0"/>
          </a:p>
        </p:txBody>
      </p:sp>
      <p:sp>
        <p:nvSpPr>
          <p:cNvPr id="6" name="Text 4"/>
          <p:cNvSpPr/>
          <p:nvPr/>
        </p:nvSpPr>
        <p:spPr>
          <a:xfrm>
            <a:off x="960120" y="2606040"/>
            <a:ext cx="4297680" cy="914400"/>
          </a:xfrm>
          <a:prstGeom prst="rect">
            <a:avLst/>
          </a:prstGeom>
          <a:noFill/>
          <a:ln/>
        </p:spPr>
        <p:txBody>
          <a:bodyPr wrap="square" lIns="0" tIns="0" rIns="0" bIns="0" rtlCol="0" anchor="t"/>
          <a:lstStyle/>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Who passed, and how often</a:t>
            </a:r>
            <a:endParaRPr lang="en-US" sz="1600" dirty="0"/>
          </a:p>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Who shot, and who scored</a:t>
            </a:r>
            <a:endParaRPr lang="en-US" sz="1600" dirty="0"/>
          </a:p>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Which team held possession longer</a:t>
            </a:r>
            <a:endParaRPr lang="en-US" sz="1600" dirty="0"/>
          </a:p>
        </p:txBody>
      </p:sp>
      <p:sp>
        <p:nvSpPr>
          <p:cNvPr id="7" name="Text 5"/>
          <p:cNvSpPr/>
          <p:nvPr/>
        </p:nvSpPr>
        <p:spPr>
          <a:xfrm>
            <a:off x="960120" y="3749040"/>
            <a:ext cx="4297680" cy="274320"/>
          </a:xfrm>
          <a:prstGeom prst="rect">
            <a:avLst/>
          </a:prstGeom>
          <a:noFill/>
          <a:ln/>
        </p:spPr>
        <p:txBody>
          <a:bodyPr wrap="square" lIns="0" tIns="0" rIns="0" bIns="0" rtlCol="0" anchor="t"/>
          <a:lstStyle/>
          <a:p>
            <a:pPr indent="0" marL="0">
              <a:buNone/>
            </a:pPr>
            <a:r>
              <a:rPr lang="en-US" sz="1400" i="1" dirty="0">
                <a:solidFill>
                  <a:srgbClr val="6E6E73"/>
                </a:solidFill>
                <a:latin typeface="Calibri" pitchFamily="34" charset="0"/>
                <a:ea typeface="Calibri" pitchFamily="34" charset="-122"/>
                <a:cs typeface="Calibri" pitchFamily="34" charset="-120"/>
              </a:rPr>
              <a:t>Descriptive counts. They answer what happened.</a:t>
            </a:r>
            <a:endParaRPr lang="en-US" sz="1400" dirty="0"/>
          </a:p>
        </p:txBody>
      </p:sp>
      <p:sp>
        <p:nvSpPr>
          <p:cNvPr id="8" name="Shape 6"/>
          <p:cNvSpPr/>
          <p:nvPr/>
        </p:nvSpPr>
        <p:spPr>
          <a:xfrm>
            <a:off x="5971032" y="1874520"/>
            <a:ext cx="5532120" cy="2331720"/>
          </a:xfrm>
          <a:prstGeom prst="roundRect">
            <a:avLst>
              <a:gd name="adj" fmla="val 2353"/>
            </a:avLst>
          </a:prstGeom>
          <a:solidFill>
            <a:srgbClr val="FFFFFF"/>
          </a:solidFill>
          <a:ln w="9525">
            <a:solidFill>
              <a:srgbClr val="FFFFFF"/>
            </a:solidFill>
            <a:prstDash val="solid"/>
          </a:ln>
        </p:spPr>
      </p:sp>
      <p:sp>
        <p:nvSpPr>
          <p:cNvPr id="9" name="Text 7"/>
          <p:cNvSpPr/>
          <p:nvPr/>
        </p:nvSpPr>
        <p:spPr>
          <a:xfrm>
            <a:off x="6245352" y="2084832"/>
            <a:ext cx="4983480" cy="384048"/>
          </a:xfrm>
          <a:prstGeom prst="rect">
            <a:avLst/>
          </a:prstGeom>
          <a:noFill/>
          <a:ln/>
        </p:spPr>
        <p:txBody>
          <a:bodyPr wrap="square" lIns="0" tIns="0" rIns="0" bIns="0" rtlCol="0" anchor="t"/>
          <a:lstStyle/>
          <a:p>
            <a:pPr indent="0" marL="0">
              <a:buNone/>
            </a:pPr>
            <a:r>
              <a:rPr lang="en-US" sz="2400" b="1" dirty="0">
                <a:solidFill>
                  <a:srgbClr val="3568F0"/>
                </a:solidFill>
                <a:latin typeface="Calibri" pitchFamily="34" charset="0"/>
                <a:ea typeface="Calibri" pitchFamily="34" charset="-122"/>
                <a:cs typeface="Calibri" pitchFamily="34" charset="-120"/>
              </a:rPr>
              <a:t>This project</a:t>
            </a:r>
            <a:endParaRPr lang="en-US" sz="2400" dirty="0"/>
          </a:p>
        </p:txBody>
      </p:sp>
      <p:sp>
        <p:nvSpPr>
          <p:cNvPr id="10" name="Text 8"/>
          <p:cNvSpPr/>
          <p:nvPr/>
        </p:nvSpPr>
        <p:spPr>
          <a:xfrm>
            <a:off x="6245352" y="2606040"/>
            <a:ext cx="4983480" cy="914400"/>
          </a:xfrm>
          <a:prstGeom prst="rect">
            <a:avLst/>
          </a:prstGeom>
          <a:noFill/>
          <a:ln/>
        </p:spPr>
        <p:txBody>
          <a:bodyPr wrap="square" lIns="0" tIns="0" rIns="0" bIns="0" rtlCol="0" anchor="t"/>
          <a:lstStyle/>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How a possession develops, action by action</a:t>
            </a:r>
            <a:endParaRPr lang="en-US" sz="1600" dirty="0"/>
          </a:p>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Which defensive conditions it meets</a:t>
            </a:r>
            <a:endParaRPr lang="en-US" sz="1600" dirty="0"/>
          </a:p>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How structure and outcome are associated</a:t>
            </a:r>
            <a:endParaRPr lang="en-US" sz="1600" dirty="0"/>
          </a:p>
        </p:txBody>
      </p:sp>
      <p:sp>
        <p:nvSpPr>
          <p:cNvPr id="11" name="Text 9"/>
          <p:cNvSpPr/>
          <p:nvPr/>
        </p:nvSpPr>
        <p:spPr>
          <a:xfrm>
            <a:off x="6245352" y="3749040"/>
            <a:ext cx="4983480" cy="274320"/>
          </a:xfrm>
          <a:prstGeom prst="rect">
            <a:avLst/>
          </a:prstGeom>
          <a:noFill/>
          <a:ln/>
        </p:spPr>
        <p:txBody>
          <a:bodyPr wrap="square" lIns="0" tIns="0" rIns="0" bIns="0" rtlCol="0" anchor="t"/>
          <a:lstStyle/>
          <a:p>
            <a:pPr indent="0" marL="0">
              <a:buNone/>
            </a:pPr>
            <a:r>
              <a:rPr lang="en-US" sz="1400" i="1" dirty="0">
                <a:solidFill>
                  <a:srgbClr val="6E6E73"/>
                </a:solidFill>
                <a:latin typeface="Calibri" pitchFamily="34" charset="0"/>
                <a:ea typeface="Calibri" pitchFamily="34" charset="-122"/>
                <a:cs typeface="Calibri" pitchFamily="34" charset="-120"/>
              </a:rPr>
              <a:t>Sequence and context. It asks how it happened.</a:t>
            </a:r>
            <a:endParaRPr lang="en-US" sz="1400" dirty="0"/>
          </a:p>
        </p:txBody>
      </p:sp>
      <p:sp>
        <p:nvSpPr>
          <p:cNvPr id="12" name="Shape 10"/>
          <p:cNvSpPr/>
          <p:nvPr/>
        </p:nvSpPr>
        <p:spPr>
          <a:xfrm>
            <a:off x="685800" y="4434840"/>
            <a:ext cx="10817352" cy="1783080"/>
          </a:xfrm>
          <a:prstGeom prst="roundRect">
            <a:avLst>
              <a:gd name="adj" fmla="val 3077"/>
            </a:avLst>
          </a:prstGeom>
          <a:solidFill>
            <a:srgbClr val="E3EAFD"/>
          </a:solidFill>
          <a:ln w="9525">
            <a:solidFill>
              <a:srgbClr val="E3EAFD"/>
            </a:solidFill>
            <a:prstDash val="solid"/>
          </a:ln>
        </p:spPr>
      </p:sp>
      <p:sp>
        <p:nvSpPr>
          <p:cNvPr id="13" name="Text 11"/>
          <p:cNvSpPr/>
          <p:nvPr/>
        </p:nvSpPr>
        <p:spPr>
          <a:xfrm>
            <a:off x="960120" y="4636008"/>
            <a:ext cx="10268712" cy="237744"/>
          </a:xfrm>
          <a:prstGeom prst="rect">
            <a:avLst/>
          </a:prstGeom>
          <a:noFill/>
          <a:ln/>
        </p:spPr>
        <p:txBody>
          <a:bodyPr wrap="square" lIns="0" tIns="0" rIns="0" bIns="0" rtlCol="0" anchor="t"/>
          <a:lstStyle/>
          <a:p>
            <a:pPr indent="0" marL="0">
              <a:buNone/>
            </a:pPr>
            <a:r>
              <a:rPr lang="en-US" sz="1200" b="1" spc="140" kern="0" dirty="0">
                <a:solidFill>
                  <a:srgbClr val="3568F0"/>
                </a:solidFill>
                <a:latin typeface="Calibri" pitchFamily="34" charset="0"/>
                <a:ea typeface="Calibri" pitchFamily="34" charset="-122"/>
                <a:cs typeface="Calibri" pitchFamily="34" charset="-120"/>
              </a:rPr>
              <a:t>PRIMARY RESEARCH QUESTION</a:t>
            </a:r>
            <a:endParaRPr lang="en-US" sz="1200" dirty="0"/>
          </a:p>
        </p:txBody>
      </p:sp>
      <p:sp>
        <p:nvSpPr>
          <p:cNvPr id="14" name="Text 12"/>
          <p:cNvSpPr/>
          <p:nvPr/>
        </p:nvSpPr>
        <p:spPr>
          <a:xfrm>
            <a:off x="960120" y="4965192"/>
            <a:ext cx="10268712" cy="1115568"/>
          </a:xfrm>
          <a:prstGeom prst="rect">
            <a:avLst/>
          </a:prstGeom>
          <a:noFill/>
          <a:ln/>
        </p:spPr>
        <p:txBody>
          <a:bodyPr wrap="square" lIns="0" tIns="0" rIns="0" bIns="0" rtlCol="0" anchor="t"/>
          <a:lstStyle/>
          <a:p>
            <a:pPr indent="0" marL="0">
              <a:lnSpc>
                <a:spcPts val="2500"/>
              </a:lnSpc>
              <a:buNone/>
            </a:pPr>
            <a:r>
              <a:rPr lang="en-US" sz="2000" b="1" dirty="0">
                <a:solidFill>
                  <a:srgbClr val="161617"/>
                </a:solidFill>
                <a:latin typeface="Calibri" pitchFamily="34" charset="0"/>
                <a:ea typeface="Calibri" pitchFamily="34" charset="-122"/>
                <a:cs typeface="Calibri" pitchFamily="34" charset="-120"/>
              </a:rPr>
              <a:t>Can unsupervised learning discover recurring attacking styles in the 2022 FIFA World Cup — and under which defensive conditions do those styles appear most effective?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03 / 28 · PURPOSE</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Our goal is a reproducible tactical-analysis framework</a:t>
            </a:r>
            <a:endParaRPr lang="en-US" sz="3500" dirty="0"/>
          </a:p>
        </p:txBody>
      </p:sp>
      <p:sp>
        <p:nvSpPr>
          <p:cNvPr id="4" name="Text 2"/>
          <p:cNvSpPr/>
          <p:nvPr/>
        </p:nvSpPr>
        <p:spPr>
          <a:xfrm>
            <a:off x="685800" y="1911096"/>
            <a:ext cx="548640" cy="365760"/>
          </a:xfrm>
          <a:prstGeom prst="rect">
            <a:avLst/>
          </a:prstGeom>
          <a:noFill/>
          <a:ln/>
        </p:spPr>
        <p:txBody>
          <a:bodyPr wrap="square" lIns="0" tIns="0" rIns="0" bIns="0" rtlCol="0" anchor="t"/>
          <a:lstStyle/>
          <a:p>
            <a:pPr indent="0" marL="0">
              <a:buNone/>
            </a:pPr>
            <a:r>
              <a:rPr lang="en-US" sz="1600" b="1" dirty="0">
                <a:solidFill>
                  <a:srgbClr val="3568F0"/>
                </a:solidFill>
                <a:latin typeface="Calibri" pitchFamily="34" charset="0"/>
                <a:ea typeface="Calibri" pitchFamily="34" charset="-122"/>
                <a:cs typeface="Calibri" pitchFamily="34" charset="-120"/>
              </a:rPr>
              <a:t>01</a:t>
            </a:r>
            <a:endParaRPr lang="en-US" sz="1600" dirty="0"/>
          </a:p>
        </p:txBody>
      </p:sp>
      <p:sp>
        <p:nvSpPr>
          <p:cNvPr id="5" name="Text 3"/>
          <p:cNvSpPr/>
          <p:nvPr/>
        </p:nvSpPr>
        <p:spPr>
          <a:xfrm>
            <a:off x="1234440" y="1874520"/>
            <a:ext cx="5120640" cy="658368"/>
          </a:xfrm>
          <a:prstGeom prst="rect">
            <a:avLst/>
          </a:prstGeom>
          <a:noFill/>
          <a:ln/>
        </p:spPr>
        <p:txBody>
          <a:bodyPr wrap="square" lIns="0" tIns="0" rIns="0" bIns="0" rtlCol="0" anchor="t"/>
          <a:lstStyle/>
          <a:p>
            <a:pPr indent="0" marL="0">
              <a:lnSpc>
                <a:spcPts val="2200"/>
              </a:lnSpc>
              <a:buNone/>
            </a:pPr>
            <a:r>
              <a:rPr lang="en-US" sz="1800" dirty="0">
                <a:solidFill>
                  <a:srgbClr val="161617"/>
                </a:solidFill>
                <a:latin typeface="Calibri" pitchFamily="34" charset="0"/>
                <a:ea typeface="Calibri" pitchFamily="34" charset="-122"/>
                <a:cs typeface="Calibri" pitchFamily="34" charset="-120"/>
              </a:rPr>
              <a:t>Discover attacking patterns without pre-labeling tactics</a:t>
            </a:r>
            <a:endParaRPr lang="en-US" sz="1800" dirty="0"/>
          </a:p>
        </p:txBody>
      </p:sp>
      <p:sp>
        <p:nvSpPr>
          <p:cNvPr id="6" name="Text 4"/>
          <p:cNvSpPr/>
          <p:nvPr/>
        </p:nvSpPr>
        <p:spPr>
          <a:xfrm>
            <a:off x="685800" y="2624328"/>
            <a:ext cx="548640" cy="365760"/>
          </a:xfrm>
          <a:prstGeom prst="rect">
            <a:avLst/>
          </a:prstGeom>
          <a:noFill/>
          <a:ln/>
        </p:spPr>
        <p:txBody>
          <a:bodyPr wrap="square" lIns="0" tIns="0" rIns="0" bIns="0" rtlCol="0" anchor="t"/>
          <a:lstStyle/>
          <a:p>
            <a:pPr indent="0" marL="0">
              <a:buNone/>
            </a:pPr>
            <a:r>
              <a:rPr lang="en-US" sz="1600" b="1" dirty="0">
                <a:solidFill>
                  <a:srgbClr val="3568F0"/>
                </a:solidFill>
                <a:latin typeface="Calibri" pitchFamily="34" charset="0"/>
                <a:ea typeface="Calibri" pitchFamily="34" charset="-122"/>
                <a:cs typeface="Calibri" pitchFamily="34" charset="-120"/>
              </a:rPr>
              <a:t>02</a:t>
            </a:r>
            <a:endParaRPr lang="en-US" sz="1600" dirty="0"/>
          </a:p>
        </p:txBody>
      </p:sp>
      <p:sp>
        <p:nvSpPr>
          <p:cNvPr id="7" name="Text 5"/>
          <p:cNvSpPr/>
          <p:nvPr/>
        </p:nvSpPr>
        <p:spPr>
          <a:xfrm>
            <a:off x="1234440" y="2587752"/>
            <a:ext cx="5120640" cy="658368"/>
          </a:xfrm>
          <a:prstGeom prst="rect">
            <a:avLst/>
          </a:prstGeom>
          <a:noFill/>
          <a:ln/>
        </p:spPr>
        <p:txBody>
          <a:bodyPr wrap="square" lIns="0" tIns="0" rIns="0" bIns="0" rtlCol="0" anchor="t"/>
          <a:lstStyle/>
          <a:p>
            <a:pPr indent="0" marL="0">
              <a:lnSpc>
                <a:spcPts val="2200"/>
              </a:lnSpc>
              <a:buNone/>
            </a:pPr>
            <a:r>
              <a:rPr lang="en-US" sz="1800" dirty="0">
                <a:solidFill>
                  <a:srgbClr val="161617"/>
                </a:solidFill>
                <a:latin typeface="Calibri" pitchFamily="34" charset="0"/>
                <a:ea typeface="Calibri" pitchFamily="34" charset="-122"/>
                <a:cs typeface="Calibri" pitchFamily="34" charset="-120"/>
              </a:rPr>
              <a:t>Measure defensive structure with event and 360 spatial context</a:t>
            </a:r>
            <a:endParaRPr lang="en-US" sz="1800" dirty="0"/>
          </a:p>
        </p:txBody>
      </p:sp>
      <p:sp>
        <p:nvSpPr>
          <p:cNvPr id="8" name="Text 6"/>
          <p:cNvSpPr/>
          <p:nvPr/>
        </p:nvSpPr>
        <p:spPr>
          <a:xfrm>
            <a:off x="685800" y="3337560"/>
            <a:ext cx="548640" cy="365760"/>
          </a:xfrm>
          <a:prstGeom prst="rect">
            <a:avLst/>
          </a:prstGeom>
          <a:noFill/>
          <a:ln/>
        </p:spPr>
        <p:txBody>
          <a:bodyPr wrap="square" lIns="0" tIns="0" rIns="0" bIns="0" rtlCol="0" anchor="t"/>
          <a:lstStyle/>
          <a:p>
            <a:pPr indent="0" marL="0">
              <a:buNone/>
            </a:pPr>
            <a:r>
              <a:rPr lang="en-US" sz="1600" b="1" dirty="0">
                <a:solidFill>
                  <a:srgbClr val="3568F0"/>
                </a:solidFill>
                <a:latin typeface="Calibri" pitchFamily="34" charset="0"/>
                <a:ea typeface="Calibri" pitchFamily="34" charset="-122"/>
                <a:cs typeface="Calibri" pitchFamily="34" charset="-120"/>
              </a:rPr>
              <a:t>03</a:t>
            </a:r>
            <a:endParaRPr lang="en-US" sz="1600" dirty="0"/>
          </a:p>
        </p:txBody>
      </p:sp>
      <p:sp>
        <p:nvSpPr>
          <p:cNvPr id="9" name="Text 7"/>
          <p:cNvSpPr/>
          <p:nvPr/>
        </p:nvSpPr>
        <p:spPr>
          <a:xfrm>
            <a:off x="1234440" y="3300984"/>
            <a:ext cx="5120640" cy="658368"/>
          </a:xfrm>
          <a:prstGeom prst="rect">
            <a:avLst/>
          </a:prstGeom>
          <a:noFill/>
          <a:ln/>
        </p:spPr>
        <p:txBody>
          <a:bodyPr wrap="square" lIns="0" tIns="0" rIns="0" bIns="0" rtlCol="0" anchor="t"/>
          <a:lstStyle/>
          <a:p>
            <a:pPr indent="0" marL="0">
              <a:lnSpc>
                <a:spcPts val="2200"/>
              </a:lnSpc>
              <a:buNone/>
            </a:pPr>
            <a:r>
              <a:rPr lang="en-US" sz="1800" dirty="0">
                <a:solidFill>
                  <a:srgbClr val="161617"/>
                </a:solidFill>
                <a:latin typeface="Calibri" pitchFamily="34" charset="0"/>
                <a:ea typeface="Calibri" pitchFamily="34" charset="-122"/>
                <a:cs typeface="Calibri" pitchFamily="34" charset="-120"/>
              </a:rPr>
              <a:t>Compare attack-versus-defense matchups</a:t>
            </a:r>
            <a:endParaRPr lang="en-US" sz="1800" dirty="0"/>
          </a:p>
        </p:txBody>
      </p:sp>
      <p:sp>
        <p:nvSpPr>
          <p:cNvPr id="10" name="Text 8"/>
          <p:cNvSpPr/>
          <p:nvPr/>
        </p:nvSpPr>
        <p:spPr>
          <a:xfrm>
            <a:off x="685800" y="4050792"/>
            <a:ext cx="548640" cy="365760"/>
          </a:xfrm>
          <a:prstGeom prst="rect">
            <a:avLst/>
          </a:prstGeom>
          <a:noFill/>
          <a:ln/>
        </p:spPr>
        <p:txBody>
          <a:bodyPr wrap="square" lIns="0" tIns="0" rIns="0" bIns="0" rtlCol="0" anchor="t"/>
          <a:lstStyle/>
          <a:p>
            <a:pPr indent="0" marL="0">
              <a:buNone/>
            </a:pPr>
            <a:r>
              <a:rPr lang="en-US" sz="1600" b="1" dirty="0">
                <a:solidFill>
                  <a:srgbClr val="3568F0"/>
                </a:solidFill>
                <a:latin typeface="Calibri" pitchFamily="34" charset="0"/>
                <a:ea typeface="Calibri" pitchFamily="34" charset="-122"/>
                <a:cs typeface="Calibri" pitchFamily="34" charset="-120"/>
              </a:rPr>
              <a:t>04</a:t>
            </a:r>
            <a:endParaRPr lang="en-US" sz="1600" dirty="0"/>
          </a:p>
        </p:txBody>
      </p:sp>
      <p:sp>
        <p:nvSpPr>
          <p:cNvPr id="11" name="Text 9"/>
          <p:cNvSpPr/>
          <p:nvPr/>
        </p:nvSpPr>
        <p:spPr>
          <a:xfrm>
            <a:off x="1234440" y="4014216"/>
            <a:ext cx="5120640" cy="658368"/>
          </a:xfrm>
          <a:prstGeom prst="rect">
            <a:avLst/>
          </a:prstGeom>
          <a:noFill/>
          <a:ln/>
        </p:spPr>
        <p:txBody>
          <a:bodyPr wrap="square" lIns="0" tIns="0" rIns="0" bIns="0" rtlCol="0" anchor="t"/>
          <a:lstStyle/>
          <a:p>
            <a:pPr indent="0" marL="0">
              <a:lnSpc>
                <a:spcPts val="2200"/>
              </a:lnSpc>
              <a:buNone/>
            </a:pPr>
            <a:r>
              <a:rPr lang="en-US" sz="1800" dirty="0">
                <a:solidFill>
                  <a:srgbClr val="161617"/>
                </a:solidFill>
                <a:latin typeface="Calibri" pitchFamily="34" charset="0"/>
                <a:ea typeface="Calibri" pitchFamily="34" charset="-122"/>
                <a:cs typeface="Calibri" pitchFamily="34" charset="-120"/>
              </a:rPr>
              <a:t>Build interpretable outcome models</a:t>
            </a:r>
            <a:endParaRPr lang="en-US" sz="1800" dirty="0"/>
          </a:p>
        </p:txBody>
      </p:sp>
      <p:sp>
        <p:nvSpPr>
          <p:cNvPr id="12" name="Text 10"/>
          <p:cNvSpPr/>
          <p:nvPr/>
        </p:nvSpPr>
        <p:spPr>
          <a:xfrm>
            <a:off x="685800" y="4764024"/>
            <a:ext cx="548640" cy="365760"/>
          </a:xfrm>
          <a:prstGeom prst="rect">
            <a:avLst/>
          </a:prstGeom>
          <a:noFill/>
          <a:ln/>
        </p:spPr>
        <p:txBody>
          <a:bodyPr wrap="square" lIns="0" tIns="0" rIns="0" bIns="0" rtlCol="0" anchor="t"/>
          <a:lstStyle/>
          <a:p>
            <a:pPr indent="0" marL="0">
              <a:buNone/>
            </a:pPr>
            <a:r>
              <a:rPr lang="en-US" sz="1600" b="1" dirty="0">
                <a:solidFill>
                  <a:srgbClr val="3568F0"/>
                </a:solidFill>
                <a:latin typeface="Calibri" pitchFamily="34" charset="0"/>
                <a:ea typeface="Calibri" pitchFamily="34" charset="-122"/>
                <a:cs typeface="Calibri" pitchFamily="34" charset="-120"/>
              </a:rPr>
              <a:t>05</a:t>
            </a:r>
            <a:endParaRPr lang="en-US" sz="1600" dirty="0"/>
          </a:p>
        </p:txBody>
      </p:sp>
      <p:sp>
        <p:nvSpPr>
          <p:cNvPr id="13" name="Text 11"/>
          <p:cNvSpPr/>
          <p:nvPr/>
        </p:nvSpPr>
        <p:spPr>
          <a:xfrm>
            <a:off x="1234440" y="4727448"/>
            <a:ext cx="5120640" cy="658368"/>
          </a:xfrm>
          <a:prstGeom prst="rect">
            <a:avLst/>
          </a:prstGeom>
          <a:noFill/>
          <a:ln/>
        </p:spPr>
        <p:txBody>
          <a:bodyPr wrap="square" lIns="0" tIns="0" rIns="0" bIns="0" rtlCol="0" anchor="t"/>
          <a:lstStyle/>
          <a:p>
            <a:pPr indent="0" marL="0">
              <a:lnSpc>
                <a:spcPts val="2200"/>
              </a:lnSpc>
              <a:buNone/>
            </a:pPr>
            <a:r>
              <a:rPr lang="en-US" sz="1800" dirty="0">
                <a:solidFill>
                  <a:srgbClr val="161617"/>
                </a:solidFill>
                <a:latin typeface="Calibri" pitchFamily="34" charset="0"/>
                <a:ea typeface="Calibri" pitchFamily="34" charset="-122"/>
                <a:cs typeface="Calibri" pitchFamily="34" charset="-120"/>
              </a:rPr>
              <a:t>Explore pre-decision context without overstating causality</a:t>
            </a:r>
            <a:endParaRPr lang="en-US" sz="1800" dirty="0"/>
          </a:p>
        </p:txBody>
      </p:sp>
      <p:sp>
        <p:nvSpPr>
          <p:cNvPr id="14" name="Text 12"/>
          <p:cNvSpPr/>
          <p:nvPr/>
        </p:nvSpPr>
        <p:spPr>
          <a:xfrm>
            <a:off x="6720840" y="1874520"/>
            <a:ext cx="4782312" cy="384048"/>
          </a:xfrm>
          <a:prstGeom prst="rect">
            <a:avLst/>
          </a:prstGeom>
          <a:noFill/>
          <a:ln/>
        </p:spPr>
        <p:txBody>
          <a:bodyPr wrap="square" lIns="0" tIns="0" rIns="0" bIns="0" rtlCol="0" anchor="t"/>
          <a:lstStyle/>
          <a:p>
            <a:pPr indent="0" marL="0">
              <a:buNone/>
            </a:pPr>
            <a:r>
              <a:rPr lang="en-US" sz="2400" b="1" dirty="0">
                <a:solidFill>
                  <a:srgbClr val="161617"/>
                </a:solidFill>
                <a:latin typeface="Calibri" pitchFamily="34" charset="0"/>
                <a:ea typeface="Calibri" pitchFamily="34" charset="-122"/>
                <a:cs typeface="Calibri" pitchFamily="34" charset="-120"/>
              </a:rPr>
              <a:t>Who this serves</a:t>
            </a:r>
            <a:endParaRPr lang="en-US" sz="2400" dirty="0"/>
          </a:p>
        </p:txBody>
      </p:sp>
      <p:sp>
        <p:nvSpPr>
          <p:cNvPr id="15" name="Shape 13"/>
          <p:cNvSpPr/>
          <p:nvPr/>
        </p:nvSpPr>
        <p:spPr>
          <a:xfrm>
            <a:off x="6720840" y="2468880"/>
            <a:ext cx="4782312" cy="868680"/>
          </a:xfrm>
          <a:prstGeom prst="roundRect">
            <a:avLst>
              <a:gd name="adj" fmla="val 6316"/>
            </a:avLst>
          </a:prstGeom>
          <a:solidFill>
            <a:srgbClr val="FFFFFF"/>
          </a:solidFill>
          <a:ln w="9525">
            <a:solidFill>
              <a:srgbClr val="FFFFFF"/>
            </a:solidFill>
            <a:prstDash val="solid"/>
          </a:ln>
        </p:spPr>
      </p:sp>
      <p:sp>
        <p:nvSpPr>
          <p:cNvPr id="16" name="Text 14"/>
          <p:cNvSpPr/>
          <p:nvPr/>
        </p:nvSpPr>
        <p:spPr>
          <a:xfrm>
            <a:off x="6967728" y="2606040"/>
            <a:ext cx="4297680" cy="274320"/>
          </a:xfrm>
          <a:prstGeom prst="rect">
            <a:avLst/>
          </a:prstGeom>
          <a:noFill/>
          <a:ln/>
        </p:spPr>
        <p:txBody>
          <a:bodyPr wrap="square" lIns="0" tIns="0" rIns="0" bIns="0" rtlCol="0" anchor="t"/>
          <a:lstStyle/>
          <a:p>
            <a:pPr indent="0" marL="0">
              <a:buNone/>
            </a:pPr>
            <a:r>
              <a:rPr lang="en-US" sz="1600" b="1" dirty="0">
                <a:solidFill>
                  <a:srgbClr val="3568F0"/>
                </a:solidFill>
                <a:latin typeface="Calibri" pitchFamily="34" charset="0"/>
                <a:ea typeface="Calibri" pitchFamily="34" charset="-122"/>
                <a:cs typeface="Calibri" pitchFamily="34" charset="-120"/>
              </a:rPr>
              <a:t>Analysts</a:t>
            </a:r>
            <a:endParaRPr lang="en-US" sz="1600" dirty="0"/>
          </a:p>
        </p:txBody>
      </p:sp>
      <p:sp>
        <p:nvSpPr>
          <p:cNvPr id="17" name="Text 15"/>
          <p:cNvSpPr/>
          <p:nvPr/>
        </p:nvSpPr>
        <p:spPr>
          <a:xfrm>
            <a:off x="6967728" y="2889504"/>
            <a:ext cx="4297680" cy="384048"/>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Reproducible tactical segmentation</a:t>
            </a:r>
            <a:endParaRPr lang="en-US" sz="1500" dirty="0"/>
          </a:p>
        </p:txBody>
      </p:sp>
      <p:sp>
        <p:nvSpPr>
          <p:cNvPr id="18" name="Shape 16"/>
          <p:cNvSpPr/>
          <p:nvPr/>
        </p:nvSpPr>
        <p:spPr>
          <a:xfrm>
            <a:off x="6720840" y="3474720"/>
            <a:ext cx="4782312" cy="868680"/>
          </a:xfrm>
          <a:prstGeom prst="roundRect">
            <a:avLst>
              <a:gd name="adj" fmla="val 6316"/>
            </a:avLst>
          </a:prstGeom>
          <a:solidFill>
            <a:srgbClr val="FFFFFF"/>
          </a:solidFill>
          <a:ln w="9525">
            <a:solidFill>
              <a:srgbClr val="FFFFFF"/>
            </a:solidFill>
            <a:prstDash val="solid"/>
          </a:ln>
        </p:spPr>
      </p:sp>
      <p:sp>
        <p:nvSpPr>
          <p:cNvPr id="19" name="Text 17"/>
          <p:cNvSpPr/>
          <p:nvPr/>
        </p:nvSpPr>
        <p:spPr>
          <a:xfrm>
            <a:off x="6967728" y="3611880"/>
            <a:ext cx="4297680" cy="274320"/>
          </a:xfrm>
          <a:prstGeom prst="rect">
            <a:avLst/>
          </a:prstGeom>
          <a:noFill/>
          <a:ln/>
        </p:spPr>
        <p:txBody>
          <a:bodyPr wrap="square" lIns="0" tIns="0" rIns="0" bIns="0" rtlCol="0" anchor="t"/>
          <a:lstStyle/>
          <a:p>
            <a:pPr indent="0" marL="0">
              <a:buNone/>
            </a:pPr>
            <a:r>
              <a:rPr lang="en-US" sz="1600" b="1" dirty="0">
                <a:solidFill>
                  <a:srgbClr val="3568F0"/>
                </a:solidFill>
                <a:latin typeface="Calibri" pitchFamily="34" charset="0"/>
                <a:ea typeface="Calibri" pitchFamily="34" charset="-122"/>
                <a:cs typeface="Calibri" pitchFamily="34" charset="-120"/>
              </a:rPr>
              <a:t>Researchers</a:t>
            </a:r>
            <a:endParaRPr lang="en-US" sz="1600" dirty="0"/>
          </a:p>
        </p:txBody>
      </p:sp>
      <p:sp>
        <p:nvSpPr>
          <p:cNvPr id="20" name="Text 18"/>
          <p:cNvSpPr/>
          <p:nvPr/>
        </p:nvSpPr>
        <p:spPr>
          <a:xfrm>
            <a:off x="6967728" y="3895344"/>
            <a:ext cx="4297680" cy="384048"/>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Explicit validation and leakage boundaries</a:t>
            </a:r>
            <a:endParaRPr lang="en-US" sz="1500" dirty="0"/>
          </a:p>
        </p:txBody>
      </p:sp>
      <p:sp>
        <p:nvSpPr>
          <p:cNvPr id="21" name="Shape 19"/>
          <p:cNvSpPr/>
          <p:nvPr/>
        </p:nvSpPr>
        <p:spPr>
          <a:xfrm>
            <a:off x="6720840" y="4480560"/>
            <a:ext cx="4782312" cy="868680"/>
          </a:xfrm>
          <a:prstGeom prst="roundRect">
            <a:avLst>
              <a:gd name="adj" fmla="val 6316"/>
            </a:avLst>
          </a:prstGeom>
          <a:solidFill>
            <a:srgbClr val="FFFFFF"/>
          </a:solidFill>
          <a:ln w="9525">
            <a:solidFill>
              <a:srgbClr val="FFFFFF"/>
            </a:solidFill>
            <a:prstDash val="solid"/>
          </a:ln>
        </p:spPr>
      </p:sp>
      <p:sp>
        <p:nvSpPr>
          <p:cNvPr id="22" name="Text 20"/>
          <p:cNvSpPr/>
          <p:nvPr/>
        </p:nvSpPr>
        <p:spPr>
          <a:xfrm>
            <a:off x="6967728" y="4617720"/>
            <a:ext cx="4297680" cy="274320"/>
          </a:xfrm>
          <a:prstGeom prst="rect">
            <a:avLst/>
          </a:prstGeom>
          <a:noFill/>
          <a:ln/>
        </p:spPr>
        <p:txBody>
          <a:bodyPr wrap="square" lIns="0" tIns="0" rIns="0" bIns="0" rtlCol="0" anchor="t"/>
          <a:lstStyle/>
          <a:p>
            <a:pPr indent="0" marL="0">
              <a:buNone/>
            </a:pPr>
            <a:r>
              <a:rPr lang="en-US" sz="1600" b="1" dirty="0">
                <a:solidFill>
                  <a:srgbClr val="3568F0"/>
                </a:solidFill>
                <a:latin typeface="Calibri" pitchFamily="34" charset="0"/>
                <a:ea typeface="Calibri" pitchFamily="34" charset="-122"/>
                <a:cs typeface="Calibri" pitchFamily="34" charset="-120"/>
              </a:rPr>
              <a:t>Coaching staff</a:t>
            </a:r>
            <a:endParaRPr lang="en-US" sz="1600" dirty="0"/>
          </a:p>
        </p:txBody>
      </p:sp>
      <p:sp>
        <p:nvSpPr>
          <p:cNvPr id="23" name="Text 21"/>
          <p:cNvSpPr/>
          <p:nvPr/>
        </p:nvSpPr>
        <p:spPr>
          <a:xfrm>
            <a:off x="6967728" y="4901184"/>
            <a:ext cx="4297680" cy="384048"/>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Hypotheses for video review — not automated instructions</a:t>
            </a:r>
            <a:endParaRPr lang="en-US" sz="1500" dirty="0"/>
          </a:p>
        </p:txBody>
      </p:sp>
      <p:sp>
        <p:nvSpPr>
          <p:cNvPr id="24" name="Text 22"/>
          <p:cNvSpPr/>
          <p:nvPr/>
        </p:nvSpPr>
        <p:spPr>
          <a:xfrm>
            <a:off x="685800" y="5806440"/>
            <a:ext cx="10817352" cy="274320"/>
          </a:xfrm>
          <a:prstGeom prst="rect">
            <a:avLst/>
          </a:prstGeom>
          <a:noFill/>
          <a:ln/>
        </p:spPr>
        <p:txBody>
          <a:bodyPr wrap="square" lIns="0" tIns="0" rIns="0" bIns="0" rtlCol="0" anchor="t"/>
          <a:lstStyle/>
          <a:p>
            <a:pPr indent="0" marL="0">
              <a:buNone/>
            </a:pPr>
            <a:r>
              <a:rPr lang="en-US" sz="1600" i="1" dirty="0">
                <a:solidFill>
                  <a:srgbClr val="6E6E73"/>
                </a:solidFill>
                <a:latin typeface="Calibri" pitchFamily="34" charset="0"/>
                <a:ea typeface="Calibri" pitchFamily="34" charset="-122"/>
                <a:cs typeface="Calibri" pitchFamily="34" charset="-120"/>
              </a:rPr>
              <a:t>Reproducibility is the deliverable. A tactical conclusion that cannot be regenerated from scripts is not yet a project output.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04 / 28 · ORIGINAL SCOPE</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The original proposal created five core analytical stages</a:t>
            </a:r>
            <a:endParaRPr lang="en-US" sz="3500" dirty="0"/>
          </a:p>
        </p:txBody>
      </p:sp>
      <p:sp>
        <p:nvSpPr>
          <p:cNvPr id="4" name="Shape 2"/>
          <p:cNvSpPr/>
          <p:nvPr/>
        </p:nvSpPr>
        <p:spPr>
          <a:xfrm>
            <a:off x="685800" y="1874520"/>
            <a:ext cx="1965960" cy="1371600"/>
          </a:xfrm>
          <a:prstGeom prst="roundRect">
            <a:avLst>
              <a:gd name="adj" fmla="val 4000"/>
            </a:avLst>
          </a:prstGeom>
          <a:solidFill>
            <a:srgbClr val="FFFFFF"/>
          </a:solidFill>
          <a:ln w="9525">
            <a:solidFill>
              <a:srgbClr val="FFFFFF"/>
            </a:solidFill>
            <a:prstDash val="solid"/>
          </a:ln>
        </p:spPr>
      </p:sp>
      <p:sp>
        <p:nvSpPr>
          <p:cNvPr id="5" name="Text 3"/>
          <p:cNvSpPr/>
          <p:nvPr/>
        </p:nvSpPr>
        <p:spPr>
          <a:xfrm>
            <a:off x="868680" y="2029968"/>
            <a:ext cx="1600200" cy="256032"/>
          </a:xfrm>
          <a:prstGeom prst="rect">
            <a:avLst/>
          </a:prstGeom>
          <a:noFill/>
          <a:ln/>
        </p:spPr>
        <p:txBody>
          <a:bodyPr wrap="square" lIns="0" tIns="0" rIns="0" bIns="0" rtlCol="0" anchor="t"/>
          <a:lstStyle/>
          <a:p>
            <a:pPr indent="0" marL="0">
              <a:buNone/>
            </a:pPr>
            <a:r>
              <a:rPr lang="en-US" sz="1200" b="1" spc="120" kern="0" dirty="0">
                <a:solidFill>
                  <a:srgbClr val="3568F0"/>
                </a:solidFill>
                <a:latin typeface="Calibri" pitchFamily="34" charset="0"/>
                <a:ea typeface="Calibri" pitchFamily="34" charset="-122"/>
                <a:cs typeface="Calibri" pitchFamily="34" charset="-120"/>
              </a:rPr>
              <a:t>Stage 1</a:t>
            </a:r>
            <a:endParaRPr lang="en-US" sz="1200" dirty="0"/>
          </a:p>
        </p:txBody>
      </p:sp>
      <p:sp>
        <p:nvSpPr>
          <p:cNvPr id="6" name="Text 4"/>
          <p:cNvSpPr/>
          <p:nvPr/>
        </p:nvSpPr>
        <p:spPr>
          <a:xfrm>
            <a:off x="868680" y="2331720"/>
            <a:ext cx="1600200" cy="822960"/>
          </a:xfrm>
          <a:prstGeom prst="rect">
            <a:avLst/>
          </a:prstGeom>
          <a:noFill/>
          <a:ln/>
        </p:spPr>
        <p:txBody>
          <a:bodyPr wrap="square" lIns="0" tIns="0" rIns="0" bIns="0" rtlCol="0" anchor="t"/>
          <a:lstStyle/>
          <a:p>
            <a:pPr indent="0" marL="0">
              <a:lnSpc>
                <a:spcPts val="1900"/>
              </a:lnSpc>
              <a:buNone/>
            </a:pPr>
            <a:r>
              <a:rPr lang="en-US" sz="1600" dirty="0">
                <a:solidFill>
                  <a:srgbClr val="161617"/>
                </a:solidFill>
                <a:latin typeface="Calibri" pitchFamily="34" charset="0"/>
                <a:ea typeface="Calibri" pitchFamily="34" charset="-122"/>
                <a:cs typeface="Calibri" pitchFamily="34" charset="-120"/>
              </a:rPr>
              <a:t>Possession-level feature engineering</a:t>
            </a:r>
            <a:endParaRPr lang="en-US" sz="1600" dirty="0"/>
          </a:p>
        </p:txBody>
      </p:sp>
      <p:sp>
        <p:nvSpPr>
          <p:cNvPr id="7" name="Shape 5"/>
          <p:cNvSpPr/>
          <p:nvPr/>
        </p:nvSpPr>
        <p:spPr>
          <a:xfrm>
            <a:off x="2898648" y="1874520"/>
            <a:ext cx="1965960" cy="1371600"/>
          </a:xfrm>
          <a:prstGeom prst="roundRect">
            <a:avLst>
              <a:gd name="adj" fmla="val 4000"/>
            </a:avLst>
          </a:prstGeom>
          <a:solidFill>
            <a:srgbClr val="FFFFFF"/>
          </a:solidFill>
          <a:ln w="9525">
            <a:solidFill>
              <a:srgbClr val="FFFFFF"/>
            </a:solidFill>
            <a:prstDash val="solid"/>
          </a:ln>
        </p:spPr>
      </p:sp>
      <p:sp>
        <p:nvSpPr>
          <p:cNvPr id="8" name="Text 6"/>
          <p:cNvSpPr/>
          <p:nvPr/>
        </p:nvSpPr>
        <p:spPr>
          <a:xfrm>
            <a:off x="3081528" y="2029968"/>
            <a:ext cx="1600200" cy="256032"/>
          </a:xfrm>
          <a:prstGeom prst="rect">
            <a:avLst/>
          </a:prstGeom>
          <a:noFill/>
          <a:ln/>
        </p:spPr>
        <p:txBody>
          <a:bodyPr wrap="square" lIns="0" tIns="0" rIns="0" bIns="0" rtlCol="0" anchor="t"/>
          <a:lstStyle/>
          <a:p>
            <a:pPr indent="0" marL="0">
              <a:buNone/>
            </a:pPr>
            <a:r>
              <a:rPr lang="en-US" sz="1200" b="1" spc="120" kern="0" dirty="0">
                <a:solidFill>
                  <a:srgbClr val="3568F0"/>
                </a:solidFill>
                <a:latin typeface="Calibri" pitchFamily="34" charset="0"/>
                <a:ea typeface="Calibri" pitchFamily="34" charset="-122"/>
                <a:cs typeface="Calibri" pitchFamily="34" charset="-120"/>
              </a:rPr>
              <a:t>Stage 2</a:t>
            </a:r>
            <a:endParaRPr lang="en-US" sz="1200" dirty="0"/>
          </a:p>
        </p:txBody>
      </p:sp>
      <p:sp>
        <p:nvSpPr>
          <p:cNvPr id="9" name="Text 7"/>
          <p:cNvSpPr/>
          <p:nvPr/>
        </p:nvSpPr>
        <p:spPr>
          <a:xfrm>
            <a:off x="3081528" y="2331720"/>
            <a:ext cx="1600200" cy="822960"/>
          </a:xfrm>
          <a:prstGeom prst="rect">
            <a:avLst/>
          </a:prstGeom>
          <a:noFill/>
          <a:ln/>
        </p:spPr>
        <p:txBody>
          <a:bodyPr wrap="square" lIns="0" tIns="0" rIns="0" bIns="0" rtlCol="0" anchor="t"/>
          <a:lstStyle/>
          <a:p>
            <a:pPr indent="0" marL="0">
              <a:lnSpc>
                <a:spcPts val="1900"/>
              </a:lnSpc>
              <a:buNone/>
            </a:pPr>
            <a:r>
              <a:rPr lang="en-US" sz="1600" dirty="0">
                <a:solidFill>
                  <a:srgbClr val="161617"/>
                </a:solidFill>
                <a:latin typeface="Calibri" pitchFamily="34" charset="0"/>
                <a:ea typeface="Calibri" pitchFamily="34" charset="-122"/>
                <a:cs typeface="Calibri" pitchFamily="34" charset="-120"/>
              </a:rPr>
              <a:t>Attacking-style discovery</a:t>
            </a:r>
            <a:endParaRPr lang="en-US" sz="1600" dirty="0"/>
          </a:p>
        </p:txBody>
      </p:sp>
      <p:sp>
        <p:nvSpPr>
          <p:cNvPr id="10" name="Shape 8"/>
          <p:cNvSpPr/>
          <p:nvPr/>
        </p:nvSpPr>
        <p:spPr>
          <a:xfrm>
            <a:off x="5111496" y="1874520"/>
            <a:ext cx="1965960" cy="1371600"/>
          </a:xfrm>
          <a:prstGeom prst="roundRect">
            <a:avLst>
              <a:gd name="adj" fmla="val 4000"/>
            </a:avLst>
          </a:prstGeom>
          <a:solidFill>
            <a:srgbClr val="FFFFFF"/>
          </a:solidFill>
          <a:ln w="9525">
            <a:solidFill>
              <a:srgbClr val="FFFFFF"/>
            </a:solidFill>
            <a:prstDash val="solid"/>
          </a:ln>
        </p:spPr>
      </p:sp>
      <p:sp>
        <p:nvSpPr>
          <p:cNvPr id="11" name="Text 9"/>
          <p:cNvSpPr/>
          <p:nvPr/>
        </p:nvSpPr>
        <p:spPr>
          <a:xfrm>
            <a:off x="5294376" y="2029968"/>
            <a:ext cx="1600200" cy="256032"/>
          </a:xfrm>
          <a:prstGeom prst="rect">
            <a:avLst/>
          </a:prstGeom>
          <a:noFill/>
          <a:ln/>
        </p:spPr>
        <p:txBody>
          <a:bodyPr wrap="square" lIns="0" tIns="0" rIns="0" bIns="0" rtlCol="0" anchor="t"/>
          <a:lstStyle/>
          <a:p>
            <a:pPr indent="0" marL="0">
              <a:buNone/>
            </a:pPr>
            <a:r>
              <a:rPr lang="en-US" sz="1200" b="1" spc="120" kern="0" dirty="0">
                <a:solidFill>
                  <a:srgbClr val="3568F0"/>
                </a:solidFill>
                <a:latin typeface="Calibri" pitchFamily="34" charset="0"/>
                <a:ea typeface="Calibri" pitchFamily="34" charset="-122"/>
                <a:cs typeface="Calibri" pitchFamily="34" charset="-120"/>
              </a:rPr>
              <a:t>Stage 3</a:t>
            </a:r>
            <a:endParaRPr lang="en-US" sz="1200" dirty="0"/>
          </a:p>
        </p:txBody>
      </p:sp>
      <p:sp>
        <p:nvSpPr>
          <p:cNvPr id="12" name="Text 10"/>
          <p:cNvSpPr/>
          <p:nvPr/>
        </p:nvSpPr>
        <p:spPr>
          <a:xfrm>
            <a:off x="5294376" y="2331720"/>
            <a:ext cx="1600200" cy="822960"/>
          </a:xfrm>
          <a:prstGeom prst="rect">
            <a:avLst/>
          </a:prstGeom>
          <a:noFill/>
          <a:ln/>
        </p:spPr>
        <p:txBody>
          <a:bodyPr wrap="square" lIns="0" tIns="0" rIns="0" bIns="0" rtlCol="0" anchor="t"/>
          <a:lstStyle/>
          <a:p>
            <a:pPr indent="0" marL="0">
              <a:lnSpc>
                <a:spcPts val="1900"/>
              </a:lnSpc>
              <a:buNone/>
            </a:pPr>
            <a:r>
              <a:rPr lang="en-US" sz="1600" dirty="0">
                <a:solidFill>
                  <a:srgbClr val="161617"/>
                </a:solidFill>
                <a:latin typeface="Calibri" pitchFamily="34" charset="0"/>
                <a:ea typeface="Calibri" pitchFamily="34" charset="-122"/>
                <a:cs typeface="Calibri" pitchFamily="34" charset="-120"/>
              </a:rPr>
              <a:t>Defensive-style discovery</a:t>
            </a:r>
            <a:endParaRPr lang="en-US" sz="1600" dirty="0"/>
          </a:p>
        </p:txBody>
      </p:sp>
      <p:sp>
        <p:nvSpPr>
          <p:cNvPr id="13" name="Shape 11"/>
          <p:cNvSpPr/>
          <p:nvPr/>
        </p:nvSpPr>
        <p:spPr>
          <a:xfrm>
            <a:off x="7324344" y="1874520"/>
            <a:ext cx="1965960" cy="1371600"/>
          </a:xfrm>
          <a:prstGeom prst="roundRect">
            <a:avLst>
              <a:gd name="adj" fmla="val 4000"/>
            </a:avLst>
          </a:prstGeom>
          <a:solidFill>
            <a:srgbClr val="FFFFFF"/>
          </a:solidFill>
          <a:ln w="9525">
            <a:solidFill>
              <a:srgbClr val="FFFFFF"/>
            </a:solidFill>
            <a:prstDash val="solid"/>
          </a:ln>
        </p:spPr>
      </p:sp>
      <p:sp>
        <p:nvSpPr>
          <p:cNvPr id="14" name="Text 12"/>
          <p:cNvSpPr/>
          <p:nvPr/>
        </p:nvSpPr>
        <p:spPr>
          <a:xfrm>
            <a:off x="7507224" y="2029968"/>
            <a:ext cx="1600200" cy="256032"/>
          </a:xfrm>
          <a:prstGeom prst="rect">
            <a:avLst/>
          </a:prstGeom>
          <a:noFill/>
          <a:ln/>
        </p:spPr>
        <p:txBody>
          <a:bodyPr wrap="square" lIns="0" tIns="0" rIns="0" bIns="0" rtlCol="0" anchor="t"/>
          <a:lstStyle/>
          <a:p>
            <a:pPr indent="0" marL="0">
              <a:buNone/>
            </a:pPr>
            <a:r>
              <a:rPr lang="en-US" sz="1200" b="1" spc="120" kern="0" dirty="0">
                <a:solidFill>
                  <a:srgbClr val="3568F0"/>
                </a:solidFill>
                <a:latin typeface="Calibri" pitchFamily="34" charset="0"/>
                <a:ea typeface="Calibri" pitchFamily="34" charset="-122"/>
                <a:cs typeface="Calibri" pitchFamily="34" charset="-120"/>
              </a:rPr>
              <a:t>Stage 4</a:t>
            </a:r>
            <a:endParaRPr lang="en-US" sz="1200" dirty="0"/>
          </a:p>
        </p:txBody>
      </p:sp>
      <p:sp>
        <p:nvSpPr>
          <p:cNvPr id="15" name="Text 13"/>
          <p:cNvSpPr/>
          <p:nvPr/>
        </p:nvSpPr>
        <p:spPr>
          <a:xfrm>
            <a:off x="7507224" y="2331720"/>
            <a:ext cx="1600200" cy="822960"/>
          </a:xfrm>
          <a:prstGeom prst="rect">
            <a:avLst/>
          </a:prstGeom>
          <a:noFill/>
          <a:ln/>
        </p:spPr>
        <p:txBody>
          <a:bodyPr wrap="square" lIns="0" tIns="0" rIns="0" bIns="0" rtlCol="0" anchor="t"/>
          <a:lstStyle/>
          <a:p>
            <a:pPr indent="0" marL="0">
              <a:lnSpc>
                <a:spcPts val="1900"/>
              </a:lnSpc>
              <a:buNone/>
            </a:pPr>
            <a:r>
              <a:rPr lang="en-US" sz="1600" dirty="0">
                <a:solidFill>
                  <a:srgbClr val="161617"/>
                </a:solidFill>
                <a:latin typeface="Calibri" pitchFamily="34" charset="0"/>
                <a:ea typeface="Calibri" pitchFamily="34" charset="-122"/>
                <a:cs typeface="Calibri" pitchFamily="34" charset="-120"/>
              </a:rPr>
              <a:t>Matchup effectiveness analysis</a:t>
            </a:r>
            <a:endParaRPr lang="en-US" sz="1600" dirty="0"/>
          </a:p>
        </p:txBody>
      </p:sp>
      <p:sp>
        <p:nvSpPr>
          <p:cNvPr id="16" name="Shape 14"/>
          <p:cNvSpPr/>
          <p:nvPr/>
        </p:nvSpPr>
        <p:spPr>
          <a:xfrm>
            <a:off x="9537192" y="1874520"/>
            <a:ext cx="1965960" cy="1371600"/>
          </a:xfrm>
          <a:prstGeom prst="roundRect">
            <a:avLst>
              <a:gd name="adj" fmla="val 4000"/>
            </a:avLst>
          </a:prstGeom>
          <a:solidFill>
            <a:srgbClr val="FFFFFF"/>
          </a:solidFill>
          <a:ln w="9525">
            <a:solidFill>
              <a:srgbClr val="FFFFFF"/>
            </a:solidFill>
            <a:prstDash val="solid"/>
          </a:ln>
        </p:spPr>
      </p:sp>
      <p:sp>
        <p:nvSpPr>
          <p:cNvPr id="17" name="Text 15"/>
          <p:cNvSpPr/>
          <p:nvPr/>
        </p:nvSpPr>
        <p:spPr>
          <a:xfrm>
            <a:off x="9720072" y="2029968"/>
            <a:ext cx="1600200" cy="256032"/>
          </a:xfrm>
          <a:prstGeom prst="rect">
            <a:avLst/>
          </a:prstGeom>
          <a:noFill/>
          <a:ln/>
        </p:spPr>
        <p:txBody>
          <a:bodyPr wrap="square" lIns="0" tIns="0" rIns="0" bIns="0" rtlCol="0" anchor="t"/>
          <a:lstStyle/>
          <a:p>
            <a:pPr indent="0" marL="0">
              <a:buNone/>
            </a:pPr>
            <a:r>
              <a:rPr lang="en-US" sz="1200" b="1" spc="120" kern="0" dirty="0">
                <a:solidFill>
                  <a:srgbClr val="3568F0"/>
                </a:solidFill>
                <a:latin typeface="Calibri" pitchFamily="34" charset="0"/>
                <a:ea typeface="Calibri" pitchFamily="34" charset="-122"/>
                <a:cs typeface="Calibri" pitchFamily="34" charset="-120"/>
              </a:rPr>
              <a:t>Stage 5</a:t>
            </a:r>
            <a:endParaRPr lang="en-US" sz="1200" dirty="0"/>
          </a:p>
        </p:txBody>
      </p:sp>
      <p:sp>
        <p:nvSpPr>
          <p:cNvPr id="18" name="Text 16"/>
          <p:cNvSpPr/>
          <p:nvPr/>
        </p:nvSpPr>
        <p:spPr>
          <a:xfrm>
            <a:off x="9720072" y="2331720"/>
            <a:ext cx="1600200" cy="822960"/>
          </a:xfrm>
          <a:prstGeom prst="rect">
            <a:avLst/>
          </a:prstGeom>
          <a:noFill/>
          <a:ln/>
        </p:spPr>
        <p:txBody>
          <a:bodyPr wrap="square" lIns="0" tIns="0" rIns="0" bIns="0" rtlCol="0" anchor="t"/>
          <a:lstStyle/>
          <a:p>
            <a:pPr indent="0" marL="0">
              <a:lnSpc>
                <a:spcPts val="1900"/>
              </a:lnSpc>
              <a:buNone/>
            </a:pPr>
            <a:r>
              <a:rPr lang="en-US" sz="1600" dirty="0">
                <a:solidFill>
                  <a:srgbClr val="161617"/>
                </a:solidFill>
                <a:latin typeface="Calibri" pitchFamily="34" charset="0"/>
                <a:ea typeface="Calibri" pitchFamily="34" charset="-122"/>
                <a:cs typeface="Calibri" pitchFamily="34" charset="-120"/>
              </a:rPr>
              <a:t>Possession-success modeling</a:t>
            </a:r>
            <a:endParaRPr lang="en-US" sz="1600" dirty="0"/>
          </a:p>
        </p:txBody>
      </p:sp>
      <p:sp>
        <p:nvSpPr>
          <p:cNvPr id="19" name="Shape 17"/>
          <p:cNvSpPr/>
          <p:nvPr/>
        </p:nvSpPr>
        <p:spPr>
          <a:xfrm>
            <a:off x="685800" y="3566160"/>
            <a:ext cx="5303520" cy="2148840"/>
          </a:xfrm>
          <a:prstGeom prst="roundRect">
            <a:avLst>
              <a:gd name="adj" fmla="val 2553"/>
            </a:avLst>
          </a:prstGeom>
          <a:solidFill>
            <a:srgbClr val="ECECF0"/>
          </a:solidFill>
          <a:ln w="9525">
            <a:solidFill>
              <a:srgbClr val="ECECF0"/>
            </a:solidFill>
            <a:prstDash val="solid"/>
          </a:ln>
        </p:spPr>
      </p:sp>
      <p:sp>
        <p:nvSpPr>
          <p:cNvPr id="20" name="Text 18"/>
          <p:cNvSpPr/>
          <p:nvPr/>
        </p:nvSpPr>
        <p:spPr>
          <a:xfrm>
            <a:off x="960120" y="3767328"/>
            <a:ext cx="4754880" cy="384048"/>
          </a:xfrm>
          <a:prstGeom prst="rect">
            <a:avLst/>
          </a:prstGeom>
          <a:noFill/>
          <a:ln/>
        </p:spPr>
        <p:txBody>
          <a:bodyPr wrap="square" lIns="0" tIns="0" rIns="0" bIns="0" rtlCol="0" anchor="t"/>
          <a:lstStyle/>
          <a:p>
            <a:pPr indent="0" marL="0">
              <a:buNone/>
            </a:pPr>
            <a:r>
              <a:rPr lang="en-US" sz="2400" b="1" dirty="0">
                <a:solidFill>
                  <a:srgbClr val="6E6E73"/>
                </a:solidFill>
                <a:latin typeface="Calibri" pitchFamily="34" charset="0"/>
                <a:ea typeface="Calibri" pitchFamily="34" charset="-122"/>
                <a:cs typeface="Calibri" pitchFamily="34" charset="-120"/>
              </a:rPr>
              <a:t>Optional extensions</a:t>
            </a:r>
            <a:endParaRPr lang="en-US" sz="2400" dirty="0"/>
          </a:p>
        </p:txBody>
      </p:sp>
      <p:sp>
        <p:nvSpPr>
          <p:cNvPr id="21" name="Text 19"/>
          <p:cNvSpPr/>
          <p:nvPr/>
        </p:nvSpPr>
        <p:spPr>
          <a:xfrm>
            <a:off x="960120" y="4297680"/>
            <a:ext cx="4754880" cy="914400"/>
          </a:xfrm>
          <a:prstGeom prst="rect">
            <a:avLst/>
          </a:prstGeom>
          <a:noFill/>
          <a:ln/>
        </p:spPr>
        <p:txBody>
          <a:bodyPr wrap="square" lIns="0" tIns="0" rIns="0" bIns="0" rtlCol="0" anchor="t"/>
          <a:lstStyle/>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Team tactical profiles and flexibility</a:t>
            </a:r>
            <a:endParaRPr lang="en-US" sz="1600" dirty="0"/>
          </a:p>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Early style prediction from the first 5–10 seconds</a:t>
            </a:r>
            <a:endParaRPr lang="en-US" sz="1600" dirty="0"/>
          </a:p>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Live analysis and scouting applications</a:t>
            </a:r>
            <a:endParaRPr lang="en-US" sz="1600" dirty="0"/>
          </a:p>
        </p:txBody>
      </p:sp>
      <p:sp>
        <p:nvSpPr>
          <p:cNvPr id="22" name="Text 20"/>
          <p:cNvSpPr/>
          <p:nvPr/>
        </p:nvSpPr>
        <p:spPr>
          <a:xfrm>
            <a:off x="960120" y="5321808"/>
            <a:ext cx="4754880" cy="274320"/>
          </a:xfrm>
          <a:prstGeom prst="rect">
            <a:avLst/>
          </a:prstGeom>
          <a:noFill/>
          <a:ln/>
        </p:spPr>
        <p:txBody>
          <a:bodyPr wrap="square" lIns="0" tIns="0" rIns="0" bIns="0" rtlCol="0" anchor="t"/>
          <a:lstStyle/>
          <a:p>
            <a:pPr indent="0" marL="0">
              <a:buNone/>
            </a:pPr>
            <a:r>
              <a:rPr lang="en-US" sz="1400" i="1" dirty="0">
                <a:solidFill>
                  <a:srgbClr val="D44B52"/>
                </a:solidFill>
                <a:latin typeface="Calibri" pitchFamily="34" charset="0"/>
                <a:ea typeface="Calibri" pitchFamily="34" charset="-122"/>
                <a:cs typeface="Calibri" pitchFamily="34" charset="-120"/>
              </a:rPr>
              <a:t>Proposed, not yet complete. Treat as open work.</a:t>
            </a:r>
            <a:endParaRPr lang="en-US" sz="1400" dirty="0"/>
          </a:p>
        </p:txBody>
      </p:sp>
      <p:sp>
        <p:nvSpPr>
          <p:cNvPr id="23" name="Shape 21"/>
          <p:cNvSpPr/>
          <p:nvPr/>
        </p:nvSpPr>
        <p:spPr>
          <a:xfrm>
            <a:off x="6199632" y="3566160"/>
            <a:ext cx="5303520" cy="2148840"/>
          </a:xfrm>
          <a:prstGeom prst="roundRect">
            <a:avLst>
              <a:gd name="adj" fmla="val 2553"/>
            </a:avLst>
          </a:prstGeom>
          <a:solidFill>
            <a:srgbClr val="F3EDE0"/>
          </a:solidFill>
          <a:ln w="9525">
            <a:solidFill>
              <a:srgbClr val="F3EDE0"/>
            </a:solidFill>
            <a:prstDash val="solid"/>
          </a:ln>
        </p:spPr>
      </p:sp>
      <p:sp>
        <p:nvSpPr>
          <p:cNvPr id="24" name="Text 22"/>
          <p:cNvSpPr/>
          <p:nvPr/>
        </p:nvSpPr>
        <p:spPr>
          <a:xfrm>
            <a:off x="6473952" y="3767328"/>
            <a:ext cx="4754880" cy="384048"/>
          </a:xfrm>
          <a:prstGeom prst="rect">
            <a:avLst/>
          </a:prstGeom>
          <a:noFill/>
          <a:ln/>
        </p:spPr>
        <p:txBody>
          <a:bodyPr wrap="square" lIns="0" tIns="0" rIns="0" bIns="0" rtlCol="0" anchor="t"/>
          <a:lstStyle/>
          <a:p>
            <a:pPr indent="0" marL="0">
              <a:buNone/>
            </a:pPr>
            <a:r>
              <a:rPr lang="en-US" sz="2400" b="1" dirty="0">
                <a:solidFill>
                  <a:srgbClr val="A9741A"/>
                </a:solidFill>
                <a:latin typeface="Calibri" pitchFamily="34" charset="0"/>
                <a:ea typeface="Calibri" pitchFamily="34" charset="-122"/>
                <a:cs typeface="Calibri" pitchFamily="34" charset="-120"/>
              </a:rPr>
              <a:t>Added since the proposal</a:t>
            </a:r>
            <a:endParaRPr lang="en-US" sz="2400" dirty="0"/>
          </a:p>
        </p:txBody>
      </p:sp>
      <p:sp>
        <p:nvSpPr>
          <p:cNvPr id="25" name="Text 23"/>
          <p:cNvSpPr/>
          <p:nvPr/>
        </p:nvSpPr>
        <p:spPr>
          <a:xfrm>
            <a:off x="6473952" y="4297680"/>
            <a:ext cx="4754880" cy="914400"/>
          </a:xfrm>
          <a:prstGeom prst="rect">
            <a:avLst/>
          </a:prstGeom>
          <a:noFill/>
          <a:ln/>
        </p:spPr>
        <p:txBody>
          <a:bodyPr wrap="square" lIns="0" tIns="0" rIns="0" bIns="0" rtlCol="0" anchor="t"/>
          <a:lstStyle/>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Player and lineup history layer</a:t>
            </a:r>
            <a:endParaRPr lang="en-US" sz="1600" dirty="0"/>
          </a:p>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Transition-risk modeling</a:t>
            </a:r>
            <a:endParaRPr lang="en-US" sz="1600" dirty="0"/>
          </a:p>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Recommendation simulation</a:t>
            </a:r>
            <a:endParaRPr lang="en-US" sz="1600" dirty="0"/>
          </a:p>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Coach-facing report generation</a:t>
            </a:r>
            <a:endParaRPr lang="en-US" sz="1600" dirty="0"/>
          </a:p>
        </p:txBody>
      </p:sp>
      <p:sp>
        <p:nvSpPr>
          <p:cNvPr id="26" name="Text 24"/>
          <p:cNvSpPr/>
          <p:nvPr/>
        </p:nvSpPr>
        <p:spPr>
          <a:xfrm>
            <a:off x="6473952" y="5321808"/>
            <a:ext cx="4754880" cy="274320"/>
          </a:xfrm>
          <a:prstGeom prst="rect">
            <a:avLst/>
          </a:prstGeom>
          <a:noFill/>
          <a:ln/>
        </p:spPr>
        <p:txBody>
          <a:bodyPr wrap="square" lIns="0" tIns="0" rIns="0" bIns="0" rtlCol="0" anchor="t"/>
          <a:lstStyle/>
          <a:p>
            <a:pPr indent="0" marL="0">
              <a:buNone/>
            </a:pPr>
            <a:r>
              <a:rPr lang="en-US" sz="1400" i="1" dirty="0">
                <a:solidFill>
                  <a:srgbClr val="A9741A"/>
                </a:solidFill>
                <a:latin typeface="Calibri" pitchFamily="34" charset="0"/>
                <a:ea typeface="Calibri" pitchFamily="34" charset="-122"/>
                <a:cs typeface="Calibri" pitchFamily="34" charset="-120"/>
              </a:rPr>
              <a:t>Experimental layers beyond the original five stages.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05 / 28 · SOURCE DATA</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StatsBomb provides two complementary views of the tournament</a:t>
            </a:r>
            <a:endParaRPr lang="en-US" sz="3500" dirty="0"/>
          </a:p>
        </p:txBody>
      </p:sp>
      <p:sp>
        <p:nvSpPr>
          <p:cNvPr id="4" name="Text 2"/>
          <p:cNvSpPr/>
          <p:nvPr/>
        </p:nvSpPr>
        <p:spPr>
          <a:xfrm>
            <a:off x="685800" y="1783080"/>
            <a:ext cx="10817352" cy="320040"/>
          </a:xfrm>
          <a:prstGeom prst="rect">
            <a:avLst/>
          </a:prstGeom>
          <a:noFill/>
          <a:ln/>
        </p:spPr>
        <p:txBody>
          <a:bodyPr wrap="square" lIns="0" tIns="0" rIns="0" bIns="0" rtlCol="0" anchor="t"/>
          <a:lstStyle/>
          <a:p>
            <a:pPr indent="0" marL="0">
              <a:buNone/>
            </a:pPr>
            <a:r>
              <a:rPr lang="en-US" sz="1700" dirty="0">
                <a:solidFill>
                  <a:srgbClr val="6E6E73"/>
                </a:solidFill>
                <a:latin typeface="Calibri" pitchFamily="34" charset="0"/>
                <a:ea typeface="Calibri" pitchFamily="34" charset="-122"/>
                <a:cs typeface="Calibri" pitchFamily="34" charset="-120"/>
              </a:rPr>
              <a:t>2022 FIFA World Cup  ·  all 64 matches  ·  32 teams</a:t>
            </a:r>
            <a:endParaRPr lang="en-US" sz="1700" dirty="0"/>
          </a:p>
        </p:txBody>
      </p:sp>
      <p:sp>
        <p:nvSpPr>
          <p:cNvPr id="5" name="Shape 3"/>
          <p:cNvSpPr/>
          <p:nvPr/>
        </p:nvSpPr>
        <p:spPr>
          <a:xfrm>
            <a:off x="685800" y="2240280"/>
            <a:ext cx="5257800" cy="2514600"/>
          </a:xfrm>
          <a:prstGeom prst="roundRect">
            <a:avLst>
              <a:gd name="adj" fmla="val 2182"/>
            </a:avLst>
          </a:prstGeom>
          <a:solidFill>
            <a:srgbClr val="FFFFFF"/>
          </a:solidFill>
          <a:ln w="9525">
            <a:solidFill>
              <a:srgbClr val="FFFFFF"/>
            </a:solidFill>
            <a:prstDash val="solid"/>
          </a:ln>
        </p:spPr>
      </p:sp>
      <p:sp>
        <p:nvSpPr>
          <p:cNvPr id="6" name="Text 4"/>
          <p:cNvSpPr/>
          <p:nvPr/>
        </p:nvSpPr>
        <p:spPr>
          <a:xfrm>
            <a:off x="960120" y="2450592"/>
            <a:ext cx="4709160" cy="384048"/>
          </a:xfrm>
          <a:prstGeom prst="rect">
            <a:avLst/>
          </a:prstGeom>
          <a:noFill/>
          <a:ln/>
        </p:spPr>
        <p:txBody>
          <a:bodyPr wrap="square" lIns="0" tIns="0" rIns="0" bIns="0" rtlCol="0" anchor="t"/>
          <a:lstStyle/>
          <a:p>
            <a:pPr indent="0" marL="0">
              <a:buNone/>
            </a:pPr>
            <a:r>
              <a:rPr lang="en-US" sz="2400" b="1" dirty="0">
                <a:solidFill>
                  <a:srgbClr val="3568F0"/>
                </a:solidFill>
                <a:latin typeface="Calibri" pitchFamily="34" charset="0"/>
                <a:ea typeface="Calibri" pitchFamily="34" charset="-122"/>
                <a:cs typeface="Calibri" pitchFamily="34" charset="-120"/>
              </a:rPr>
              <a:t>Standard event stream</a:t>
            </a:r>
            <a:endParaRPr lang="en-US" sz="2400" dirty="0"/>
          </a:p>
        </p:txBody>
      </p:sp>
      <p:sp>
        <p:nvSpPr>
          <p:cNvPr id="7" name="Text 5"/>
          <p:cNvSpPr/>
          <p:nvPr/>
        </p:nvSpPr>
        <p:spPr>
          <a:xfrm>
            <a:off x="960120" y="2971800"/>
            <a:ext cx="4709160" cy="914400"/>
          </a:xfrm>
          <a:prstGeom prst="rect">
            <a:avLst/>
          </a:prstGeom>
          <a:noFill/>
          <a:ln/>
        </p:spPr>
        <p:txBody>
          <a:bodyPr wrap="square" lIns="0" tIns="0" rIns="0" bIns="0" rtlCol="0" anchor="t"/>
          <a:lstStyle/>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Event IDs and timestamps</a:t>
            </a:r>
            <a:endParaRPr lang="en-US" sz="1600" dirty="0"/>
          </a:p>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Teams, players, event types</a:t>
            </a:r>
            <a:endParaRPr lang="en-US" sz="1600" dirty="0"/>
          </a:p>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Start and end locations on a 120×80 pitch</a:t>
            </a:r>
            <a:endParaRPr lang="en-US" sz="1600" dirty="0"/>
          </a:p>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Outcomes, shot xG, pressure flags, possession IDs</a:t>
            </a:r>
            <a:endParaRPr lang="en-US" sz="1600" dirty="0"/>
          </a:p>
        </p:txBody>
      </p:sp>
      <p:sp>
        <p:nvSpPr>
          <p:cNvPr id="8" name="Shape 6"/>
          <p:cNvSpPr/>
          <p:nvPr/>
        </p:nvSpPr>
        <p:spPr>
          <a:xfrm>
            <a:off x="6245352" y="2240280"/>
            <a:ext cx="5257800" cy="2514600"/>
          </a:xfrm>
          <a:prstGeom prst="roundRect">
            <a:avLst>
              <a:gd name="adj" fmla="val 2182"/>
            </a:avLst>
          </a:prstGeom>
          <a:solidFill>
            <a:srgbClr val="FFFFFF"/>
          </a:solidFill>
          <a:ln w="9525">
            <a:solidFill>
              <a:srgbClr val="FFFFFF"/>
            </a:solidFill>
            <a:prstDash val="solid"/>
          </a:ln>
        </p:spPr>
      </p:sp>
      <p:sp>
        <p:nvSpPr>
          <p:cNvPr id="9" name="Text 7"/>
          <p:cNvSpPr/>
          <p:nvPr/>
        </p:nvSpPr>
        <p:spPr>
          <a:xfrm>
            <a:off x="6519672" y="2450592"/>
            <a:ext cx="4709160" cy="384048"/>
          </a:xfrm>
          <a:prstGeom prst="rect">
            <a:avLst/>
          </a:prstGeom>
          <a:noFill/>
          <a:ln/>
        </p:spPr>
        <p:txBody>
          <a:bodyPr wrap="square" lIns="0" tIns="0" rIns="0" bIns="0" rtlCol="0" anchor="t"/>
          <a:lstStyle/>
          <a:p>
            <a:pPr indent="0" marL="0">
              <a:buNone/>
            </a:pPr>
            <a:r>
              <a:rPr lang="en-US" sz="2400" b="1" dirty="0">
                <a:solidFill>
                  <a:srgbClr val="3568F0"/>
                </a:solidFill>
                <a:latin typeface="Calibri" pitchFamily="34" charset="0"/>
                <a:ea typeface="Calibri" pitchFamily="34" charset="-122"/>
                <a:cs typeface="Calibri" pitchFamily="34" charset="-120"/>
              </a:rPr>
              <a:t>StatsBomb 360</a:t>
            </a:r>
            <a:endParaRPr lang="en-US" sz="2400" dirty="0"/>
          </a:p>
        </p:txBody>
      </p:sp>
      <p:sp>
        <p:nvSpPr>
          <p:cNvPr id="10" name="Text 8"/>
          <p:cNvSpPr/>
          <p:nvPr/>
        </p:nvSpPr>
        <p:spPr>
          <a:xfrm>
            <a:off x="6519672" y="2971800"/>
            <a:ext cx="4709160" cy="914400"/>
          </a:xfrm>
          <a:prstGeom prst="rect">
            <a:avLst/>
          </a:prstGeom>
          <a:noFill/>
          <a:ln/>
        </p:spPr>
        <p:txBody>
          <a:bodyPr wrap="square" lIns="0" tIns="0" rIns="0" bIns="0" rtlCol="0" anchor="t"/>
          <a:lstStyle/>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Event-time freeze-frame player locations</a:t>
            </a:r>
            <a:endParaRPr lang="en-US" sz="1600" dirty="0"/>
          </a:p>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Visible-area polygons</a:t>
            </a:r>
            <a:endParaRPr lang="en-US" sz="1600" dirty="0"/>
          </a:p>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Teammate and opponent relationships around the event</a:t>
            </a:r>
            <a:endParaRPr lang="en-US" sz="1600" dirty="0"/>
          </a:p>
        </p:txBody>
      </p:sp>
      <p:sp>
        <p:nvSpPr>
          <p:cNvPr id="11" name="Shape 9"/>
          <p:cNvSpPr/>
          <p:nvPr/>
        </p:nvSpPr>
        <p:spPr>
          <a:xfrm>
            <a:off x="685800" y="4983480"/>
            <a:ext cx="10817352" cy="1234440"/>
          </a:xfrm>
          <a:prstGeom prst="roundRect">
            <a:avLst>
              <a:gd name="adj" fmla="val 4444"/>
            </a:avLst>
          </a:prstGeom>
          <a:solidFill>
            <a:srgbClr val="F9E7E8"/>
          </a:solidFill>
          <a:ln w="9525">
            <a:solidFill>
              <a:srgbClr val="F9E7E8"/>
            </a:solidFill>
            <a:prstDash val="solid"/>
          </a:ln>
        </p:spPr>
      </p:sp>
      <p:sp>
        <p:nvSpPr>
          <p:cNvPr id="12" name="Text 10"/>
          <p:cNvSpPr/>
          <p:nvPr/>
        </p:nvSpPr>
        <p:spPr>
          <a:xfrm>
            <a:off x="960120" y="5184648"/>
            <a:ext cx="10268712" cy="237744"/>
          </a:xfrm>
          <a:prstGeom prst="rect">
            <a:avLst/>
          </a:prstGeom>
          <a:noFill/>
          <a:ln/>
        </p:spPr>
        <p:txBody>
          <a:bodyPr wrap="square" lIns="0" tIns="0" rIns="0" bIns="0" rtlCol="0" anchor="t"/>
          <a:lstStyle/>
          <a:p>
            <a:pPr indent="0" marL="0">
              <a:buNone/>
            </a:pPr>
            <a:r>
              <a:rPr lang="en-US" sz="1200" b="1" spc="140" kern="0" dirty="0">
                <a:solidFill>
                  <a:srgbClr val="D44B52"/>
                </a:solidFill>
                <a:latin typeface="Calibri" pitchFamily="34" charset="0"/>
                <a:ea typeface="Calibri" pitchFamily="34" charset="-122"/>
                <a:cs typeface="Calibri" pitchFamily="34" charset="-120"/>
              </a:rPr>
              <a:t>BOUNDARY</a:t>
            </a:r>
            <a:endParaRPr lang="en-US" sz="1200" dirty="0"/>
          </a:p>
        </p:txBody>
      </p:sp>
      <p:sp>
        <p:nvSpPr>
          <p:cNvPr id="13" name="Text 11"/>
          <p:cNvSpPr/>
          <p:nvPr/>
        </p:nvSpPr>
        <p:spPr>
          <a:xfrm>
            <a:off x="960120" y="5513832"/>
            <a:ext cx="10268712" cy="566928"/>
          </a:xfrm>
          <a:prstGeom prst="rect">
            <a:avLst/>
          </a:prstGeom>
          <a:noFill/>
          <a:ln/>
        </p:spPr>
        <p:txBody>
          <a:bodyPr wrap="square" lIns="0" tIns="0" rIns="0" bIns="0" rtlCol="0" anchor="t"/>
          <a:lstStyle/>
          <a:p>
            <a:pPr indent="0" marL="0">
              <a:lnSpc>
                <a:spcPts val="2375"/>
              </a:lnSpc>
              <a:buNone/>
            </a:pPr>
            <a:r>
              <a:rPr lang="en-US" sz="1900" b="1" dirty="0">
                <a:solidFill>
                  <a:srgbClr val="161617"/>
                </a:solidFill>
                <a:latin typeface="Calibri" pitchFamily="34" charset="0"/>
                <a:ea typeface="Calibri" pitchFamily="34" charset="-122"/>
                <a:cs typeface="Calibri" pitchFamily="34" charset="-120"/>
              </a:rPr>
              <a:t>360 is event-time spatial context, not continuous optical tracking. There are no frames between events.</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06 / 28 · UNIT OF ANALYSIS</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One possession becomes one analytical observation</a:t>
            </a:r>
            <a:endParaRPr lang="en-US" sz="3500" dirty="0"/>
          </a:p>
        </p:txBody>
      </p:sp>
      <p:sp>
        <p:nvSpPr>
          <p:cNvPr id="4" name="Shape 2"/>
          <p:cNvSpPr/>
          <p:nvPr/>
        </p:nvSpPr>
        <p:spPr>
          <a:xfrm>
            <a:off x="685800" y="1965960"/>
            <a:ext cx="3154680" cy="1691640"/>
          </a:xfrm>
          <a:prstGeom prst="roundRect">
            <a:avLst>
              <a:gd name="adj" fmla="val 3243"/>
            </a:avLst>
          </a:prstGeom>
          <a:solidFill>
            <a:srgbClr val="FFFFFF"/>
          </a:solidFill>
          <a:ln w="9525">
            <a:solidFill>
              <a:srgbClr val="FFFFFF"/>
            </a:solidFill>
            <a:prstDash val="solid"/>
          </a:ln>
        </p:spPr>
      </p:sp>
      <p:sp>
        <p:nvSpPr>
          <p:cNvPr id="5" name="Text 3"/>
          <p:cNvSpPr/>
          <p:nvPr/>
        </p:nvSpPr>
        <p:spPr>
          <a:xfrm>
            <a:off x="960120" y="2212848"/>
            <a:ext cx="2606040" cy="731520"/>
          </a:xfrm>
          <a:prstGeom prst="rect">
            <a:avLst/>
          </a:prstGeom>
          <a:noFill/>
          <a:ln/>
        </p:spPr>
        <p:txBody>
          <a:bodyPr wrap="square" lIns="0" tIns="0" rIns="0" bIns="0" rtlCol="0" anchor="t"/>
          <a:lstStyle/>
          <a:p>
            <a:pPr indent="0" marL="0">
              <a:buNone/>
            </a:pPr>
            <a:r>
              <a:rPr lang="en-US" sz="4000" b="1" dirty="0">
                <a:solidFill>
                  <a:srgbClr val="161617"/>
                </a:solidFill>
                <a:latin typeface="Calibri" pitchFamily="34" charset="0"/>
                <a:ea typeface="Calibri" pitchFamily="34" charset="-122"/>
                <a:cs typeface="Calibri" pitchFamily="34" charset="-120"/>
              </a:rPr>
              <a:t>234,637</a:t>
            </a:r>
            <a:endParaRPr lang="en-US" sz="4000" dirty="0"/>
          </a:p>
        </p:txBody>
      </p:sp>
      <p:sp>
        <p:nvSpPr>
          <p:cNvPr id="6" name="Text 4"/>
          <p:cNvSpPr/>
          <p:nvPr/>
        </p:nvSpPr>
        <p:spPr>
          <a:xfrm>
            <a:off x="960120" y="2971800"/>
            <a:ext cx="2606040" cy="548640"/>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event rows in the source snapshot</a:t>
            </a:r>
            <a:endParaRPr lang="en-US" sz="1500" dirty="0"/>
          </a:p>
        </p:txBody>
      </p:sp>
      <p:sp>
        <p:nvSpPr>
          <p:cNvPr id="7" name="Shape 5"/>
          <p:cNvSpPr/>
          <p:nvPr/>
        </p:nvSpPr>
        <p:spPr>
          <a:xfrm>
            <a:off x="4151376" y="2651760"/>
            <a:ext cx="512064" cy="310896"/>
          </a:xfrm>
          <a:prstGeom prst="rightArrow">
            <a:avLst/>
          </a:prstGeom>
          <a:solidFill>
            <a:srgbClr val="C9C9D0"/>
          </a:solidFill>
          <a:ln w="12700">
            <a:solidFill>
              <a:srgbClr val="C9C9D0"/>
            </a:solidFill>
            <a:prstDash val="solid"/>
          </a:ln>
        </p:spPr>
      </p:sp>
      <p:sp>
        <p:nvSpPr>
          <p:cNvPr id="8" name="Shape 6"/>
          <p:cNvSpPr/>
          <p:nvPr/>
        </p:nvSpPr>
        <p:spPr>
          <a:xfrm>
            <a:off x="4974336" y="1965960"/>
            <a:ext cx="3154680" cy="1691640"/>
          </a:xfrm>
          <a:prstGeom prst="roundRect">
            <a:avLst>
              <a:gd name="adj" fmla="val 3243"/>
            </a:avLst>
          </a:prstGeom>
          <a:solidFill>
            <a:srgbClr val="FFFFFF"/>
          </a:solidFill>
          <a:ln w="9525">
            <a:solidFill>
              <a:srgbClr val="FFFFFF"/>
            </a:solidFill>
            <a:prstDash val="solid"/>
          </a:ln>
        </p:spPr>
      </p:sp>
      <p:sp>
        <p:nvSpPr>
          <p:cNvPr id="9" name="Text 7"/>
          <p:cNvSpPr/>
          <p:nvPr/>
        </p:nvSpPr>
        <p:spPr>
          <a:xfrm>
            <a:off x="5248656" y="2212848"/>
            <a:ext cx="2606040" cy="731520"/>
          </a:xfrm>
          <a:prstGeom prst="rect">
            <a:avLst/>
          </a:prstGeom>
          <a:noFill/>
          <a:ln/>
        </p:spPr>
        <p:txBody>
          <a:bodyPr wrap="square" lIns="0" tIns="0" rIns="0" bIns="0" rtlCol="0" anchor="t"/>
          <a:lstStyle/>
          <a:p>
            <a:pPr indent="0" marL="0">
              <a:buNone/>
            </a:pPr>
            <a:r>
              <a:rPr lang="en-US" sz="4000" b="1" dirty="0">
                <a:solidFill>
                  <a:srgbClr val="D44B52"/>
                </a:solidFill>
                <a:latin typeface="Calibri" pitchFamily="34" charset="0"/>
                <a:ea typeface="Calibri" pitchFamily="34" charset="-122"/>
                <a:cs typeface="Calibri" pitchFamily="34" charset="-120"/>
              </a:rPr>
              <a:t>−106</a:t>
            </a:r>
            <a:endParaRPr lang="en-US" sz="4000" dirty="0"/>
          </a:p>
        </p:txBody>
      </p:sp>
      <p:sp>
        <p:nvSpPr>
          <p:cNvPr id="10" name="Text 8"/>
          <p:cNvSpPr/>
          <p:nvPr/>
        </p:nvSpPr>
        <p:spPr>
          <a:xfrm>
            <a:off x="5248656" y="2971800"/>
            <a:ext cx="2606040" cy="548640"/>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penalty-shootout rows excluded</a:t>
            </a:r>
            <a:endParaRPr lang="en-US" sz="1500" dirty="0"/>
          </a:p>
        </p:txBody>
      </p:sp>
      <p:sp>
        <p:nvSpPr>
          <p:cNvPr id="11" name="Shape 9"/>
          <p:cNvSpPr/>
          <p:nvPr/>
        </p:nvSpPr>
        <p:spPr>
          <a:xfrm>
            <a:off x="8439912" y="2651760"/>
            <a:ext cx="512064" cy="310896"/>
          </a:xfrm>
          <a:prstGeom prst="rightArrow">
            <a:avLst/>
          </a:prstGeom>
          <a:solidFill>
            <a:srgbClr val="C9C9D0"/>
          </a:solidFill>
          <a:ln w="12700">
            <a:solidFill>
              <a:srgbClr val="C9C9D0"/>
            </a:solidFill>
            <a:prstDash val="solid"/>
          </a:ln>
        </p:spPr>
      </p:sp>
      <p:sp>
        <p:nvSpPr>
          <p:cNvPr id="12" name="Shape 10"/>
          <p:cNvSpPr/>
          <p:nvPr/>
        </p:nvSpPr>
        <p:spPr>
          <a:xfrm>
            <a:off x="9262872" y="1965960"/>
            <a:ext cx="3154680" cy="1691640"/>
          </a:xfrm>
          <a:prstGeom prst="roundRect">
            <a:avLst>
              <a:gd name="adj" fmla="val 3243"/>
            </a:avLst>
          </a:prstGeom>
          <a:solidFill>
            <a:srgbClr val="E1EDE8"/>
          </a:solidFill>
          <a:ln w="9525">
            <a:solidFill>
              <a:srgbClr val="E1EDE8"/>
            </a:solidFill>
            <a:prstDash val="solid"/>
          </a:ln>
        </p:spPr>
      </p:sp>
      <p:sp>
        <p:nvSpPr>
          <p:cNvPr id="13" name="Text 11"/>
          <p:cNvSpPr/>
          <p:nvPr/>
        </p:nvSpPr>
        <p:spPr>
          <a:xfrm>
            <a:off x="9537192" y="2212848"/>
            <a:ext cx="2606040" cy="731520"/>
          </a:xfrm>
          <a:prstGeom prst="rect">
            <a:avLst/>
          </a:prstGeom>
          <a:noFill/>
          <a:ln/>
        </p:spPr>
        <p:txBody>
          <a:bodyPr wrap="square" lIns="0" tIns="0" rIns="0" bIns="0" rtlCol="0" anchor="t"/>
          <a:lstStyle/>
          <a:p>
            <a:pPr indent="0" marL="0">
              <a:buNone/>
            </a:pPr>
            <a:r>
              <a:rPr lang="en-US" sz="4000" b="1" dirty="0">
                <a:solidFill>
                  <a:srgbClr val="24775B"/>
                </a:solidFill>
                <a:latin typeface="Calibri" pitchFamily="34" charset="0"/>
                <a:ea typeface="Calibri" pitchFamily="34" charset="-122"/>
                <a:cs typeface="Calibri" pitchFamily="34" charset="-120"/>
              </a:rPr>
              <a:t>11,016</a:t>
            </a:r>
            <a:endParaRPr lang="en-US" sz="4000" dirty="0"/>
          </a:p>
        </p:txBody>
      </p:sp>
      <p:sp>
        <p:nvSpPr>
          <p:cNvPr id="14" name="Text 12"/>
          <p:cNvSpPr/>
          <p:nvPr/>
        </p:nvSpPr>
        <p:spPr>
          <a:xfrm>
            <a:off x="9537192" y="2971800"/>
            <a:ext cx="2606040" cy="548640"/>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validated possession rows</a:t>
            </a:r>
            <a:endParaRPr lang="en-US" sz="1500" dirty="0"/>
          </a:p>
        </p:txBody>
      </p:sp>
      <p:sp>
        <p:nvSpPr>
          <p:cNvPr id="15" name="Text 13"/>
          <p:cNvSpPr/>
          <p:nvPr/>
        </p:nvSpPr>
        <p:spPr>
          <a:xfrm>
            <a:off x="685800" y="3977640"/>
            <a:ext cx="5029200" cy="384048"/>
          </a:xfrm>
          <a:prstGeom prst="rect">
            <a:avLst/>
          </a:prstGeom>
          <a:noFill/>
          <a:ln/>
        </p:spPr>
        <p:txBody>
          <a:bodyPr wrap="square" lIns="0" tIns="0" rIns="0" bIns="0" rtlCol="0" anchor="t"/>
          <a:lstStyle/>
          <a:p>
            <a:pPr indent="0" marL="0">
              <a:buNone/>
            </a:pPr>
            <a:r>
              <a:rPr lang="en-US" sz="2400" b="1" dirty="0">
                <a:solidFill>
                  <a:srgbClr val="161617"/>
                </a:solidFill>
                <a:latin typeface="Calibri" pitchFamily="34" charset="0"/>
                <a:ea typeface="Calibri" pitchFamily="34" charset="-122"/>
                <a:cs typeface="Calibri" pitchFamily="34" charset="-120"/>
              </a:rPr>
              <a:t>Aggregation contract</a:t>
            </a:r>
            <a:endParaRPr lang="en-US" sz="2400" dirty="0"/>
          </a:p>
        </p:txBody>
      </p:sp>
      <p:sp>
        <p:nvSpPr>
          <p:cNvPr id="16" name="Text 14"/>
          <p:cNvSpPr/>
          <p:nvPr/>
        </p:nvSpPr>
        <p:spPr>
          <a:xfrm>
            <a:off x="685800" y="4526280"/>
            <a:ext cx="5029200" cy="914400"/>
          </a:xfrm>
          <a:prstGeom prst="rect">
            <a:avLst/>
          </a:prstGeom>
          <a:noFill/>
          <a:ln/>
        </p:spPr>
        <p:txBody>
          <a:bodyPr wrap="square" lIns="0" tIns="0" rIns="0" bIns="0" rtlCol="0" anchor="t"/>
          <a:lstStyle/>
          <a:p>
            <a:pPr marL="177800" indent="-177800">
              <a:lnSpc>
                <a:spcPts val="1952"/>
              </a:lnSpc>
              <a:spcAft>
                <a:spcPts val="700"/>
              </a:spcAft>
              <a:buSzPct val="100000"/>
              <a:buChar char="•"/>
            </a:pPr>
            <a:r>
              <a:rPr lang="en-US" sz="1600" b="1" dirty="0">
                <a:solidFill>
                  <a:srgbClr val="161617"/>
                </a:solidFill>
                <a:latin typeface="Calibri" pitchFamily="34" charset="0"/>
                <a:ea typeface="Calibri" pitchFamily="34" charset="-122"/>
                <a:cs typeface="Calibri" pitchFamily="34" charset="-120"/>
              </a:rPr>
              <a:t>Unique key</a:t>
            </a:r>
            <a:pPr indent="0" marL="0">
              <a:lnSpc>
                <a:spcPts val="1952"/>
              </a:lnSpc>
              <a:spcAft>
                <a:spcPts val="700"/>
              </a:spcAft>
              <a:buNone/>
            </a:pPr>
            <a:r>
              <a:rPr lang="en-US" sz="1600" dirty="0">
                <a:solidFill>
                  <a:srgbClr val="161617"/>
                </a:solidFill>
                <a:latin typeface="Calibri" pitchFamily="34" charset="0"/>
                <a:ea typeface="Calibri" pitchFamily="34" charset="-122"/>
                <a:cs typeface="Calibri" pitchFamily="34" charset="-120"/>
              </a:rPr>
              <a:t>: match + period + possession</a:t>
            </a:r>
            <a:endParaRPr lang="en-US" sz="1600" dirty="0"/>
          </a:p>
          <a:p>
            <a:pPr marL="177800" indent="-177800">
              <a:lnSpc>
                <a:spcPts val="1952"/>
              </a:lnSpc>
              <a:spcAft>
                <a:spcPts val="700"/>
              </a:spcAft>
              <a:buSzPct val="100000"/>
              <a:buChar char="•"/>
            </a:pPr>
            <a:r>
              <a:rPr lang="en-US" sz="1600" b="1" dirty="0">
                <a:solidFill>
                  <a:srgbClr val="161617"/>
                </a:solidFill>
                <a:latin typeface="Calibri" pitchFamily="34" charset="0"/>
                <a:ea typeface="Calibri" pitchFamily="34" charset="-122"/>
                <a:cs typeface="Calibri" pitchFamily="34" charset="-120"/>
              </a:rPr>
              <a:t>One row</a:t>
            </a:r>
            <a:pPr indent="0" marL="0">
              <a:lnSpc>
                <a:spcPts val="1952"/>
              </a:lnSpc>
              <a:spcAft>
                <a:spcPts val="700"/>
              </a:spcAft>
              <a:buNone/>
            </a:pPr>
            <a:r>
              <a:rPr lang="en-US" sz="1600" dirty="0">
                <a:solidFill>
                  <a:srgbClr val="161617"/>
                </a:solidFill>
                <a:latin typeface="Calibri" pitchFamily="34" charset="0"/>
                <a:ea typeface="Calibri" pitchFamily="34" charset="-122"/>
                <a:cs typeface="Calibri" pitchFamily="34" charset="-120"/>
              </a:rPr>
              <a:t> per possession, one team in possession</a:t>
            </a:r>
            <a:endParaRPr lang="en-US" sz="1600" dirty="0"/>
          </a:p>
          <a:p>
            <a:pPr marL="177800" indent="-177800">
              <a:lnSpc>
                <a:spcPts val="1952"/>
              </a:lnSpc>
              <a:spcAft>
                <a:spcPts val="700"/>
              </a:spcAft>
              <a:buSzPct val="100000"/>
              <a:buChar char="•"/>
            </a:pPr>
            <a:r>
              <a:rPr lang="en-US" sz="1600" b="1" dirty="0">
                <a:solidFill>
                  <a:srgbClr val="161617"/>
                </a:solidFill>
                <a:latin typeface="Calibri" pitchFamily="34" charset="0"/>
                <a:ea typeface="Calibri" pitchFamily="34" charset="-122"/>
                <a:cs typeface="Calibri" pitchFamily="34" charset="-120"/>
              </a:rPr>
              <a:t>Event order</a:t>
            </a:r>
            <a:pPr indent="0" marL="0">
              <a:lnSpc>
                <a:spcPts val="1952"/>
              </a:lnSpc>
              <a:spcAft>
                <a:spcPts val="700"/>
              </a:spcAft>
              <a:buNone/>
            </a:pPr>
            <a:r>
              <a:rPr lang="en-US" sz="1600" dirty="0">
                <a:solidFill>
                  <a:srgbClr val="161617"/>
                </a:solidFill>
                <a:latin typeface="Calibri" pitchFamily="34" charset="0"/>
                <a:ea typeface="Calibri" pitchFamily="34" charset="-122"/>
                <a:cs typeface="Calibri" pitchFamily="34" charset="-120"/>
              </a:rPr>
              <a:t> preserved inside the aggregation, not after it</a:t>
            </a:r>
            <a:endParaRPr lang="en-US" sz="1600" dirty="0"/>
          </a:p>
        </p:txBody>
      </p:sp>
      <p:sp>
        <p:nvSpPr>
          <p:cNvPr id="17" name="Text 15"/>
          <p:cNvSpPr/>
          <p:nvPr/>
        </p:nvSpPr>
        <p:spPr>
          <a:xfrm>
            <a:off x="6245352" y="3977640"/>
            <a:ext cx="5257800" cy="384048"/>
          </a:xfrm>
          <a:prstGeom prst="rect">
            <a:avLst/>
          </a:prstGeom>
          <a:noFill/>
          <a:ln/>
        </p:spPr>
        <p:txBody>
          <a:bodyPr wrap="square" lIns="0" tIns="0" rIns="0" bIns="0" rtlCol="0" anchor="t"/>
          <a:lstStyle/>
          <a:p>
            <a:pPr indent="0" marL="0">
              <a:buNone/>
            </a:pPr>
            <a:r>
              <a:rPr lang="en-US" sz="2400" b="1" dirty="0">
                <a:solidFill>
                  <a:srgbClr val="161617"/>
                </a:solidFill>
                <a:latin typeface="Calibri" pitchFamily="34" charset="0"/>
                <a:ea typeface="Calibri" pitchFamily="34" charset="-122"/>
                <a:cs typeface="Calibri" pitchFamily="34" charset="-120"/>
              </a:rPr>
              <a:t>Coverage checks</a:t>
            </a:r>
            <a:endParaRPr lang="en-US" sz="2400" dirty="0"/>
          </a:p>
        </p:txBody>
      </p:sp>
      <p:sp>
        <p:nvSpPr>
          <p:cNvPr id="18" name="Text 16"/>
          <p:cNvSpPr/>
          <p:nvPr/>
        </p:nvSpPr>
        <p:spPr>
          <a:xfrm>
            <a:off x="6245352" y="4526280"/>
            <a:ext cx="5257800" cy="914400"/>
          </a:xfrm>
          <a:prstGeom prst="rect">
            <a:avLst/>
          </a:prstGeom>
          <a:noFill/>
          <a:ln/>
        </p:spPr>
        <p:txBody>
          <a:bodyPr wrap="square" lIns="0" tIns="0" rIns="0" bIns="0" rtlCol="0" anchor="t"/>
          <a:lstStyle/>
          <a:p>
            <a:pPr marL="177800" indent="-177800">
              <a:lnSpc>
                <a:spcPts val="1952"/>
              </a:lnSpc>
              <a:spcAft>
                <a:spcPts val="700"/>
              </a:spcAft>
              <a:buSzPct val="100000"/>
              <a:buChar char="•"/>
            </a:pPr>
            <a:r>
              <a:rPr lang="en-US" sz="1600" dirty="0">
                <a:solidFill>
                  <a:srgbClr val="24775B"/>
                </a:solidFill>
                <a:latin typeface="Calibri" pitchFamily="34" charset="0"/>
                <a:ea typeface="Calibri" pitchFamily="34" charset="-122"/>
                <a:cs typeface="Calibri" pitchFamily="34" charset="-120"/>
              </a:rPr>
              <a:t>64 matches represented</a:t>
            </a:r>
            <a:endParaRPr lang="en-US" sz="1600" dirty="0"/>
          </a:p>
          <a:p>
            <a:pPr marL="177800" indent="-177800">
              <a:lnSpc>
                <a:spcPts val="1952"/>
              </a:lnSpc>
              <a:spcAft>
                <a:spcPts val="700"/>
              </a:spcAft>
              <a:buSzPct val="100000"/>
              <a:buChar char="•"/>
            </a:pPr>
            <a:r>
              <a:rPr lang="en-US" sz="1600" dirty="0">
                <a:solidFill>
                  <a:srgbClr val="24775B"/>
                </a:solidFill>
                <a:latin typeface="Calibri" pitchFamily="34" charset="0"/>
                <a:ea typeface="Calibri" pitchFamily="34" charset="-122"/>
                <a:cs typeface="Calibri" pitchFamily="34" charset="-120"/>
              </a:rPr>
              <a:t>32 teams represented</a:t>
            </a:r>
            <a:endParaRPr lang="en-US" sz="1600" dirty="0"/>
          </a:p>
          <a:p>
            <a:pPr marL="177800" indent="-177800">
              <a:lnSpc>
                <a:spcPts val="1952"/>
              </a:lnSpc>
              <a:spcAft>
                <a:spcPts val="700"/>
              </a:spcAft>
              <a:buSzPct val="100000"/>
              <a:buChar char="•"/>
            </a:pPr>
            <a:r>
              <a:rPr lang="en-US" sz="1600" dirty="0">
                <a:solidFill>
                  <a:srgbClr val="24775B"/>
                </a:solidFill>
                <a:latin typeface="Calibri" pitchFamily="34" charset="0"/>
                <a:ea typeface="Calibri" pitchFamily="34" charset="-122"/>
                <a:cs typeface="Calibri" pitchFamily="34" charset="-120"/>
              </a:rPr>
              <a:t>172 tournament goals accounted for</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07 / 28 · SYSTEM MAP</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The pipeline turns raw events into tactical evidence</a:t>
            </a:r>
            <a:endParaRPr lang="en-US" sz="3500" dirty="0"/>
          </a:p>
        </p:txBody>
      </p:sp>
      <p:sp>
        <p:nvSpPr>
          <p:cNvPr id="4" name="Shape 2"/>
          <p:cNvSpPr/>
          <p:nvPr/>
        </p:nvSpPr>
        <p:spPr>
          <a:xfrm>
            <a:off x="685800" y="2103120"/>
            <a:ext cx="1965960" cy="1170432"/>
          </a:xfrm>
          <a:prstGeom prst="roundRect">
            <a:avLst>
              <a:gd name="adj" fmla="val 4688"/>
            </a:avLst>
          </a:prstGeom>
          <a:solidFill>
            <a:srgbClr val="E1EDE8"/>
          </a:solidFill>
          <a:ln w="9525">
            <a:solidFill>
              <a:srgbClr val="E1EDE8"/>
            </a:solidFill>
            <a:prstDash val="solid"/>
          </a:ln>
        </p:spPr>
      </p:sp>
      <p:sp>
        <p:nvSpPr>
          <p:cNvPr id="5" name="Text 3"/>
          <p:cNvSpPr/>
          <p:nvPr/>
        </p:nvSpPr>
        <p:spPr>
          <a:xfrm>
            <a:off x="850392" y="2231136"/>
            <a:ext cx="548640" cy="237744"/>
          </a:xfrm>
          <a:prstGeom prst="rect">
            <a:avLst/>
          </a:prstGeom>
          <a:noFill/>
          <a:ln/>
        </p:spPr>
        <p:txBody>
          <a:bodyPr wrap="square" lIns="0" tIns="0" rIns="0" bIns="0" rtlCol="0" anchor="t"/>
          <a:lstStyle/>
          <a:p>
            <a:pPr indent="0" marL="0">
              <a:buNone/>
            </a:pPr>
            <a:r>
              <a:rPr lang="en-US" sz="1200" b="1" dirty="0">
                <a:solidFill>
                  <a:srgbClr val="24775B"/>
                </a:solidFill>
                <a:latin typeface="Calibri" pitchFamily="34" charset="0"/>
                <a:ea typeface="Calibri" pitchFamily="34" charset="-122"/>
                <a:cs typeface="Calibri" pitchFamily="34" charset="-120"/>
              </a:rPr>
              <a:t>01</a:t>
            </a:r>
            <a:endParaRPr lang="en-US" sz="1200" dirty="0"/>
          </a:p>
        </p:txBody>
      </p:sp>
      <p:sp>
        <p:nvSpPr>
          <p:cNvPr id="6" name="Text 4"/>
          <p:cNvSpPr/>
          <p:nvPr/>
        </p:nvSpPr>
        <p:spPr>
          <a:xfrm>
            <a:off x="850392" y="2514600"/>
            <a:ext cx="1636776" cy="685800"/>
          </a:xfrm>
          <a:prstGeom prst="rect">
            <a:avLst/>
          </a:prstGeom>
          <a:noFill/>
          <a:ln/>
        </p:spPr>
        <p:txBody>
          <a:bodyPr wrap="square" lIns="0" tIns="0" rIns="0" bIns="0" rtlCol="0" anchor="t"/>
          <a:lstStyle/>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Acquire events &amp;</a:t>
            </a:r>
            <a:endParaRPr lang="en-US" sz="1500" dirty="0"/>
          </a:p>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manifest</a:t>
            </a:r>
            <a:endParaRPr lang="en-US" sz="1500" dirty="0"/>
          </a:p>
        </p:txBody>
      </p:sp>
      <p:sp>
        <p:nvSpPr>
          <p:cNvPr id="7" name="Shape 5"/>
          <p:cNvSpPr/>
          <p:nvPr/>
        </p:nvSpPr>
        <p:spPr>
          <a:xfrm>
            <a:off x="2702052" y="2606040"/>
            <a:ext cx="292608" cy="182880"/>
          </a:xfrm>
          <a:prstGeom prst="rightArrow">
            <a:avLst/>
          </a:prstGeom>
          <a:solidFill>
            <a:srgbClr val="C9C9D0"/>
          </a:solidFill>
          <a:ln w="12700">
            <a:solidFill>
              <a:srgbClr val="333333"/>
            </a:solidFill>
            <a:prstDash val="solid"/>
          </a:ln>
        </p:spPr>
      </p:sp>
      <p:sp>
        <p:nvSpPr>
          <p:cNvPr id="8" name="Shape 6"/>
          <p:cNvSpPr/>
          <p:nvPr/>
        </p:nvSpPr>
        <p:spPr>
          <a:xfrm>
            <a:off x="2898648" y="2103120"/>
            <a:ext cx="1965960" cy="1170432"/>
          </a:xfrm>
          <a:prstGeom prst="roundRect">
            <a:avLst>
              <a:gd name="adj" fmla="val 4688"/>
            </a:avLst>
          </a:prstGeom>
          <a:solidFill>
            <a:srgbClr val="E1EDE8"/>
          </a:solidFill>
          <a:ln w="9525">
            <a:solidFill>
              <a:srgbClr val="E1EDE8"/>
            </a:solidFill>
            <a:prstDash val="solid"/>
          </a:ln>
        </p:spPr>
      </p:sp>
      <p:sp>
        <p:nvSpPr>
          <p:cNvPr id="9" name="Text 7"/>
          <p:cNvSpPr/>
          <p:nvPr/>
        </p:nvSpPr>
        <p:spPr>
          <a:xfrm>
            <a:off x="3063240" y="2231136"/>
            <a:ext cx="548640" cy="237744"/>
          </a:xfrm>
          <a:prstGeom prst="rect">
            <a:avLst/>
          </a:prstGeom>
          <a:noFill/>
          <a:ln/>
        </p:spPr>
        <p:txBody>
          <a:bodyPr wrap="square" lIns="0" tIns="0" rIns="0" bIns="0" rtlCol="0" anchor="t"/>
          <a:lstStyle/>
          <a:p>
            <a:pPr indent="0" marL="0">
              <a:buNone/>
            </a:pPr>
            <a:r>
              <a:rPr lang="en-US" sz="1200" b="1" dirty="0">
                <a:solidFill>
                  <a:srgbClr val="24775B"/>
                </a:solidFill>
                <a:latin typeface="Calibri" pitchFamily="34" charset="0"/>
                <a:ea typeface="Calibri" pitchFamily="34" charset="-122"/>
                <a:cs typeface="Calibri" pitchFamily="34" charset="-120"/>
              </a:rPr>
              <a:t>02</a:t>
            </a:r>
            <a:endParaRPr lang="en-US" sz="1200" dirty="0"/>
          </a:p>
        </p:txBody>
      </p:sp>
      <p:sp>
        <p:nvSpPr>
          <p:cNvPr id="10" name="Text 8"/>
          <p:cNvSpPr/>
          <p:nvPr/>
        </p:nvSpPr>
        <p:spPr>
          <a:xfrm>
            <a:off x="3063240" y="2514600"/>
            <a:ext cx="1636776" cy="685800"/>
          </a:xfrm>
          <a:prstGeom prst="rect">
            <a:avLst/>
          </a:prstGeom>
          <a:noFill/>
          <a:ln/>
        </p:spPr>
        <p:txBody>
          <a:bodyPr wrap="square" lIns="0" tIns="0" rIns="0" bIns="0" rtlCol="0" anchor="t"/>
          <a:lstStyle/>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Validate &amp; aggregate</a:t>
            </a:r>
            <a:endParaRPr lang="en-US" sz="1500" dirty="0"/>
          </a:p>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possessions</a:t>
            </a:r>
            <a:endParaRPr lang="en-US" sz="1500" dirty="0"/>
          </a:p>
        </p:txBody>
      </p:sp>
      <p:sp>
        <p:nvSpPr>
          <p:cNvPr id="11" name="Shape 9"/>
          <p:cNvSpPr/>
          <p:nvPr/>
        </p:nvSpPr>
        <p:spPr>
          <a:xfrm>
            <a:off x="4914900" y="2606040"/>
            <a:ext cx="292608" cy="182880"/>
          </a:xfrm>
          <a:prstGeom prst="rightArrow">
            <a:avLst/>
          </a:prstGeom>
          <a:solidFill>
            <a:srgbClr val="C9C9D0"/>
          </a:solidFill>
          <a:ln w="12700">
            <a:solidFill>
              <a:srgbClr val="333333"/>
            </a:solidFill>
            <a:prstDash val="solid"/>
          </a:ln>
        </p:spPr>
      </p:sp>
      <p:sp>
        <p:nvSpPr>
          <p:cNvPr id="12" name="Shape 10"/>
          <p:cNvSpPr/>
          <p:nvPr/>
        </p:nvSpPr>
        <p:spPr>
          <a:xfrm>
            <a:off x="5111496" y="2103120"/>
            <a:ext cx="1965960" cy="1170432"/>
          </a:xfrm>
          <a:prstGeom prst="roundRect">
            <a:avLst>
              <a:gd name="adj" fmla="val 4688"/>
            </a:avLst>
          </a:prstGeom>
          <a:solidFill>
            <a:srgbClr val="E1EDE8"/>
          </a:solidFill>
          <a:ln w="9525">
            <a:solidFill>
              <a:srgbClr val="E1EDE8"/>
            </a:solidFill>
            <a:prstDash val="solid"/>
          </a:ln>
        </p:spPr>
      </p:sp>
      <p:sp>
        <p:nvSpPr>
          <p:cNvPr id="13" name="Text 11"/>
          <p:cNvSpPr/>
          <p:nvPr/>
        </p:nvSpPr>
        <p:spPr>
          <a:xfrm>
            <a:off x="5276088" y="2231136"/>
            <a:ext cx="548640" cy="237744"/>
          </a:xfrm>
          <a:prstGeom prst="rect">
            <a:avLst/>
          </a:prstGeom>
          <a:noFill/>
          <a:ln/>
        </p:spPr>
        <p:txBody>
          <a:bodyPr wrap="square" lIns="0" tIns="0" rIns="0" bIns="0" rtlCol="0" anchor="t"/>
          <a:lstStyle/>
          <a:p>
            <a:pPr indent="0" marL="0">
              <a:buNone/>
            </a:pPr>
            <a:r>
              <a:rPr lang="en-US" sz="1200" b="1" dirty="0">
                <a:solidFill>
                  <a:srgbClr val="24775B"/>
                </a:solidFill>
                <a:latin typeface="Calibri" pitchFamily="34" charset="0"/>
                <a:ea typeface="Calibri" pitchFamily="34" charset="-122"/>
                <a:cs typeface="Calibri" pitchFamily="34" charset="-120"/>
              </a:rPr>
              <a:t>03</a:t>
            </a:r>
            <a:endParaRPr lang="en-US" sz="1200" dirty="0"/>
          </a:p>
        </p:txBody>
      </p:sp>
      <p:sp>
        <p:nvSpPr>
          <p:cNvPr id="14" name="Text 12"/>
          <p:cNvSpPr/>
          <p:nvPr/>
        </p:nvSpPr>
        <p:spPr>
          <a:xfrm>
            <a:off x="5276088" y="2514600"/>
            <a:ext cx="1636776" cy="685800"/>
          </a:xfrm>
          <a:prstGeom prst="rect">
            <a:avLst/>
          </a:prstGeom>
          <a:noFill/>
          <a:ln/>
        </p:spPr>
        <p:txBody>
          <a:bodyPr wrap="square" lIns="0" tIns="0" rIns="0" bIns="0" rtlCol="0" anchor="t"/>
          <a:lstStyle/>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Engineer attacking</a:t>
            </a:r>
            <a:endParaRPr lang="en-US" sz="1500" dirty="0"/>
          </a:p>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features</a:t>
            </a:r>
            <a:endParaRPr lang="en-US" sz="1500" dirty="0"/>
          </a:p>
        </p:txBody>
      </p:sp>
      <p:sp>
        <p:nvSpPr>
          <p:cNvPr id="15" name="Shape 13"/>
          <p:cNvSpPr/>
          <p:nvPr/>
        </p:nvSpPr>
        <p:spPr>
          <a:xfrm>
            <a:off x="7127748" y="2606040"/>
            <a:ext cx="292608" cy="182880"/>
          </a:xfrm>
          <a:prstGeom prst="rightArrow">
            <a:avLst/>
          </a:prstGeom>
          <a:solidFill>
            <a:srgbClr val="C9C9D0"/>
          </a:solidFill>
          <a:ln w="12700">
            <a:solidFill>
              <a:srgbClr val="333333"/>
            </a:solidFill>
            <a:prstDash val="solid"/>
          </a:ln>
        </p:spPr>
      </p:sp>
      <p:sp>
        <p:nvSpPr>
          <p:cNvPr id="16" name="Shape 14"/>
          <p:cNvSpPr/>
          <p:nvPr/>
        </p:nvSpPr>
        <p:spPr>
          <a:xfrm>
            <a:off x="7324344" y="2103120"/>
            <a:ext cx="1965960" cy="1170432"/>
          </a:xfrm>
          <a:prstGeom prst="roundRect">
            <a:avLst>
              <a:gd name="adj" fmla="val 4688"/>
            </a:avLst>
          </a:prstGeom>
          <a:solidFill>
            <a:srgbClr val="E3EAFD"/>
          </a:solidFill>
          <a:ln w="9525">
            <a:solidFill>
              <a:srgbClr val="E3EAFD"/>
            </a:solidFill>
            <a:prstDash val="solid"/>
          </a:ln>
        </p:spPr>
      </p:sp>
      <p:sp>
        <p:nvSpPr>
          <p:cNvPr id="17" name="Text 15"/>
          <p:cNvSpPr/>
          <p:nvPr/>
        </p:nvSpPr>
        <p:spPr>
          <a:xfrm>
            <a:off x="7488936" y="2231136"/>
            <a:ext cx="548640" cy="237744"/>
          </a:xfrm>
          <a:prstGeom prst="rect">
            <a:avLst/>
          </a:prstGeom>
          <a:noFill/>
          <a:ln/>
        </p:spPr>
        <p:txBody>
          <a:bodyPr wrap="square" lIns="0" tIns="0" rIns="0" bIns="0" rtlCol="0" anchor="t"/>
          <a:lstStyle/>
          <a:p>
            <a:pPr indent="0" marL="0">
              <a:buNone/>
            </a:pPr>
            <a:r>
              <a:rPr lang="en-US" sz="1200" b="1" dirty="0">
                <a:solidFill>
                  <a:srgbClr val="3568F0"/>
                </a:solidFill>
                <a:latin typeface="Calibri" pitchFamily="34" charset="0"/>
                <a:ea typeface="Calibri" pitchFamily="34" charset="-122"/>
                <a:cs typeface="Calibri" pitchFamily="34" charset="-120"/>
              </a:rPr>
              <a:t>04</a:t>
            </a:r>
            <a:endParaRPr lang="en-US" sz="1200" dirty="0"/>
          </a:p>
        </p:txBody>
      </p:sp>
      <p:sp>
        <p:nvSpPr>
          <p:cNvPr id="18" name="Text 16"/>
          <p:cNvSpPr/>
          <p:nvPr/>
        </p:nvSpPr>
        <p:spPr>
          <a:xfrm>
            <a:off x="7488936" y="2514600"/>
            <a:ext cx="1636776" cy="685800"/>
          </a:xfrm>
          <a:prstGeom prst="rect">
            <a:avLst/>
          </a:prstGeom>
          <a:noFill/>
          <a:ln/>
        </p:spPr>
        <p:txBody>
          <a:bodyPr wrap="square" lIns="0" tIns="0" rIns="0" bIns="0" rtlCol="0" anchor="t"/>
          <a:lstStyle/>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Discover attacking</a:t>
            </a:r>
            <a:endParaRPr lang="en-US" sz="1500" dirty="0"/>
          </a:p>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clusters</a:t>
            </a:r>
            <a:endParaRPr lang="en-US" sz="1500" dirty="0"/>
          </a:p>
        </p:txBody>
      </p:sp>
      <p:sp>
        <p:nvSpPr>
          <p:cNvPr id="19" name="Shape 17"/>
          <p:cNvSpPr/>
          <p:nvPr/>
        </p:nvSpPr>
        <p:spPr>
          <a:xfrm>
            <a:off x="9340596" y="2606040"/>
            <a:ext cx="292608" cy="182880"/>
          </a:xfrm>
          <a:prstGeom prst="rightArrow">
            <a:avLst/>
          </a:prstGeom>
          <a:solidFill>
            <a:srgbClr val="C9C9D0"/>
          </a:solidFill>
          <a:ln w="12700">
            <a:solidFill>
              <a:srgbClr val="333333"/>
            </a:solidFill>
            <a:prstDash val="solid"/>
          </a:ln>
        </p:spPr>
      </p:sp>
      <p:sp>
        <p:nvSpPr>
          <p:cNvPr id="20" name="Shape 18"/>
          <p:cNvSpPr/>
          <p:nvPr/>
        </p:nvSpPr>
        <p:spPr>
          <a:xfrm>
            <a:off x="9537192" y="2103120"/>
            <a:ext cx="1965960" cy="1170432"/>
          </a:xfrm>
          <a:prstGeom prst="roundRect">
            <a:avLst>
              <a:gd name="adj" fmla="val 4688"/>
            </a:avLst>
          </a:prstGeom>
          <a:solidFill>
            <a:srgbClr val="E1EDE8"/>
          </a:solidFill>
          <a:ln w="9525">
            <a:solidFill>
              <a:srgbClr val="E1EDE8"/>
            </a:solidFill>
            <a:prstDash val="solid"/>
          </a:ln>
        </p:spPr>
      </p:sp>
      <p:sp>
        <p:nvSpPr>
          <p:cNvPr id="21" name="Text 19"/>
          <p:cNvSpPr/>
          <p:nvPr/>
        </p:nvSpPr>
        <p:spPr>
          <a:xfrm>
            <a:off x="9701784" y="2231136"/>
            <a:ext cx="548640" cy="237744"/>
          </a:xfrm>
          <a:prstGeom prst="rect">
            <a:avLst/>
          </a:prstGeom>
          <a:noFill/>
          <a:ln/>
        </p:spPr>
        <p:txBody>
          <a:bodyPr wrap="square" lIns="0" tIns="0" rIns="0" bIns="0" rtlCol="0" anchor="t"/>
          <a:lstStyle/>
          <a:p>
            <a:pPr indent="0" marL="0">
              <a:buNone/>
            </a:pPr>
            <a:r>
              <a:rPr lang="en-US" sz="1200" b="1" dirty="0">
                <a:solidFill>
                  <a:srgbClr val="24775B"/>
                </a:solidFill>
                <a:latin typeface="Calibri" pitchFamily="34" charset="0"/>
                <a:ea typeface="Calibri" pitchFamily="34" charset="-122"/>
                <a:cs typeface="Calibri" pitchFamily="34" charset="-120"/>
              </a:rPr>
              <a:t>05</a:t>
            </a:r>
            <a:endParaRPr lang="en-US" sz="1200" dirty="0"/>
          </a:p>
        </p:txBody>
      </p:sp>
      <p:sp>
        <p:nvSpPr>
          <p:cNvPr id="22" name="Text 20"/>
          <p:cNvSpPr/>
          <p:nvPr/>
        </p:nvSpPr>
        <p:spPr>
          <a:xfrm>
            <a:off x="9701784" y="2514600"/>
            <a:ext cx="1636776" cy="685800"/>
          </a:xfrm>
          <a:prstGeom prst="rect">
            <a:avLst/>
          </a:prstGeom>
          <a:noFill/>
          <a:ln/>
        </p:spPr>
        <p:txBody>
          <a:bodyPr wrap="square" lIns="0" tIns="0" rIns="0" bIns="0" rtlCol="0" anchor="t"/>
          <a:lstStyle/>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Cache 360 &amp;</a:t>
            </a:r>
            <a:endParaRPr lang="en-US" sz="1500" dirty="0"/>
          </a:p>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derive shape</a:t>
            </a:r>
            <a:endParaRPr lang="en-US" sz="1500" dirty="0"/>
          </a:p>
        </p:txBody>
      </p:sp>
      <p:sp>
        <p:nvSpPr>
          <p:cNvPr id="23" name="Shape 21"/>
          <p:cNvSpPr/>
          <p:nvPr/>
        </p:nvSpPr>
        <p:spPr>
          <a:xfrm>
            <a:off x="685800" y="3886200"/>
            <a:ext cx="1965960" cy="1170432"/>
          </a:xfrm>
          <a:prstGeom prst="roundRect">
            <a:avLst>
              <a:gd name="adj" fmla="val 4688"/>
            </a:avLst>
          </a:prstGeom>
          <a:solidFill>
            <a:srgbClr val="E3EAFD"/>
          </a:solidFill>
          <a:ln w="9525">
            <a:solidFill>
              <a:srgbClr val="E3EAFD"/>
            </a:solidFill>
            <a:prstDash val="solid"/>
          </a:ln>
        </p:spPr>
      </p:sp>
      <p:sp>
        <p:nvSpPr>
          <p:cNvPr id="24" name="Text 22"/>
          <p:cNvSpPr/>
          <p:nvPr/>
        </p:nvSpPr>
        <p:spPr>
          <a:xfrm>
            <a:off x="850392" y="4014216"/>
            <a:ext cx="548640" cy="237744"/>
          </a:xfrm>
          <a:prstGeom prst="rect">
            <a:avLst/>
          </a:prstGeom>
          <a:noFill/>
          <a:ln/>
        </p:spPr>
        <p:txBody>
          <a:bodyPr wrap="square" lIns="0" tIns="0" rIns="0" bIns="0" rtlCol="0" anchor="t"/>
          <a:lstStyle/>
          <a:p>
            <a:pPr indent="0" marL="0">
              <a:buNone/>
            </a:pPr>
            <a:r>
              <a:rPr lang="en-US" sz="1200" b="1" dirty="0">
                <a:solidFill>
                  <a:srgbClr val="3568F0"/>
                </a:solidFill>
                <a:latin typeface="Calibri" pitchFamily="34" charset="0"/>
                <a:ea typeface="Calibri" pitchFamily="34" charset="-122"/>
                <a:cs typeface="Calibri" pitchFamily="34" charset="-120"/>
              </a:rPr>
              <a:t>06</a:t>
            </a:r>
            <a:endParaRPr lang="en-US" sz="1200" dirty="0"/>
          </a:p>
        </p:txBody>
      </p:sp>
      <p:sp>
        <p:nvSpPr>
          <p:cNvPr id="25" name="Text 23"/>
          <p:cNvSpPr/>
          <p:nvPr/>
        </p:nvSpPr>
        <p:spPr>
          <a:xfrm>
            <a:off x="850392" y="4297680"/>
            <a:ext cx="1636776" cy="685800"/>
          </a:xfrm>
          <a:prstGeom prst="rect">
            <a:avLst/>
          </a:prstGeom>
          <a:noFill/>
          <a:ln/>
        </p:spPr>
        <p:txBody>
          <a:bodyPr wrap="square" lIns="0" tIns="0" rIns="0" bIns="0" rtlCol="0" anchor="t"/>
          <a:lstStyle/>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Defensive clusters</a:t>
            </a:r>
            <a:endParaRPr lang="en-US" sz="1500" dirty="0"/>
          </a:p>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&amp; matchup cells</a:t>
            </a:r>
            <a:endParaRPr lang="en-US" sz="1500" dirty="0"/>
          </a:p>
        </p:txBody>
      </p:sp>
      <p:sp>
        <p:nvSpPr>
          <p:cNvPr id="26" name="Shape 24"/>
          <p:cNvSpPr/>
          <p:nvPr/>
        </p:nvSpPr>
        <p:spPr>
          <a:xfrm>
            <a:off x="2702052" y="4389120"/>
            <a:ext cx="292608" cy="182880"/>
          </a:xfrm>
          <a:prstGeom prst="rightArrow">
            <a:avLst/>
          </a:prstGeom>
          <a:solidFill>
            <a:srgbClr val="C9C9D0"/>
          </a:solidFill>
          <a:ln w="12700">
            <a:solidFill>
              <a:srgbClr val="333333"/>
            </a:solidFill>
            <a:prstDash val="solid"/>
          </a:ln>
        </p:spPr>
      </p:sp>
      <p:sp>
        <p:nvSpPr>
          <p:cNvPr id="27" name="Shape 25"/>
          <p:cNvSpPr/>
          <p:nvPr/>
        </p:nvSpPr>
        <p:spPr>
          <a:xfrm>
            <a:off x="2898648" y="3886200"/>
            <a:ext cx="1965960" cy="1170432"/>
          </a:xfrm>
          <a:prstGeom prst="roundRect">
            <a:avLst>
              <a:gd name="adj" fmla="val 4688"/>
            </a:avLst>
          </a:prstGeom>
          <a:solidFill>
            <a:srgbClr val="E3EAFD"/>
          </a:solidFill>
          <a:ln w="9525">
            <a:solidFill>
              <a:srgbClr val="E3EAFD"/>
            </a:solidFill>
            <a:prstDash val="solid"/>
          </a:ln>
        </p:spPr>
      </p:sp>
      <p:sp>
        <p:nvSpPr>
          <p:cNvPr id="28" name="Text 26"/>
          <p:cNvSpPr/>
          <p:nvPr/>
        </p:nvSpPr>
        <p:spPr>
          <a:xfrm>
            <a:off x="3063240" y="4014216"/>
            <a:ext cx="548640" cy="237744"/>
          </a:xfrm>
          <a:prstGeom prst="rect">
            <a:avLst/>
          </a:prstGeom>
          <a:noFill/>
          <a:ln/>
        </p:spPr>
        <p:txBody>
          <a:bodyPr wrap="square" lIns="0" tIns="0" rIns="0" bIns="0" rtlCol="0" anchor="t"/>
          <a:lstStyle/>
          <a:p>
            <a:pPr indent="0" marL="0">
              <a:buNone/>
            </a:pPr>
            <a:r>
              <a:rPr lang="en-US" sz="1200" b="1" dirty="0">
                <a:solidFill>
                  <a:srgbClr val="3568F0"/>
                </a:solidFill>
                <a:latin typeface="Calibri" pitchFamily="34" charset="0"/>
                <a:ea typeface="Calibri" pitchFamily="34" charset="-122"/>
                <a:cs typeface="Calibri" pitchFamily="34" charset="-120"/>
              </a:rPr>
              <a:t>07</a:t>
            </a:r>
            <a:endParaRPr lang="en-US" sz="1200" dirty="0"/>
          </a:p>
        </p:txBody>
      </p:sp>
      <p:sp>
        <p:nvSpPr>
          <p:cNvPr id="29" name="Text 27"/>
          <p:cNvSpPr/>
          <p:nvPr/>
        </p:nvSpPr>
        <p:spPr>
          <a:xfrm>
            <a:off x="3063240" y="4297680"/>
            <a:ext cx="1636776" cy="685800"/>
          </a:xfrm>
          <a:prstGeom prst="rect">
            <a:avLst/>
          </a:prstGeom>
          <a:noFill/>
          <a:ln/>
        </p:spPr>
        <p:txBody>
          <a:bodyPr wrap="square" lIns="0" tIns="0" rIns="0" bIns="0" rtlCol="0" anchor="t"/>
          <a:lstStyle/>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Build lineup &amp;</a:t>
            </a:r>
            <a:endParaRPr lang="en-US" sz="1500" dirty="0"/>
          </a:p>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player history</a:t>
            </a:r>
            <a:endParaRPr lang="en-US" sz="1500" dirty="0"/>
          </a:p>
        </p:txBody>
      </p:sp>
      <p:sp>
        <p:nvSpPr>
          <p:cNvPr id="30" name="Shape 28"/>
          <p:cNvSpPr/>
          <p:nvPr/>
        </p:nvSpPr>
        <p:spPr>
          <a:xfrm>
            <a:off x="4914900" y="4389120"/>
            <a:ext cx="292608" cy="182880"/>
          </a:xfrm>
          <a:prstGeom prst="rightArrow">
            <a:avLst/>
          </a:prstGeom>
          <a:solidFill>
            <a:srgbClr val="C9C9D0"/>
          </a:solidFill>
          <a:ln w="12700">
            <a:solidFill>
              <a:srgbClr val="333333"/>
            </a:solidFill>
            <a:prstDash val="solid"/>
          </a:ln>
        </p:spPr>
      </p:sp>
      <p:sp>
        <p:nvSpPr>
          <p:cNvPr id="31" name="Shape 29"/>
          <p:cNvSpPr/>
          <p:nvPr/>
        </p:nvSpPr>
        <p:spPr>
          <a:xfrm>
            <a:off x="5111496" y="3886200"/>
            <a:ext cx="1965960" cy="1170432"/>
          </a:xfrm>
          <a:prstGeom prst="roundRect">
            <a:avLst>
              <a:gd name="adj" fmla="val 4688"/>
            </a:avLst>
          </a:prstGeom>
          <a:solidFill>
            <a:srgbClr val="F3EDE0"/>
          </a:solidFill>
          <a:ln w="9525">
            <a:solidFill>
              <a:srgbClr val="F3EDE0"/>
            </a:solidFill>
            <a:prstDash val="solid"/>
          </a:ln>
        </p:spPr>
      </p:sp>
      <p:sp>
        <p:nvSpPr>
          <p:cNvPr id="32" name="Text 30"/>
          <p:cNvSpPr/>
          <p:nvPr/>
        </p:nvSpPr>
        <p:spPr>
          <a:xfrm>
            <a:off x="5276088" y="4014216"/>
            <a:ext cx="548640" cy="237744"/>
          </a:xfrm>
          <a:prstGeom prst="rect">
            <a:avLst/>
          </a:prstGeom>
          <a:noFill/>
          <a:ln/>
        </p:spPr>
        <p:txBody>
          <a:bodyPr wrap="square" lIns="0" tIns="0" rIns="0" bIns="0" rtlCol="0" anchor="t"/>
          <a:lstStyle/>
          <a:p>
            <a:pPr indent="0" marL="0">
              <a:buNone/>
            </a:pPr>
            <a:r>
              <a:rPr lang="en-US" sz="1200" b="1" dirty="0">
                <a:solidFill>
                  <a:srgbClr val="A9741A"/>
                </a:solidFill>
                <a:latin typeface="Calibri" pitchFamily="34" charset="0"/>
                <a:ea typeface="Calibri" pitchFamily="34" charset="-122"/>
                <a:cs typeface="Calibri" pitchFamily="34" charset="-120"/>
              </a:rPr>
              <a:t>08</a:t>
            </a:r>
            <a:endParaRPr lang="en-US" sz="1200" dirty="0"/>
          </a:p>
        </p:txBody>
      </p:sp>
      <p:sp>
        <p:nvSpPr>
          <p:cNvPr id="33" name="Text 31"/>
          <p:cNvSpPr/>
          <p:nvPr/>
        </p:nvSpPr>
        <p:spPr>
          <a:xfrm>
            <a:off x="5276088" y="4297680"/>
            <a:ext cx="1636776" cy="685800"/>
          </a:xfrm>
          <a:prstGeom prst="rect">
            <a:avLst/>
          </a:prstGeom>
          <a:noFill/>
          <a:ln/>
        </p:spPr>
        <p:txBody>
          <a:bodyPr wrap="square" lIns="0" tIns="0" rIns="0" bIns="0" rtlCol="0" anchor="t"/>
          <a:lstStyle/>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Benchmark retrospective</a:t>
            </a:r>
            <a:endParaRPr lang="en-US" sz="1500" dirty="0"/>
          </a:p>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models</a:t>
            </a:r>
            <a:endParaRPr lang="en-US" sz="1500" dirty="0"/>
          </a:p>
        </p:txBody>
      </p:sp>
      <p:sp>
        <p:nvSpPr>
          <p:cNvPr id="34" name="Shape 32"/>
          <p:cNvSpPr/>
          <p:nvPr/>
        </p:nvSpPr>
        <p:spPr>
          <a:xfrm>
            <a:off x="7127748" y="4389120"/>
            <a:ext cx="292608" cy="182880"/>
          </a:xfrm>
          <a:prstGeom prst="rightArrow">
            <a:avLst/>
          </a:prstGeom>
          <a:solidFill>
            <a:srgbClr val="C9C9D0"/>
          </a:solidFill>
          <a:ln w="12700">
            <a:solidFill>
              <a:srgbClr val="333333"/>
            </a:solidFill>
            <a:prstDash val="solid"/>
          </a:ln>
        </p:spPr>
      </p:sp>
      <p:sp>
        <p:nvSpPr>
          <p:cNvPr id="35" name="Shape 33"/>
          <p:cNvSpPr/>
          <p:nvPr/>
        </p:nvSpPr>
        <p:spPr>
          <a:xfrm>
            <a:off x="7324344" y="3886200"/>
            <a:ext cx="1965960" cy="1170432"/>
          </a:xfrm>
          <a:prstGeom prst="roundRect">
            <a:avLst>
              <a:gd name="adj" fmla="val 4688"/>
            </a:avLst>
          </a:prstGeom>
          <a:solidFill>
            <a:srgbClr val="F3EDE0"/>
          </a:solidFill>
          <a:ln w="9525">
            <a:solidFill>
              <a:srgbClr val="F3EDE0"/>
            </a:solidFill>
            <a:prstDash val="solid"/>
          </a:ln>
        </p:spPr>
      </p:sp>
      <p:sp>
        <p:nvSpPr>
          <p:cNvPr id="36" name="Text 34"/>
          <p:cNvSpPr/>
          <p:nvPr/>
        </p:nvSpPr>
        <p:spPr>
          <a:xfrm>
            <a:off x="7488936" y="4014216"/>
            <a:ext cx="548640" cy="237744"/>
          </a:xfrm>
          <a:prstGeom prst="rect">
            <a:avLst/>
          </a:prstGeom>
          <a:noFill/>
          <a:ln/>
        </p:spPr>
        <p:txBody>
          <a:bodyPr wrap="square" lIns="0" tIns="0" rIns="0" bIns="0" rtlCol="0" anchor="t"/>
          <a:lstStyle/>
          <a:p>
            <a:pPr indent="0" marL="0">
              <a:buNone/>
            </a:pPr>
            <a:r>
              <a:rPr lang="en-US" sz="1200" b="1" dirty="0">
                <a:solidFill>
                  <a:srgbClr val="A9741A"/>
                </a:solidFill>
                <a:latin typeface="Calibri" pitchFamily="34" charset="0"/>
                <a:ea typeface="Calibri" pitchFamily="34" charset="-122"/>
                <a:cs typeface="Calibri" pitchFamily="34" charset="-120"/>
              </a:rPr>
              <a:t>09</a:t>
            </a:r>
            <a:endParaRPr lang="en-US" sz="1200" dirty="0"/>
          </a:p>
        </p:txBody>
      </p:sp>
      <p:sp>
        <p:nvSpPr>
          <p:cNvPr id="37" name="Text 35"/>
          <p:cNvSpPr/>
          <p:nvPr/>
        </p:nvSpPr>
        <p:spPr>
          <a:xfrm>
            <a:off x="7488936" y="4297680"/>
            <a:ext cx="1636776" cy="685800"/>
          </a:xfrm>
          <a:prstGeom prst="rect">
            <a:avLst/>
          </a:prstGeom>
          <a:noFill/>
          <a:ln/>
        </p:spPr>
        <p:txBody>
          <a:bodyPr wrap="square" lIns="0" tIns="0" rIns="0" bIns="0" rtlCol="0" anchor="t"/>
          <a:lstStyle/>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Pre-decision &amp;</a:t>
            </a:r>
            <a:endParaRPr lang="en-US" sz="1500" dirty="0"/>
          </a:p>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transition models</a:t>
            </a:r>
            <a:endParaRPr lang="en-US" sz="1500" dirty="0"/>
          </a:p>
        </p:txBody>
      </p:sp>
      <p:sp>
        <p:nvSpPr>
          <p:cNvPr id="38" name="Shape 36"/>
          <p:cNvSpPr/>
          <p:nvPr/>
        </p:nvSpPr>
        <p:spPr>
          <a:xfrm>
            <a:off x="9340596" y="4389120"/>
            <a:ext cx="292608" cy="182880"/>
          </a:xfrm>
          <a:prstGeom prst="rightArrow">
            <a:avLst/>
          </a:prstGeom>
          <a:solidFill>
            <a:srgbClr val="C9C9D0"/>
          </a:solidFill>
          <a:ln w="12700">
            <a:solidFill>
              <a:srgbClr val="333333"/>
            </a:solidFill>
            <a:prstDash val="solid"/>
          </a:ln>
        </p:spPr>
      </p:sp>
      <p:sp>
        <p:nvSpPr>
          <p:cNvPr id="39" name="Shape 37"/>
          <p:cNvSpPr/>
          <p:nvPr/>
        </p:nvSpPr>
        <p:spPr>
          <a:xfrm>
            <a:off x="9537192" y="3886200"/>
            <a:ext cx="1965960" cy="1170432"/>
          </a:xfrm>
          <a:prstGeom prst="roundRect">
            <a:avLst>
              <a:gd name="adj" fmla="val 4688"/>
            </a:avLst>
          </a:prstGeom>
          <a:solidFill>
            <a:srgbClr val="F9E7E8"/>
          </a:solidFill>
          <a:ln w="12700">
            <a:solidFill>
              <a:srgbClr val="D44B52"/>
            </a:solidFill>
            <a:prstDash val="solid"/>
          </a:ln>
        </p:spPr>
      </p:sp>
      <p:sp>
        <p:nvSpPr>
          <p:cNvPr id="40" name="Text 38"/>
          <p:cNvSpPr/>
          <p:nvPr/>
        </p:nvSpPr>
        <p:spPr>
          <a:xfrm>
            <a:off x="9701784" y="4014216"/>
            <a:ext cx="548640" cy="237744"/>
          </a:xfrm>
          <a:prstGeom prst="rect">
            <a:avLst/>
          </a:prstGeom>
          <a:noFill/>
          <a:ln/>
        </p:spPr>
        <p:txBody>
          <a:bodyPr wrap="square" lIns="0" tIns="0" rIns="0" bIns="0" rtlCol="0" anchor="t"/>
          <a:lstStyle/>
          <a:p>
            <a:pPr indent="0" marL="0">
              <a:buNone/>
            </a:pPr>
            <a:r>
              <a:rPr lang="en-US" sz="1200" b="1" dirty="0">
                <a:solidFill>
                  <a:srgbClr val="D44B52"/>
                </a:solidFill>
                <a:latin typeface="Calibri" pitchFamily="34" charset="0"/>
                <a:ea typeface="Calibri" pitchFamily="34" charset="-122"/>
                <a:cs typeface="Calibri" pitchFamily="34" charset="-120"/>
              </a:rPr>
              <a:t>10</a:t>
            </a:r>
            <a:endParaRPr lang="en-US" sz="1200" dirty="0"/>
          </a:p>
        </p:txBody>
      </p:sp>
      <p:sp>
        <p:nvSpPr>
          <p:cNvPr id="41" name="Text 39"/>
          <p:cNvSpPr/>
          <p:nvPr/>
        </p:nvSpPr>
        <p:spPr>
          <a:xfrm>
            <a:off x="9701784" y="4297680"/>
            <a:ext cx="1636776" cy="685800"/>
          </a:xfrm>
          <a:prstGeom prst="rect">
            <a:avLst/>
          </a:prstGeom>
          <a:noFill/>
          <a:ln/>
        </p:spPr>
        <p:txBody>
          <a:bodyPr wrap="square" lIns="0" tIns="0" rIns="0" bIns="0" rtlCol="0" anchor="t"/>
          <a:lstStyle/>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Simulation &amp;</a:t>
            </a:r>
            <a:endParaRPr lang="en-US" sz="1500" dirty="0"/>
          </a:p>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report generation</a:t>
            </a:r>
            <a:endParaRPr lang="en-US" sz="1500" dirty="0"/>
          </a:p>
        </p:txBody>
      </p:sp>
      <p:sp>
        <p:nvSpPr>
          <p:cNvPr id="42" name="Shape 40"/>
          <p:cNvSpPr/>
          <p:nvPr/>
        </p:nvSpPr>
        <p:spPr>
          <a:xfrm>
            <a:off x="10520172" y="3273552"/>
            <a:ext cx="0" cy="310896"/>
          </a:xfrm>
          <a:prstGeom prst="line">
            <a:avLst/>
          </a:prstGeom>
          <a:noFill/>
          <a:ln w="15875">
            <a:solidFill>
              <a:srgbClr val="C9C9D0"/>
            </a:solidFill>
            <a:prstDash val="solid"/>
          </a:ln>
        </p:spPr>
      </p:sp>
      <p:sp>
        <p:nvSpPr>
          <p:cNvPr id="43" name="Shape 41"/>
          <p:cNvSpPr/>
          <p:nvPr/>
        </p:nvSpPr>
        <p:spPr>
          <a:xfrm>
            <a:off x="1668780" y="3584448"/>
            <a:ext cx="8851392" cy="0"/>
          </a:xfrm>
          <a:prstGeom prst="line">
            <a:avLst/>
          </a:prstGeom>
          <a:noFill/>
          <a:ln w="15875">
            <a:solidFill>
              <a:srgbClr val="C9C9D0"/>
            </a:solidFill>
            <a:prstDash val="solid"/>
          </a:ln>
        </p:spPr>
      </p:sp>
      <p:sp>
        <p:nvSpPr>
          <p:cNvPr id="44" name="Shape 42"/>
          <p:cNvSpPr/>
          <p:nvPr/>
        </p:nvSpPr>
        <p:spPr>
          <a:xfrm>
            <a:off x="1668780" y="3584448"/>
            <a:ext cx="0" cy="301752"/>
          </a:xfrm>
          <a:prstGeom prst="line">
            <a:avLst/>
          </a:prstGeom>
          <a:noFill/>
          <a:ln w="15875">
            <a:solidFill>
              <a:srgbClr val="C9C9D0"/>
            </a:solidFill>
            <a:prstDash val="solid"/>
          </a:ln>
        </p:spPr>
      </p:sp>
      <p:sp>
        <p:nvSpPr>
          <p:cNvPr id="45" name="Shape 43"/>
          <p:cNvSpPr/>
          <p:nvPr/>
        </p:nvSpPr>
        <p:spPr>
          <a:xfrm>
            <a:off x="685800" y="5870448"/>
            <a:ext cx="182880" cy="182880"/>
          </a:xfrm>
          <a:prstGeom prst="rect">
            <a:avLst/>
          </a:prstGeom>
          <a:solidFill>
            <a:srgbClr val="24775B"/>
          </a:solidFill>
          <a:ln w="12700">
            <a:solidFill>
              <a:srgbClr val="333333"/>
            </a:solidFill>
            <a:prstDash val="solid"/>
          </a:ln>
        </p:spPr>
      </p:sp>
      <p:sp>
        <p:nvSpPr>
          <p:cNvPr id="46" name="Text 44"/>
          <p:cNvSpPr/>
          <p:nvPr/>
        </p:nvSpPr>
        <p:spPr>
          <a:xfrm>
            <a:off x="978408" y="5833872"/>
            <a:ext cx="2377440" cy="274320"/>
          </a:xfrm>
          <a:prstGeom prst="rect">
            <a:avLst/>
          </a:prstGeom>
          <a:noFill/>
          <a:ln/>
        </p:spPr>
        <p:txBody>
          <a:bodyPr wrap="square" lIns="0" tIns="0" rIns="0" bIns="0" rtlCol="0" anchor="t"/>
          <a:lstStyle/>
          <a:p>
            <a:pPr indent="0" marL="0">
              <a:buNone/>
            </a:pPr>
            <a:r>
              <a:rPr lang="en-US" sz="1400" dirty="0">
                <a:solidFill>
                  <a:srgbClr val="6E6E73"/>
                </a:solidFill>
                <a:latin typeface="Calibri" pitchFamily="34" charset="0"/>
                <a:ea typeface="Calibri" pitchFamily="34" charset="-122"/>
                <a:cs typeface="Calibri" pitchFamily="34" charset="-120"/>
              </a:rPr>
              <a:t>Validated data foundation</a:t>
            </a:r>
            <a:endParaRPr lang="en-US" sz="1400" dirty="0"/>
          </a:p>
        </p:txBody>
      </p:sp>
      <p:sp>
        <p:nvSpPr>
          <p:cNvPr id="47" name="Shape 45"/>
          <p:cNvSpPr/>
          <p:nvPr/>
        </p:nvSpPr>
        <p:spPr>
          <a:xfrm>
            <a:off x="3429000" y="5870448"/>
            <a:ext cx="182880" cy="182880"/>
          </a:xfrm>
          <a:prstGeom prst="rect">
            <a:avLst/>
          </a:prstGeom>
          <a:solidFill>
            <a:srgbClr val="3568F0"/>
          </a:solidFill>
          <a:ln w="12700">
            <a:solidFill>
              <a:srgbClr val="333333"/>
            </a:solidFill>
            <a:prstDash val="solid"/>
          </a:ln>
        </p:spPr>
      </p:sp>
      <p:sp>
        <p:nvSpPr>
          <p:cNvPr id="48" name="Text 46"/>
          <p:cNvSpPr/>
          <p:nvPr/>
        </p:nvSpPr>
        <p:spPr>
          <a:xfrm>
            <a:off x="3721608" y="5833872"/>
            <a:ext cx="2377440" cy="274320"/>
          </a:xfrm>
          <a:prstGeom prst="rect">
            <a:avLst/>
          </a:prstGeom>
          <a:noFill/>
          <a:ln/>
        </p:spPr>
        <p:txBody>
          <a:bodyPr wrap="square" lIns="0" tIns="0" rIns="0" bIns="0" rtlCol="0" anchor="t"/>
          <a:lstStyle/>
          <a:p>
            <a:pPr indent="0" marL="0">
              <a:buNone/>
            </a:pPr>
            <a:r>
              <a:rPr lang="en-US" sz="1400" dirty="0">
                <a:solidFill>
                  <a:srgbClr val="6E6E73"/>
                </a:solidFill>
                <a:latin typeface="Calibri" pitchFamily="34" charset="0"/>
                <a:ea typeface="Calibri" pitchFamily="34" charset="-122"/>
                <a:cs typeface="Calibri" pitchFamily="34" charset="-120"/>
              </a:rPr>
              <a:t>Current analytical snapshot</a:t>
            </a:r>
            <a:endParaRPr lang="en-US" sz="1400" dirty="0"/>
          </a:p>
        </p:txBody>
      </p:sp>
      <p:sp>
        <p:nvSpPr>
          <p:cNvPr id="49" name="Shape 47"/>
          <p:cNvSpPr/>
          <p:nvPr/>
        </p:nvSpPr>
        <p:spPr>
          <a:xfrm>
            <a:off x="6172200" y="5870448"/>
            <a:ext cx="182880" cy="182880"/>
          </a:xfrm>
          <a:prstGeom prst="rect">
            <a:avLst/>
          </a:prstGeom>
          <a:solidFill>
            <a:srgbClr val="A9741A"/>
          </a:solidFill>
          <a:ln w="12700">
            <a:solidFill>
              <a:srgbClr val="333333"/>
            </a:solidFill>
            <a:prstDash val="solid"/>
          </a:ln>
        </p:spPr>
      </p:sp>
      <p:sp>
        <p:nvSpPr>
          <p:cNvPr id="50" name="Text 48"/>
          <p:cNvSpPr/>
          <p:nvPr/>
        </p:nvSpPr>
        <p:spPr>
          <a:xfrm>
            <a:off x="6464808" y="5833872"/>
            <a:ext cx="2377440" cy="274320"/>
          </a:xfrm>
          <a:prstGeom prst="rect">
            <a:avLst/>
          </a:prstGeom>
          <a:noFill/>
          <a:ln/>
        </p:spPr>
        <p:txBody>
          <a:bodyPr wrap="square" lIns="0" tIns="0" rIns="0" bIns="0" rtlCol="0" anchor="t"/>
          <a:lstStyle/>
          <a:p>
            <a:pPr indent="0" marL="0">
              <a:buNone/>
            </a:pPr>
            <a:r>
              <a:rPr lang="en-US" sz="1400" dirty="0">
                <a:solidFill>
                  <a:srgbClr val="6E6E73"/>
                </a:solidFill>
                <a:latin typeface="Calibri" pitchFamily="34" charset="0"/>
                <a:ea typeface="Calibri" pitchFamily="34" charset="-122"/>
                <a:cs typeface="Calibri" pitchFamily="34" charset="-120"/>
              </a:rPr>
              <a:t>Provisional modeling</a:t>
            </a:r>
            <a:endParaRPr lang="en-US" sz="1400" dirty="0"/>
          </a:p>
        </p:txBody>
      </p:sp>
      <p:sp>
        <p:nvSpPr>
          <p:cNvPr id="51" name="Shape 49"/>
          <p:cNvSpPr/>
          <p:nvPr/>
        </p:nvSpPr>
        <p:spPr>
          <a:xfrm>
            <a:off x="8915400" y="5870448"/>
            <a:ext cx="182880" cy="182880"/>
          </a:xfrm>
          <a:prstGeom prst="rect">
            <a:avLst/>
          </a:prstGeom>
          <a:solidFill>
            <a:srgbClr val="D44B52"/>
          </a:solidFill>
          <a:ln w="12700">
            <a:solidFill>
              <a:srgbClr val="333333"/>
            </a:solidFill>
            <a:prstDash val="solid"/>
          </a:ln>
        </p:spPr>
      </p:sp>
      <p:sp>
        <p:nvSpPr>
          <p:cNvPr id="52" name="Text 50"/>
          <p:cNvSpPr/>
          <p:nvPr/>
        </p:nvSpPr>
        <p:spPr>
          <a:xfrm>
            <a:off x="9208008" y="5833872"/>
            <a:ext cx="2377440" cy="274320"/>
          </a:xfrm>
          <a:prstGeom prst="rect">
            <a:avLst/>
          </a:prstGeom>
          <a:noFill/>
          <a:ln/>
        </p:spPr>
        <p:txBody>
          <a:bodyPr wrap="square" lIns="0" tIns="0" rIns="0" bIns="0" rtlCol="0" anchor="t"/>
          <a:lstStyle/>
          <a:p>
            <a:pPr indent="0" marL="0">
              <a:buNone/>
            </a:pPr>
            <a:r>
              <a:rPr lang="en-US" sz="1400" dirty="0">
                <a:solidFill>
                  <a:srgbClr val="6E6E73"/>
                </a:solidFill>
                <a:latin typeface="Calibri" pitchFamily="34" charset="0"/>
                <a:ea typeface="Calibri" pitchFamily="34" charset="-122"/>
                <a:cs typeface="Calibri" pitchFamily="34" charset="-120"/>
              </a:rPr>
              <a:t>Experimental / unresolved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08 / 28 · STAGE 1</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Stage 1 engineers how an attack unfolds</a:t>
            </a:r>
            <a:endParaRPr lang="en-US" sz="3500" dirty="0"/>
          </a:p>
        </p:txBody>
      </p:sp>
      <p:sp>
        <p:nvSpPr>
          <p:cNvPr id="4" name="Text 2"/>
          <p:cNvSpPr/>
          <p:nvPr/>
        </p:nvSpPr>
        <p:spPr>
          <a:xfrm>
            <a:off x="685800" y="1874520"/>
            <a:ext cx="3703320" cy="274320"/>
          </a:xfrm>
          <a:prstGeom prst="rect">
            <a:avLst/>
          </a:prstGeom>
          <a:noFill/>
          <a:ln/>
        </p:spPr>
        <p:txBody>
          <a:bodyPr wrap="square" lIns="0" tIns="0" rIns="0" bIns="0" rtlCol="0" anchor="t"/>
          <a:lstStyle/>
          <a:p>
            <a:pPr indent="0" marL="0">
              <a:buNone/>
            </a:pPr>
            <a:r>
              <a:rPr lang="en-US" sz="1700" b="1" dirty="0">
                <a:solidFill>
                  <a:srgbClr val="161617"/>
                </a:solidFill>
                <a:latin typeface="Calibri" pitchFamily="34" charset="0"/>
                <a:ea typeface="Calibri" pitchFamily="34" charset="-122"/>
                <a:cs typeface="Calibri" pitchFamily="34" charset="-120"/>
              </a:rPr>
              <a:t>Timing and speed</a:t>
            </a:r>
            <a:endParaRPr lang="en-US" sz="1700" dirty="0"/>
          </a:p>
        </p:txBody>
      </p:sp>
      <p:sp>
        <p:nvSpPr>
          <p:cNvPr id="5" name="Text 3"/>
          <p:cNvSpPr/>
          <p:nvPr/>
        </p:nvSpPr>
        <p:spPr>
          <a:xfrm>
            <a:off x="685800" y="2176272"/>
            <a:ext cx="3703320" cy="603504"/>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Duration, time between actions</a:t>
            </a:r>
            <a:endParaRPr lang="en-US" sz="1500" dirty="0"/>
          </a:p>
        </p:txBody>
      </p:sp>
      <p:sp>
        <p:nvSpPr>
          <p:cNvPr id="6" name="Text 4"/>
          <p:cNvSpPr/>
          <p:nvPr/>
        </p:nvSpPr>
        <p:spPr>
          <a:xfrm>
            <a:off x="4663440" y="1874520"/>
            <a:ext cx="3703320" cy="274320"/>
          </a:xfrm>
          <a:prstGeom prst="rect">
            <a:avLst/>
          </a:prstGeom>
          <a:noFill/>
          <a:ln/>
        </p:spPr>
        <p:txBody>
          <a:bodyPr wrap="square" lIns="0" tIns="0" rIns="0" bIns="0" rtlCol="0" anchor="t"/>
          <a:lstStyle/>
          <a:p>
            <a:pPr indent="0" marL="0">
              <a:buNone/>
            </a:pPr>
            <a:r>
              <a:rPr lang="en-US" sz="1700" b="1" dirty="0">
                <a:solidFill>
                  <a:srgbClr val="161617"/>
                </a:solidFill>
                <a:latin typeface="Calibri" pitchFamily="34" charset="0"/>
                <a:ea typeface="Calibri" pitchFamily="34" charset="-122"/>
                <a:cs typeface="Calibri" pitchFamily="34" charset="-120"/>
              </a:rPr>
              <a:t>Passing</a:t>
            </a:r>
            <a:endParaRPr lang="en-US" sz="1700" dirty="0"/>
          </a:p>
        </p:txBody>
      </p:sp>
      <p:sp>
        <p:nvSpPr>
          <p:cNvPr id="7" name="Text 5"/>
          <p:cNvSpPr/>
          <p:nvPr/>
        </p:nvSpPr>
        <p:spPr>
          <a:xfrm>
            <a:off x="4663440" y="2176272"/>
            <a:ext cx="3703320" cy="603504"/>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Count, completion, length, long balls, switches, crosses, cutbacks</a:t>
            </a:r>
            <a:endParaRPr lang="en-US" sz="1500" dirty="0"/>
          </a:p>
        </p:txBody>
      </p:sp>
      <p:sp>
        <p:nvSpPr>
          <p:cNvPr id="8" name="Text 6"/>
          <p:cNvSpPr/>
          <p:nvPr/>
        </p:nvSpPr>
        <p:spPr>
          <a:xfrm>
            <a:off x="685800" y="2926080"/>
            <a:ext cx="3703320" cy="274320"/>
          </a:xfrm>
          <a:prstGeom prst="rect">
            <a:avLst/>
          </a:prstGeom>
          <a:noFill/>
          <a:ln/>
        </p:spPr>
        <p:txBody>
          <a:bodyPr wrap="square" lIns="0" tIns="0" rIns="0" bIns="0" rtlCol="0" anchor="t"/>
          <a:lstStyle/>
          <a:p>
            <a:pPr indent="0" marL="0">
              <a:buNone/>
            </a:pPr>
            <a:r>
              <a:rPr lang="en-US" sz="1700" b="1" dirty="0">
                <a:solidFill>
                  <a:srgbClr val="161617"/>
                </a:solidFill>
                <a:latin typeface="Calibri" pitchFamily="34" charset="0"/>
                <a:ea typeface="Calibri" pitchFamily="34" charset="-122"/>
                <a:cs typeface="Calibri" pitchFamily="34" charset="-120"/>
              </a:rPr>
              <a:t>Carrying and dribbling</a:t>
            </a:r>
            <a:endParaRPr lang="en-US" sz="1700" dirty="0"/>
          </a:p>
        </p:txBody>
      </p:sp>
      <p:sp>
        <p:nvSpPr>
          <p:cNvPr id="9" name="Text 7"/>
          <p:cNvSpPr/>
          <p:nvPr/>
        </p:nvSpPr>
        <p:spPr>
          <a:xfrm>
            <a:off x="685800" y="3227832"/>
            <a:ext cx="3703320" cy="603504"/>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Carries, progressive carries, carry distance</a:t>
            </a:r>
            <a:endParaRPr lang="en-US" sz="1500" dirty="0"/>
          </a:p>
        </p:txBody>
      </p:sp>
      <p:sp>
        <p:nvSpPr>
          <p:cNvPr id="10" name="Text 8"/>
          <p:cNvSpPr/>
          <p:nvPr/>
        </p:nvSpPr>
        <p:spPr>
          <a:xfrm>
            <a:off x="4663440" y="2926080"/>
            <a:ext cx="3703320" cy="274320"/>
          </a:xfrm>
          <a:prstGeom prst="rect">
            <a:avLst/>
          </a:prstGeom>
          <a:noFill/>
          <a:ln/>
        </p:spPr>
        <p:txBody>
          <a:bodyPr wrap="square" lIns="0" tIns="0" rIns="0" bIns="0" rtlCol="0" anchor="t"/>
          <a:lstStyle/>
          <a:p>
            <a:pPr indent="0" marL="0">
              <a:buNone/>
            </a:pPr>
            <a:r>
              <a:rPr lang="en-US" sz="1700" b="1" dirty="0">
                <a:solidFill>
                  <a:srgbClr val="161617"/>
                </a:solidFill>
                <a:latin typeface="Calibri" pitchFamily="34" charset="0"/>
                <a:ea typeface="Calibri" pitchFamily="34" charset="-122"/>
                <a:cs typeface="Calibri" pitchFamily="34" charset="-120"/>
              </a:rPr>
              <a:t>Progression</a:t>
            </a:r>
            <a:endParaRPr lang="en-US" sz="1700" dirty="0"/>
          </a:p>
        </p:txBody>
      </p:sp>
      <p:sp>
        <p:nvSpPr>
          <p:cNvPr id="11" name="Text 9"/>
          <p:cNvSpPr/>
          <p:nvPr/>
        </p:nvSpPr>
        <p:spPr>
          <a:xfrm>
            <a:off x="4663440" y="3227832"/>
            <a:ext cx="3703320" cy="603504"/>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Net progression, progression speed, final-third and box entries</a:t>
            </a:r>
            <a:endParaRPr lang="en-US" sz="1500" dirty="0"/>
          </a:p>
        </p:txBody>
      </p:sp>
      <p:sp>
        <p:nvSpPr>
          <p:cNvPr id="12" name="Text 10"/>
          <p:cNvSpPr/>
          <p:nvPr/>
        </p:nvSpPr>
        <p:spPr>
          <a:xfrm>
            <a:off x="685800" y="3977640"/>
            <a:ext cx="3703320" cy="274320"/>
          </a:xfrm>
          <a:prstGeom prst="rect">
            <a:avLst/>
          </a:prstGeom>
          <a:noFill/>
          <a:ln/>
        </p:spPr>
        <p:txBody>
          <a:bodyPr wrap="square" lIns="0" tIns="0" rIns="0" bIns="0" rtlCol="0" anchor="t"/>
          <a:lstStyle/>
          <a:p>
            <a:pPr indent="0" marL="0">
              <a:buNone/>
            </a:pPr>
            <a:r>
              <a:rPr lang="en-US" sz="1700" b="1" dirty="0">
                <a:solidFill>
                  <a:srgbClr val="161617"/>
                </a:solidFill>
                <a:latin typeface="Calibri" pitchFamily="34" charset="0"/>
                <a:ea typeface="Calibri" pitchFamily="34" charset="-122"/>
                <a:cs typeface="Calibri" pitchFamily="34" charset="-120"/>
              </a:rPr>
              <a:t>Width</a:t>
            </a:r>
            <a:endParaRPr lang="en-US" sz="1700" dirty="0"/>
          </a:p>
        </p:txBody>
      </p:sp>
      <p:sp>
        <p:nvSpPr>
          <p:cNvPr id="13" name="Text 11"/>
          <p:cNvSpPr/>
          <p:nvPr/>
        </p:nvSpPr>
        <p:spPr>
          <a:xfrm>
            <a:off x="685800" y="4279392"/>
            <a:ext cx="3703320" cy="603504"/>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Spatial width of the possession</a:t>
            </a:r>
            <a:endParaRPr lang="en-US" sz="1500" dirty="0"/>
          </a:p>
        </p:txBody>
      </p:sp>
      <p:sp>
        <p:nvSpPr>
          <p:cNvPr id="14" name="Text 12"/>
          <p:cNvSpPr/>
          <p:nvPr/>
        </p:nvSpPr>
        <p:spPr>
          <a:xfrm>
            <a:off x="4663440" y="3977640"/>
            <a:ext cx="3703320" cy="274320"/>
          </a:xfrm>
          <a:prstGeom prst="rect">
            <a:avLst/>
          </a:prstGeom>
          <a:noFill/>
          <a:ln/>
        </p:spPr>
        <p:txBody>
          <a:bodyPr wrap="square" lIns="0" tIns="0" rIns="0" bIns="0" rtlCol="0" anchor="t"/>
          <a:lstStyle/>
          <a:p>
            <a:pPr indent="0" marL="0">
              <a:buNone/>
            </a:pPr>
            <a:r>
              <a:rPr lang="en-US" sz="1700" b="1" dirty="0">
                <a:solidFill>
                  <a:srgbClr val="161617"/>
                </a:solidFill>
                <a:latin typeface="Calibri" pitchFamily="34" charset="0"/>
                <a:ea typeface="Calibri" pitchFamily="34" charset="-122"/>
                <a:cs typeface="Calibri" pitchFamily="34" charset="-120"/>
              </a:rPr>
              <a:t>Pressure faced</a:t>
            </a:r>
            <a:endParaRPr lang="en-US" sz="1700" dirty="0"/>
          </a:p>
        </p:txBody>
      </p:sp>
      <p:sp>
        <p:nvSpPr>
          <p:cNvPr id="15" name="Text 13"/>
          <p:cNvSpPr/>
          <p:nvPr/>
        </p:nvSpPr>
        <p:spPr>
          <a:xfrm>
            <a:off x="4663440" y="4279392"/>
            <a:ext cx="3703320" cy="603504"/>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Pressure events applied to the possession</a:t>
            </a:r>
            <a:endParaRPr lang="en-US" sz="1500" dirty="0"/>
          </a:p>
        </p:txBody>
      </p:sp>
      <p:sp>
        <p:nvSpPr>
          <p:cNvPr id="16" name="Text 14"/>
          <p:cNvSpPr/>
          <p:nvPr/>
        </p:nvSpPr>
        <p:spPr>
          <a:xfrm>
            <a:off x="685800" y="5029200"/>
            <a:ext cx="3703320" cy="274320"/>
          </a:xfrm>
          <a:prstGeom prst="rect">
            <a:avLst/>
          </a:prstGeom>
          <a:noFill/>
          <a:ln/>
        </p:spPr>
        <p:txBody>
          <a:bodyPr wrap="square" lIns="0" tIns="0" rIns="0" bIns="0" rtlCol="0" anchor="t"/>
          <a:lstStyle/>
          <a:p>
            <a:pPr indent="0" marL="0">
              <a:buNone/>
            </a:pPr>
            <a:r>
              <a:rPr lang="en-US" sz="1700" b="1" dirty="0">
                <a:solidFill>
                  <a:srgbClr val="161617"/>
                </a:solidFill>
                <a:latin typeface="Calibri" pitchFamily="34" charset="0"/>
                <a:ea typeface="Calibri" pitchFamily="34" charset="-122"/>
                <a:cs typeface="Calibri" pitchFamily="34" charset="-120"/>
              </a:rPr>
              <a:t>Possession structure</a:t>
            </a:r>
            <a:endParaRPr lang="en-US" sz="1700" dirty="0"/>
          </a:p>
        </p:txBody>
      </p:sp>
      <p:sp>
        <p:nvSpPr>
          <p:cNvPr id="17" name="Text 15"/>
          <p:cNvSpPr/>
          <p:nvPr/>
        </p:nvSpPr>
        <p:spPr>
          <a:xfrm>
            <a:off x="685800" y="5330952"/>
            <a:ext cx="3703320" cy="603504"/>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Players involved, action counts</a:t>
            </a:r>
            <a:endParaRPr lang="en-US" sz="1500" dirty="0"/>
          </a:p>
        </p:txBody>
      </p:sp>
      <p:sp>
        <p:nvSpPr>
          <p:cNvPr id="18" name="Text 16"/>
          <p:cNvSpPr/>
          <p:nvPr/>
        </p:nvSpPr>
        <p:spPr>
          <a:xfrm>
            <a:off x="4663440" y="5029200"/>
            <a:ext cx="3703320" cy="274320"/>
          </a:xfrm>
          <a:prstGeom prst="rect">
            <a:avLst/>
          </a:prstGeom>
          <a:noFill/>
          <a:ln/>
        </p:spPr>
        <p:txBody>
          <a:bodyPr wrap="square" lIns="0" tIns="0" rIns="0" bIns="0" rtlCol="0" anchor="t"/>
          <a:lstStyle/>
          <a:p>
            <a:pPr indent="0" marL="0">
              <a:buNone/>
            </a:pPr>
            <a:r>
              <a:rPr lang="en-US" sz="1700" b="1" dirty="0">
                <a:solidFill>
                  <a:srgbClr val="161617"/>
                </a:solidFill>
                <a:latin typeface="Calibri" pitchFamily="34" charset="0"/>
                <a:ea typeface="Calibri" pitchFamily="34" charset="-122"/>
                <a:cs typeface="Calibri" pitchFamily="34" charset="-120"/>
              </a:rPr>
              <a:t>Start and end zones</a:t>
            </a:r>
            <a:endParaRPr lang="en-US" sz="1700" dirty="0"/>
          </a:p>
        </p:txBody>
      </p:sp>
      <p:sp>
        <p:nvSpPr>
          <p:cNvPr id="19" name="Text 17"/>
          <p:cNvSpPr/>
          <p:nvPr/>
        </p:nvSpPr>
        <p:spPr>
          <a:xfrm>
            <a:off x="4663440" y="5330952"/>
            <a:ext cx="3703320" cy="603504"/>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Where the possession begins and ends</a:t>
            </a:r>
            <a:endParaRPr lang="en-US" sz="1500" dirty="0"/>
          </a:p>
        </p:txBody>
      </p:sp>
      <p:sp>
        <p:nvSpPr>
          <p:cNvPr id="20" name="Shape 18"/>
          <p:cNvSpPr/>
          <p:nvPr/>
        </p:nvSpPr>
        <p:spPr>
          <a:xfrm>
            <a:off x="8823960" y="1874520"/>
            <a:ext cx="2679192" cy="4160520"/>
          </a:xfrm>
          <a:prstGeom prst="roundRect">
            <a:avLst>
              <a:gd name="adj" fmla="val 2048"/>
            </a:avLst>
          </a:prstGeom>
          <a:solidFill>
            <a:srgbClr val="F9E7E8"/>
          </a:solidFill>
          <a:ln w="9525">
            <a:solidFill>
              <a:srgbClr val="F9E7E8"/>
            </a:solidFill>
            <a:prstDash val="solid"/>
          </a:ln>
        </p:spPr>
      </p:sp>
      <p:sp>
        <p:nvSpPr>
          <p:cNvPr id="21" name="Text 19"/>
          <p:cNvSpPr/>
          <p:nvPr/>
        </p:nvSpPr>
        <p:spPr>
          <a:xfrm>
            <a:off x="9098280" y="2103120"/>
            <a:ext cx="2194560" cy="384048"/>
          </a:xfrm>
          <a:prstGeom prst="rect">
            <a:avLst/>
          </a:prstGeom>
          <a:noFill/>
          <a:ln/>
        </p:spPr>
        <p:txBody>
          <a:bodyPr wrap="square" lIns="0" tIns="0" rIns="0" bIns="0" rtlCol="0" anchor="t"/>
          <a:lstStyle/>
          <a:p>
            <a:pPr indent="0" marL="0">
              <a:buNone/>
            </a:pPr>
            <a:r>
              <a:rPr lang="en-US" sz="2000" b="1" dirty="0">
                <a:solidFill>
                  <a:srgbClr val="D44B52"/>
                </a:solidFill>
                <a:latin typeface="Calibri" pitchFamily="34" charset="0"/>
                <a:ea typeface="Calibri" pitchFamily="34" charset="-122"/>
                <a:cs typeface="Calibri" pitchFamily="34" charset="-120"/>
              </a:rPr>
              <a:t>Features are not outcomes</a:t>
            </a:r>
            <a:endParaRPr lang="en-US" sz="2000" dirty="0"/>
          </a:p>
        </p:txBody>
      </p:sp>
      <p:sp>
        <p:nvSpPr>
          <p:cNvPr id="22" name="Text 20"/>
          <p:cNvSpPr/>
          <p:nvPr/>
        </p:nvSpPr>
        <p:spPr>
          <a:xfrm>
            <a:off x="9098280" y="3063240"/>
            <a:ext cx="2194560" cy="1188720"/>
          </a:xfrm>
          <a:prstGeom prst="rect">
            <a:avLst/>
          </a:prstGeom>
          <a:noFill/>
          <a:ln/>
        </p:spPr>
        <p:txBody>
          <a:bodyPr wrap="square" lIns="0" tIns="0" rIns="0" bIns="0" rtlCol="0" anchor="t"/>
          <a:lstStyle/>
          <a:p>
            <a:pPr indent="0" marL="0">
              <a:lnSpc>
                <a:spcPts val="2000"/>
              </a:lnSpc>
              <a:buNone/>
            </a:pPr>
            <a:r>
              <a:rPr lang="en-US" sz="1600" dirty="0">
                <a:solidFill>
                  <a:srgbClr val="161617"/>
                </a:solidFill>
                <a:latin typeface="Calibri" pitchFamily="34" charset="0"/>
                <a:ea typeface="Calibri" pitchFamily="34" charset="-122"/>
                <a:cs typeface="Calibri" pitchFamily="34" charset="-120"/>
              </a:rPr>
              <a:t>Shot, goal, xG and entry targets are excluded from the unsupervised clustering inputs.</a:t>
            </a:r>
            <a:endParaRPr lang="en-US" sz="1600" dirty="0"/>
          </a:p>
        </p:txBody>
      </p:sp>
      <p:sp>
        <p:nvSpPr>
          <p:cNvPr id="23" name="Text 21"/>
          <p:cNvSpPr/>
          <p:nvPr/>
        </p:nvSpPr>
        <p:spPr>
          <a:xfrm>
            <a:off x="9098280" y="4343400"/>
            <a:ext cx="2194560" cy="1097280"/>
          </a:xfrm>
          <a:prstGeom prst="rect">
            <a:avLst/>
          </a:prstGeom>
          <a:noFill/>
          <a:ln/>
        </p:spPr>
        <p:txBody>
          <a:bodyPr wrap="square" lIns="0" tIns="0" rIns="0" bIns="0" rtlCol="0" anchor="t"/>
          <a:lstStyle/>
          <a:p>
            <a:pPr indent="0" marL="0">
              <a:lnSpc>
                <a:spcPts val="1900"/>
              </a:lnSpc>
              <a:buNone/>
            </a:pPr>
            <a:r>
              <a:rPr lang="en-US" sz="1500" i="1" dirty="0">
                <a:solidFill>
                  <a:srgbClr val="6E6E73"/>
                </a:solidFill>
                <a:latin typeface="Calibri" pitchFamily="34" charset="0"/>
                <a:ea typeface="Calibri" pitchFamily="34" charset="-122"/>
                <a:cs typeface="Calibri" pitchFamily="34" charset="-120"/>
              </a:rPr>
              <a:t>Styles must describe behaviour, not the result they produced.</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09 / 28 · QUALITY GATES</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Quality gates protect the possession table before modeling</a:t>
            </a:r>
            <a:endParaRPr lang="en-US" sz="3500" dirty="0"/>
          </a:p>
        </p:txBody>
      </p:sp>
      <p:sp>
        <p:nvSpPr>
          <p:cNvPr id="4" name="Text 2"/>
          <p:cNvSpPr/>
          <p:nvPr/>
        </p:nvSpPr>
        <p:spPr>
          <a:xfrm>
            <a:off x="685800" y="1874520"/>
            <a:ext cx="5669280" cy="384048"/>
          </a:xfrm>
          <a:prstGeom prst="rect">
            <a:avLst/>
          </a:prstGeom>
          <a:noFill/>
          <a:ln/>
        </p:spPr>
        <p:txBody>
          <a:bodyPr wrap="square" lIns="0" tIns="0" rIns="0" bIns="0" rtlCol="0" anchor="t"/>
          <a:lstStyle/>
          <a:p>
            <a:pPr indent="0" marL="0">
              <a:buNone/>
            </a:pPr>
            <a:r>
              <a:rPr lang="en-US" sz="2400" b="1" dirty="0">
                <a:solidFill>
                  <a:srgbClr val="161617"/>
                </a:solidFill>
                <a:latin typeface="Calibri" pitchFamily="34" charset="0"/>
                <a:ea typeface="Calibri" pitchFamily="34" charset="-122"/>
                <a:cs typeface="Calibri" pitchFamily="34" charset="-120"/>
              </a:rPr>
              <a:t>Checks that must pass</a:t>
            </a:r>
            <a:endParaRPr lang="en-US" sz="2400" dirty="0"/>
          </a:p>
        </p:txBody>
      </p:sp>
      <p:sp>
        <p:nvSpPr>
          <p:cNvPr id="5" name="Text 3"/>
          <p:cNvSpPr/>
          <p:nvPr/>
        </p:nvSpPr>
        <p:spPr>
          <a:xfrm>
            <a:off x="685800" y="2450592"/>
            <a:ext cx="274320" cy="292608"/>
          </a:xfrm>
          <a:prstGeom prst="rect">
            <a:avLst/>
          </a:prstGeom>
          <a:noFill/>
          <a:ln/>
        </p:spPr>
        <p:txBody>
          <a:bodyPr wrap="square" lIns="0" tIns="0" rIns="0" bIns="0" rtlCol="0" anchor="t"/>
          <a:lstStyle/>
          <a:p>
            <a:pPr indent="0" marL="0">
              <a:buNone/>
            </a:pPr>
            <a:r>
              <a:rPr lang="en-US" sz="1600" b="1" dirty="0">
                <a:solidFill>
                  <a:srgbClr val="24775B"/>
                </a:solidFill>
                <a:latin typeface="Calibri" pitchFamily="34" charset="0"/>
                <a:ea typeface="Calibri" pitchFamily="34" charset="-122"/>
                <a:cs typeface="Calibri" pitchFamily="34" charset="-120"/>
              </a:rPr>
              <a:t>✓</a:t>
            </a:r>
            <a:endParaRPr lang="en-US" sz="1600" dirty="0"/>
          </a:p>
        </p:txBody>
      </p:sp>
      <p:sp>
        <p:nvSpPr>
          <p:cNvPr id="6" name="Text 4"/>
          <p:cNvSpPr/>
          <p:nvPr/>
        </p:nvSpPr>
        <p:spPr>
          <a:xfrm>
            <a:off x="1024128" y="2450592"/>
            <a:ext cx="5120640" cy="384048"/>
          </a:xfrm>
          <a:prstGeom prst="rect">
            <a:avLst/>
          </a:prstGeom>
          <a:noFill/>
          <a:ln/>
        </p:spPr>
        <p:txBody>
          <a:bodyPr wrap="square" lIns="0" tIns="0" rIns="0" bIns="0" rtlCol="0" anchor="t"/>
          <a:lstStyle/>
          <a:p>
            <a:pPr indent="0" marL="0">
              <a:buNone/>
            </a:pPr>
            <a:r>
              <a:rPr lang="en-US" sz="1600" dirty="0">
                <a:solidFill>
                  <a:srgbClr val="161617"/>
                </a:solidFill>
                <a:latin typeface="Calibri" pitchFamily="34" charset="0"/>
                <a:ea typeface="Calibri" pitchFamily="34" charset="-122"/>
                <a:cs typeface="Calibri" pitchFamily="34" charset="-120"/>
              </a:rPr>
              <a:t>All 64 matches and 32 teams represented</a:t>
            </a:r>
            <a:endParaRPr lang="en-US" sz="1600" dirty="0"/>
          </a:p>
        </p:txBody>
      </p:sp>
      <p:sp>
        <p:nvSpPr>
          <p:cNvPr id="7" name="Text 5"/>
          <p:cNvSpPr/>
          <p:nvPr/>
        </p:nvSpPr>
        <p:spPr>
          <a:xfrm>
            <a:off x="685800" y="2926080"/>
            <a:ext cx="274320" cy="292608"/>
          </a:xfrm>
          <a:prstGeom prst="rect">
            <a:avLst/>
          </a:prstGeom>
          <a:noFill/>
          <a:ln/>
        </p:spPr>
        <p:txBody>
          <a:bodyPr wrap="square" lIns="0" tIns="0" rIns="0" bIns="0" rtlCol="0" anchor="t"/>
          <a:lstStyle/>
          <a:p>
            <a:pPr indent="0" marL="0">
              <a:buNone/>
            </a:pPr>
            <a:r>
              <a:rPr lang="en-US" sz="1600" b="1" dirty="0">
                <a:solidFill>
                  <a:srgbClr val="24775B"/>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1024128" y="2926080"/>
            <a:ext cx="5120640" cy="384048"/>
          </a:xfrm>
          <a:prstGeom prst="rect">
            <a:avLst/>
          </a:prstGeom>
          <a:noFill/>
          <a:ln/>
        </p:spPr>
        <p:txBody>
          <a:bodyPr wrap="square" lIns="0" tIns="0" rIns="0" bIns="0" rtlCol="0" anchor="t"/>
          <a:lstStyle/>
          <a:p>
            <a:pPr indent="0" marL="0">
              <a:buNone/>
            </a:pPr>
            <a:r>
              <a:rPr lang="en-US" sz="1600" dirty="0">
                <a:solidFill>
                  <a:srgbClr val="161617"/>
                </a:solidFill>
                <a:latin typeface="Calibri" pitchFamily="34" charset="0"/>
                <a:ea typeface="Calibri" pitchFamily="34" charset="-122"/>
                <a:cs typeface="Calibri" pitchFamily="34" charset="-120"/>
              </a:rPr>
              <a:t>Possession IDs unique on the composite key</a:t>
            </a:r>
            <a:endParaRPr lang="en-US" sz="1600" dirty="0"/>
          </a:p>
        </p:txBody>
      </p:sp>
      <p:sp>
        <p:nvSpPr>
          <p:cNvPr id="9" name="Text 7"/>
          <p:cNvSpPr/>
          <p:nvPr/>
        </p:nvSpPr>
        <p:spPr>
          <a:xfrm>
            <a:off x="685800" y="3401568"/>
            <a:ext cx="274320" cy="292608"/>
          </a:xfrm>
          <a:prstGeom prst="rect">
            <a:avLst/>
          </a:prstGeom>
          <a:noFill/>
          <a:ln/>
        </p:spPr>
        <p:txBody>
          <a:bodyPr wrap="square" lIns="0" tIns="0" rIns="0" bIns="0" rtlCol="0" anchor="t"/>
          <a:lstStyle/>
          <a:p>
            <a:pPr indent="0" marL="0">
              <a:buNone/>
            </a:pPr>
            <a:r>
              <a:rPr lang="en-US" sz="1600" b="1" dirty="0">
                <a:solidFill>
                  <a:srgbClr val="24775B"/>
                </a:solidFill>
                <a:latin typeface="Calibri" pitchFamily="34" charset="0"/>
                <a:ea typeface="Calibri" pitchFamily="34" charset="-122"/>
                <a:cs typeface="Calibri" pitchFamily="34" charset="-120"/>
              </a:rPr>
              <a:t>✓</a:t>
            </a:r>
            <a:endParaRPr lang="en-US" sz="1600" dirty="0"/>
          </a:p>
        </p:txBody>
      </p:sp>
      <p:sp>
        <p:nvSpPr>
          <p:cNvPr id="10" name="Text 8"/>
          <p:cNvSpPr/>
          <p:nvPr/>
        </p:nvSpPr>
        <p:spPr>
          <a:xfrm>
            <a:off x="1024128" y="3401568"/>
            <a:ext cx="5120640" cy="384048"/>
          </a:xfrm>
          <a:prstGeom prst="rect">
            <a:avLst/>
          </a:prstGeom>
          <a:noFill/>
          <a:ln/>
        </p:spPr>
        <p:txBody>
          <a:bodyPr wrap="square" lIns="0" tIns="0" rIns="0" bIns="0" rtlCol="0" anchor="t"/>
          <a:lstStyle/>
          <a:p>
            <a:pPr indent="0" marL="0">
              <a:buNone/>
            </a:pPr>
            <a:r>
              <a:rPr lang="en-US" sz="1600" dirty="0">
                <a:solidFill>
                  <a:srgbClr val="161617"/>
                </a:solidFill>
                <a:latin typeface="Calibri" pitchFamily="34" charset="0"/>
                <a:ea typeface="Calibri" pitchFamily="34" charset="-122"/>
                <a:cs typeface="Calibri" pitchFamily="34" charset="-120"/>
              </a:rPr>
              <a:t>No penalty-shootout possessions</a:t>
            </a:r>
            <a:endParaRPr lang="en-US" sz="1600" dirty="0"/>
          </a:p>
        </p:txBody>
      </p:sp>
      <p:sp>
        <p:nvSpPr>
          <p:cNvPr id="11" name="Text 9"/>
          <p:cNvSpPr/>
          <p:nvPr/>
        </p:nvSpPr>
        <p:spPr>
          <a:xfrm>
            <a:off x="685800" y="3877056"/>
            <a:ext cx="274320" cy="292608"/>
          </a:xfrm>
          <a:prstGeom prst="rect">
            <a:avLst/>
          </a:prstGeom>
          <a:noFill/>
          <a:ln/>
        </p:spPr>
        <p:txBody>
          <a:bodyPr wrap="square" lIns="0" tIns="0" rIns="0" bIns="0" rtlCol="0" anchor="t"/>
          <a:lstStyle/>
          <a:p>
            <a:pPr indent="0" marL="0">
              <a:buNone/>
            </a:pPr>
            <a:r>
              <a:rPr lang="en-US" sz="1600" b="1" dirty="0">
                <a:solidFill>
                  <a:srgbClr val="24775B"/>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1024128" y="3877056"/>
            <a:ext cx="5120640" cy="384048"/>
          </a:xfrm>
          <a:prstGeom prst="rect">
            <a:avLst/>
          </a:prstGeom>
          <a:noFill/>
          <a:ln/>
        </p:spPr>
        <p:txBody>
          <a:bodyPr wrap="square" lIns="0" tIns="0" rIns="0" bIns="0" rtlCol="0" anchor="t"/>
          <a:lstStyle/>
          <a:p>
            <a:pPr indent="0" marL="0">
              <a:buNone/>
            </a:pPr>
            <a:r>
              <a:rPr lang="en-US" sz="1600" dirty="0">
                <a:solidFill>
                  <a:srgbClr val="161617"/>
                </a:solidFill>
                <a:latin typeface="Calibri" pitchFamily="34" charset="0"/>
                <a:ea typeface="Calibri" pitchFamily="34" charset="-122"/>
                <a:cs typeface="Calibri" pitchFamily="34" charset="-120"/>
              </a:rPr>
              <a:t>No negative durations</a:t>
            </a:r>
            <a:endParaRPr lang="en-US" sz="1600" dirty="0"/>
          </a:p>
        </p:txBody>
      </p:sp>
      <p:sp>
        <p:nvSpPr>
          <p:cNvPr id="13" name="Text 11"/>
          <p:cNvSpPr/>
          <p:nvPr/>
        </p:nvSpPr>
        <p:spPr>
          <a:xfrm>
            <a:off x="685800" y="4352544"/>
            <a:ext cx="274320" cy="292608"/>
          </a:xfrm>
          <a:prstGeom prst="rect">
            <a:avLst/>
          </a:prstGeom>
          <a:noFill/>
          <a:ln/>
        </p:spPr>
        <p:txBody>
          <a:bodyPr wrap="square" lIns="0" tIns="0" rIns="0" bIns="0" rtlCol="0" anchor="t"/>
          <a:lstStyle/>
          <a:p>
            <a:pPr indent="0" marL="0">
              <a:buNone/>
            </a:pPr>
            <a:r>
              <a:rPr lang="en-US" sz="1600" b="1" dirty="0">
                <a:solidFill>
                  <a:srgbClr val="24775B"/>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1024128" y="4352544"/>
            <a:ext cx="5120640" cy="384048"/>
          </a:xfrm>
          <a:prstGeom prst="rect">
            <a:avLst/>
          </a:prstGeom>
          <a:noFill/>
          <a:ln/>
        </p:spPr>
        <p:txBody>
          <a:bodyPr wrap="square" lIns="0" tIns="0" rIns="0" bIns="0" rtlCol="0" anchor="t"/>
          <a:lstStyle/>
          <a:p>
            <a:pPr indent="0" marL="0">
              <a:buNone/>
            </a:pPr>
            <a:r>
              <a:rPr lang="en-US" sz="1600" dirty="0">
                <a:solidFill>
                  <a:srgbClr val="161617"/>
                </a:solidFill>
                <a:latin typeface="Calibri" pitchFamily="34" charset="0"/>
                <a:ea typeface="Calibri" pitchFamily="34" charset="-122"/>
                <a:cs typeface="Calibri" pitchFamily="34" charset="-120"/>
              </a:rPr>
              <a:t>Pass completion bounded between 0 and 100%</a:t>
            </a:r>
            <a:endParaRPr lang="en-US" sz="1600" dirty="0"/>
          </a:p>
        </p:txBody>
      </p:sp>
      <p:sp>
        <p:nvSpPr>
          <p:cNvPr id="15" name="Text 13"/>
          <p:cNvSpPr/>
          <p:nvPr/>
        </p:nvSpPr>
        <p:spPr>
          <a:xfrm>
            <a:off x="685800" y="4828032"/>
            <a:ext cx="274320" cy="292608"/>
          </a:xfrm>
          <a:prstGeom prst="rect">
            <a:avLst/>
          </a:prstGeom>
          <a:noFill/>
          <a:ln/>
        </p:spPr>
        <p:txBody>
          <a:bodyPr wrap="square" lIns="0" tIns="0" rIns="0" bIns="0" rtlCol="0" anchor="t"/>
          <a:lstStyle/>
          <a:p>
            <a:pPr indent="0" marL="0">
              <a:buNone/>
            </a:pPr>
            <a:r>
              <a:rPr lang="en-US" sz="1600" b="1" dirty="0">
                <a:solidFill>
                  <a:srgbClr val="24775B"/>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1024128" y="4828032"/>
            <a:ext cx="5120640" cy="384048"/>
          </a:xfrm>
          <a:prstGeom prst="rect">
            <a:avLst/>
          </a:prstGeom>
          <a:noFill/>
          <a:ln/>
        </p:spPr>
        <p:txBody>
          <a:bodyPr wrap="square" lIns="0" tIns="0" rIns="0" bIns="0" rtlCol="0" anchor="t"/>
          <a:lstStyle/>
          <a:p>
            <a:pPr indent="0" marL="0">
              <a:buNone/>
            </a:pPr>
            <a:r>
              <a:rPr lang="en-US" sz="1600" dirty="0">
                <a:solidFill>
                  <a:srgbClr val="161617"/>
                </a:solidFill>
                <a:latin typeface="Calibri" pitchFamily="34" charset="0"/>
                <a:ea typeface="Calibri" pitchFamily="34" charset="-122"/>
                <a:cs typeface="Calibri" pitchFamily="34" charset="-120"/>
              </a:rPr>
              <a:t>Opponents resolved for every possession</a:t>
            </a:r>
            <a:endParaRPr lang="en-US" sz="1600" dirty="0"/>
          </a:p>
        </p:txBody>
      </p:sp>
      <p:sp>
        <p:nvSpPr>
          <p:cNvPr id="17" name="Text 15"/>
          <p:cNvSpPr/>
          <p:nvPr/>
        </p:nvSpPr>
        <p:spPr>
          <a:xfrm>
            <a:off x="685800" y="5303520"/>
            <a:ext cx="274320" cy="292608"/>
          </a:xfrm>
          <a:prstGeom prst="rect">
            <a:avLst/>
          </a:prstGeom>
          <a:noFill/>
          <a:ln/>
        </p:spPr>
        <p:txBody>
          <a:bodyPr wrap="square" lIns="0" tIns="0" rIns="0" bIns="0" rtlCol="0" anchor="t"/>
          <a:lstStyle/>
          <a:p>
            <a:pPr indent="0" marL="0">
              <a:buNone/>
            </a:pPr>
            <a:r>
              <a:rPr lang="en-US" sz="1600" b="1" dirty="0">
                <a:solidFill>
                  <a:srgbClr val="24775B"/>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1024128" y="5303520"/>
            <a:ext cx="5120640" cy="384048"/>
          </a:xfrm>
          <a:prstGeom prst="rect">
            <a:avLst/>
          </a:prstGeom>
          <a:noFill/>
          <a:ln/>
        </p:spPr>
        <p:txBody>
          <a:bodyPr wrap="square" lIns="0" tIns="0" rIns="0" bIns="0" rtlCol="0" anchor="t"/>
          <a:lstStyle/>
          <a:p>
            <a:pPr indent="0" marL="0">
              <a:buNone/>
            </a:pPr>
            <a:r>
              <a:rPr lang="en-US" sz="1600" dirty="0">
                <a:solidFill>
                  <a:srgbClr val="161617"/>
                </a:solidFill>
                <a:latin typeface="Calibri" pitchFamily="34" charset="0"/>
                <a:ea typeface="Calibri" pitchFamily="34" charset="-122"/>
                <a:cs typeface="Calibri" pitchFamily="34" charset="-120"/>
              </a:rPr>
              <a:t>All 172 tournament goals accounted for</a:t>
            </a:r>
            <a:endParaRPr lang="en-US" sz="1600" dirty="0"/>
          </a:p>
        </p:txBody>
      </p:sp>
      <p:sp>
        <p:nvSpPr>
          <p:cNvPr id="19" name="Shape 17"/>
          <p:cNvSpPr/>
          <p:nvPr/>
        </p:nvSpPr>
        <p:spPr>
          <a:xfrm>
            <a:off x="6629400" y="1874520"/>
            <a:ext cx="4873752" cy="3794760"/>
          </a:xfrm>
          <a:prstGeom prst="roundRect">
            <a:avLst>
              <a:gd name="adj" fmla="val 1446"/>
            </a:avLst>
          </a:prstGeom>
          <a:solidFill>
            <a:srgbClr val="FFFFFF"/>
          </a:solidFill>
          <a:ln w="9525">
            <a:solidFill>
              <a:srgbClr val="FFFFFF"/>
            </a:solidFill>
            <a:prstDash val="solid"/>
          </a:ln>
        </p:spPr>
      </p:sp>
      <p:sp>
        <p:nvSpPr>
          <p:cNvPr id="20" name="Text 18"/>
          <p:cNvSpPr/>
          <p:nvPr/>
        </p:nvSpPr>
        <p:spPr>
          <a:xfrm>
            <a:off x="6903720" y="2084832"/>
            <a:ext cx="4297680" cy="384048"/>
          </a:xfrm>
          <a:prstGeom prst="rect">
            <a:avLst/>
          </a:prstGeom>
          <a:noFill/>
          <a:ln/>
        </p:spPr>
        <p:txBody>
          <a:bodyPr wrap="square" lIns="0" tIns="0" rIns="0" bIns="0" rtlCol="0" anchor="t"/>
          <a:lstStyle/>
          <a:p>
            <a:pPr indent="0" marL="0">
              <a:buNone/>
            </a:pPr>
            <a:r>
              <a:rPr lang="en-US" sz="2400" b="1" dirty="0">
                <a:solidFill>
                  <a:srgbClr val="24775B"/>
                </a:solidFill>
                <a:latin typeface="Calibri" pitchFamily="34" charset="0"/>
                <a:ea typeface="Calibri" pitchFamily="34" charset="-122"/>
                <a:cs typeface="Calibri" pitchFamily="34" charset="-120"/>
              </a:rPr>
              <a:t>Validated snapshot</a:t>
            </a:r>
            <a:endParaRPr lang="en-US" sz="2400" dirty="0"/>
          </a:p>
        </p:txBody>
      </p:sp>
      <p:sp>
        <p:nvSpPr>
          <p:cNvPr id="21" name="Text 19"/>
          <p:cNvSpPr/>
          <p:nvPr/>
        </p:nvSpPr>
        <p:spPr>
          <a:xfrm>
            <a:off x="6903720" y="2697480"/>
            <a:ext cx="2103120" cy="566928"/>
          </a:xfrm>
          <a:prstGeom prst="rect">
            <a:avLst/>
          </a:prstGeom>
          <a:noFill/>
          <a:ln/>
        </p:spPr>
        <p:txBody>
          <a:bodyPr wrap="square" lIns="0" tIns="0" rIns="0" bIns="0" rtlCol="0" anchor="t"/>
          <a:lstStyle/>
          <a:p>
            <a:pPr indent="0" marL="0">
              <a:buNone/>
            </a:pPr>
            <a:r>
              <a:rPr lang="en-US" sz="3000" b="1" dirty="0">
                <a:solidFill>
                  <a:srgbClr val="161617"/>
                </a:solidFill>
                <a:latin typeface="Calibri" pitchFamily="34" charset="0"/>
                <a:ea typeface="Calibri" pitchFamily="34" charset="-122"/>
                <a:cs typeface="Calibri" pitchFamily="34" charset="-120"/>
              </a:rPr>
              <a:t>11,016</a:t>
            </a:r>
            <a:endParaRPr lang="en-US" sz="3000" dirty="0"/>
          </a:p>
        </p:txBody>
      </p:sp>
      <p:sp>
        <p:nvSpPr>
          <p:cNvPr id="22" name="Text 20"/>
          <p:cNvSpPr/>
          <p:nvPr/>
        </p:nvSpPr>
        <p:spPr>
          <a:xfrm>
            <a:off x="6903720" y="3172968"/>
            <a:ext cx="2103120" cy="54864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possession rows</a:t>
            </a:r>
            <a:endParaRPr lang="en-US" sz="1400" dirty="0"/>
          </a:p>
        </p:txBody>
      </p:sp>
      <p:sp>
        <p:nvSpPr>
          <p:cNvPr id="23" name="Text 21"/>
          <p:cNvSpPr/>
          <p:nvPr/>
        </p:nvSpPr>
        <p:spPr>
          <a:xfrm>
            <a:off x="9144000" y="2697480"/>
            <a:ext cx="2103120" cy="566928"/>
          </a:xfrm>
          <a:prstGeom prst="rect">
            <a:avLst/>
          </a:prstGeom>
          <a:noFill/>
          <a:ln/>
        </p:spPr>
        <p:txBody>
          <a:bodyPr wrap="square" lIns="0" tIns="0" rIns="0" bIns="0" rtlCol="0" anchor="t"/>
          <a:lstStyle/>
          <a:p>
            <a:pPr indent="0" marL="0">
              <a:buNone/>
            </a:pPr>
            <a:r>
              <a:rPr lang="en-US" sz="3000" b="1" dirty="0">
                <a:solidFill>
                  <a:srgbClr val="161617"/>
                </a:solidFill>
                <a:latin typeface="Calibri" pitchFamily="34" charset="0"/>
                <a:ea typeface="Calibri" pitchFamily="34" charset="-122"/>
                <a:cs typeface="Calibri" pitchFamily="34" charset="-120"/>
              </a:rPr>
              <a:t>1,438</a:t>
            </a:r>
            <a:endParaRPr lang="en-US" sz="3000" dirty="0"/>
          </a:p>
        </p:txBody>
      </p:sp>
      <p:sp>
        <p:nvSpPr>
          <p:cNvPr id="24" name="Text 22"/>
          <p:cNvSpPr/>
          <p:nvPr/>
        </p:nvSpPr>
        <p:spPr>
          <a:xfrm>
            <a:off x="9144000" y="3172968"/>
            <a:ext cx="2103120" cy="54864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shots</a:t>
            </a:r>
            <a:endParaRPr lang="en-US" sz="1400" dirty="0"/>
          </a:p>
        </p:txBody>
      </p:sp>
      <p:sp>
        <p:nvSpPr>
          <p:cNvPr id="25" name="Text 23"/>
          <p:cNvSpPr/>
          <p:nvPr/>
        </p:nvSpPr>
        <p:spPr>
          <a:xfrm>
            <a:off x="6903720" y="4023360"/>
            <a:ext cx="2103120" cy="566928"/>
          </a:xfrm>
          <a:prstGeom prst="rect">
            <a:avLst/>
          </a:prstGeom>
          <a:noFill/>
          <a:ln/>
        </p:spPr>
        <p:txBody>
          <a:bodyPr wrap="square" lIns="0" tIns="0" rIns="0" bIns="0" rtlCol="0" anchor="t"/>
          <a:lstStyle/>
          <a:p>
            <a:pPr indent="0" marL="0">
              <a:buNone/>
            </a:pPr>
            <a:r>
              <a:rPr lang="en-US" sz="3000" b="1" dirty="0">
                <a:solidFill>
                  <a:srgbClr val="161617"/>
                </a:solidFill>
                <a:latin typeface="Calibri" pitchFamily="34" charset="0"/>
                <a:ea typeface="Calibri" pitchFamily="34" charset="-122"/>
                <a:cs typeface="Calibri" pitchFamily="34" charset="-120"/>
              </a:rPr>
              <a:t>1,282</a:t>
            </a:r>
            <a:endParaRPr lang="en-US" sz="3000" dirty="0"/>
          </a:p>
        </p:txBody>
      </p:sp>
      <p:sp>
        <p:nvSpPr>
          <p:cNvPr id="26" name="Text 24"/>
          <p:cNvSpPr/>
          <p:nvPr/>
        </p:nvSpPr>
        <p:spPr>
          <a:xfrm>
            <a:off x="6903720" y="4498848"/>
            <a:ext cx="2103120" cy="54864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possessions containing a shot</a:t>
            </a:r>
            <a:endParaRPr lang="en-US" sz="1400" dirty="0"/>
          </a:p>
        </p:txBody>
      </p:sp>
      <p:sp>
        <p:nvSpPr>
          <p:cNvPr id="27" name="Text 25"/>
          <p:cNvSpPr/>
          <p:nvPr/>
        </p:nvSpPr>
        <p:spPr>
          <a:xfrm>
            <a:off x="9144000" y="4023360"/>
            <a:ext cx="2103120" cy="566928"/>
          </a:xfrm>
          <a:prstGeom prst="rect">
            <a:avLst/>
          </a:prstGeom>
          <a:noFill/>
          <a:ln/>
        </p:spPr>
        <p:txBody>
          <a:bodyPr wrap="square" lIns="0" tIns="0" rIns="0" bIns="0" rtlCol="0" anchor="t"/>
          <a:lstStyle/>
          <a:p>
            <a:pPr indent="0" marL="0">
              <a:buNone/>
            </a:pPr>
            <a:r>
              <a:rPr lang="en-US" sz="3000" b="1" dirty="0">
                <a:solidFill>
                  <a:srgbClr val="161617"/>
                </a:solidFill>
                <a:latin typeface="Calibri" pitchFamily="34" charset="0"/>
                <a:ea typeface="Calibri" pitchFamily="34" charset="-122"/>
                <a:cs typeface="Calibri" pitchFamily="34" charset="-120"/>
              </a:rPr>
              <a:t>154.174</a:t>
            </a:r>
            <a:endParaRPr lang="en-US" sz="3000" dirty="0"/>
          </a:p>
        </p:txBody>
      </p:sp>
      <p:sp>
        <p:nvSpPr>
          <p:cNvPr id="28" name="Text 26"/>
          <p:cNvSpPr/>
          <p:nvPr/>
        </p:nvSpPr>
        <p:spPr>
          <a:xfrm>
            <a:off x="9144000" y="4498848"/>
            <a:ext cx="2103120" cy="54864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total recorded xG</a:t>
            </a:r>
            <a:endParaRPr lang="en-US" sz="1400" dirty="0"/>
          </a:p>
        </p:txBody>
      </p:sp>
      <p:sp>
        <p:nvSpPr>
          <p:cNvPr id="29" name="Text 27"/>
          <p:cNvSpPr/>
          <p:nvPr/>
        </p:nvSpPr>
        <p:spPr>
          <a:xfrm>
            <a:off x="685800" y="5897880"/>
            <a:ext cx="10817352" cy="274320"/>
          </a:xfrm>
          <a:prstGeom prst="rect">
            <a:avLst/>
          </a:prstGeom>
          <a:noFill/>
          <a:ln/>
        </p:spPr>
        <p:txBody>
          <a:bodyPr wrap="square" lIns="0" tIns="0" rIns="0" bIns="0" rtlCol="0" anchor="t"/>
          <a:lstStyle/>
          <a:p>
            <a:pPr indent="0" marL="0">
              <a:buNone/>
            </a:pPr>
            <a:r>
              <a:rPr lang="en-US" sz="1600" i="1" dirty="0">
                <a:solidFill>
                  <a:srgbClr val="6E6E73"/>
                </a:solidFill>
                <a:latin typeface="Calibri" pitchFamily="34" charset="0"/>
                <a:ea typeface="Calibri" pitchFamily="34" charset="-122"/>
                <a:cs typeface="Calibri" pitchFamily="34" charset="-120"/>
              </a:rPr>
              <a:t>Data-integrity facts, not project conclusions.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10 / 28 · STAGE 2 METHOD</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Stage 2 lets attacking styles emerge from behavior</a:t>
            </a:r>
            <a:endParaRPr lang="en-US" sz="3500" dirty="0"/>
          </a:p>
        </p:txBody>
      </p:sp>
      <p:sp>
        <p:nvSpPr>
          <p:cNvPr id="4" name="Text 2"/>
          <p:cNvSpPr/>
          <p:nvPr/>
        </p:nvSpPr>
        <p:spPr>
          <a:xfrm>
            <a:off x="685800" y="1892808"/>
            <a:ext cx="320040" cy="274320"/>
          </a:xfrm>
          <a:prstGeom prst="rect">
            <a:avLst/>
          </a:prstGeom>
          <a:noFill/>
          <a:ln/>
        </p:spPr>
        <p:txBody>
          <a:bodyPr wrap="square" lIns="0" tIns="0" rIns="0" bIns="0" rtlCol="0" anchor="t"/>
          <a:lstStyle/>
          <a:p>
            <a:pPr indent="0" marL="0">
              <a:buNone/>
            </a:pPr>
            <a:r>
              <a:rPr lang="en-US" sz="1400" b="1" dirty="0">
                <a:solidFill>
                  <a:srgbClr val="3568F0"/>
                </a:solidFill>
                <a:latin typeface="Calibri" pitchFamily="34" charset="0"/>
                <a:ea typeface="Calibri" pitchFamily="34" charset="-122"/>
                <a:cs typeface="Calibri" pitchFamily="34" charset="-120"/>
              </a:rPr>
              <a:t>1</a:t>
            </a:r>
            <a:endParaRPr lang="en-US" sz="1400" dirty="0"/>
          </a:p>
        </p:txBody>
      </p:sp>
      <p:sp>
        <p:nvSpPr>
          <p:cNvPr id="5" name="Text 3"/>
          <p:cNvSpPr/>
          <p:nvPr/>
        </p:nvSpPr>
        <p:spPr>
          <a:xfrm>
            <a:off x="1051560" y="1874520"/>
            <a:ext cx="5029200" cy="457200"/>
          </a:xfrm>
          <a:prstGeom prst="rect">
            <a:avLst/>
          </a:prstGeom>
          <a:noFill/>
          <a:ln/>
        </p:spPr>
        <p:txBody>
          <a:bodyPr wrap="square" lIns="0" tIns="0" rIns="0" bIns="0" rtlCol="0" anchor="t"/>
          <a:lstStyle/>
          <a:p>
            <a:pPr indent="0" marL="0">
              <a:buNone/>
            </a:pPr>
            <a:r>
              <a:rPr lang="en-US" sz="1600" dirty="0">
                <a:solidFill>
                  <a:srgbClr val="161617"/>
                </a:solidFill>
                <a:latin typeface="Calibri" pitchFamily="34" charset="0"/>
                <a:ea typeface="Calibri" pitchFamily="34" charset="-122"/>
                <a:cs typeface="Calibri" pitchFamily="34" charset="-120"/>
              </a:rPr>
              <a:t>Filter possessions with at least one attacking action</a:t>
            </a:r>
            <a:endParaRPr lang="en-US" sz="1600" dirty="0"/>
          </a:p>
        </p:txBody>
      </p:sp>
      <p:sp>
        <p:nvSpPr>
          <p:cNvPr id="6" name="Text 4"/>
          <p:cNvSpPr/>
          <p:nvPr/>
        </p:nvSpPr>
        <p:spPr>
          <a:xfrm>
            <a:off x="685800" y="2423160"/>
            <a:ext cx="320040" cy="274320"/>
          </a:xfrm>
          <a:prstGeom prst="rect">
            <a:avLst/>
          </a:prstGeom>
          <a:noFill/>
          <a:ln/>
        </p:spPr>
        <p:txBody>
          <a:bodyPr wrap="square" lIns="0" tIns="0" rIns="0" bIns="0" rtlCol="0" anchor="t"/>
          <a:lstStyle/>
          <a:p>
            <a:pPr indent="0" marL="0">
              <a:buNone/>
            </a:pPr>
            <a:r>
              <a:rPr lang="en-US" sz="1400" b="1" dirty="0">
                <a:solidFill>
                  <a:srgbClr val="3568F0"/>
                </a:solidFill>
                <a:latin typeface="Calibri" pitchFamily="34" charset="0"/>
                <a:ea typeface="Calibri" pitchFamily="34" charset="-122"/>
                <a:cs typeface="Calibri" pitchFamily="34" charset="-120"/>
              </a:rPr>
              <a:t>2</a:t>
            </a:r>
            <a:endParaRPr lang="en-US" sz="1400" dirty="0"/>
          </a:p>
        </p:txBody>
      </p:sp>
      <p:sp>
        <p:nvSpPr>
          <p:cNvPr id="7" name="Text 5"/>
          <p:cNvSpPr/>
          <p:nvPr/>
        </p:nvSpPr>
        <p:spPr>
          <a:xfrm>
            <a:off x="1051560" y="2404872"/>
            <a:ext cx="5029200" cy="457200"/>
          </a:xfrm>
          <a:prstGeom prst="rect">
            <a:avLst/>
          </a:prstGeom>
          <a:noFill/>
          <a:ln/>
        </p:spPr>
        <p:txBody>
          <a:bodyPr wrap="square" lIns="0" tIns="0" rIns="0" bIns="0" rtlCol="0" anchor="t"/>
          <a:lstStyle/>
          <a:p>
            <a:pPr indent="0" marL="0">
              <a:buNone/>
            </a:pPr>
            <a:r>
              <a:rPr lang="en-US" sz="1600" dirty="0">
                <a:solidFill>
                  <a:srgbClr val="161617"/>
                </a:solidFill>
                <a:latin typeface="Calibri" pitchFamily="34" charset="0"/>
                <a:ea typeface="Calibri" pitchFamily="34" charset="-122"/>
                <a:cs typeface="Calibri" pitchFamily="34" charset="-120"/>
              </a:rPr>
              <a:t>Select tactical behavioural features only</a:t>
            </a:r>
            <a:endParaRPr lang="en-US" sz="1600" dirty="0"/>
          </a:p>
        </p:txBody>
      </p:sp>
      <p:sp>
        <p:nvSpPr>
          <p:cNvPr id="8" name="Text 6"/>
          <p:cNvSpPr/>
          <p:nvPr/>
        </p:nvSpPr>
        <p:spPr>
          <a:xfrm>
            <a:off x="685800" y="2953512"/>
            <a:ext cx="320040" cy="274320"/>
          </a:xfrm>
          <a:prstGeom prst="rect">
            <a:avLst/>
          </a:prstGeom>
          <a:noFill/>
          <a:ln/>
        </p:spPr>
        <p:txBody>
          <a:bodyPr wrap="square" lIns="0" tIns="0" rIns="0" bIns="0" rtlCol="0" anchor="t"/>
          <a:lstStyle/>
          <a:p>
            <a:pPr indent="0" marL="0">
              <a:buNone/>
            </a:pPr>
            <a:r>
              <a:rPr lang="en-US" sz="1400" b="1" dirty="0">
                <a:solidFill>
                  <a:srgbClr val="3568F0"/>
                </a:solidFill>
                <a:latin typeface="Calibri" pitchFamily="34" charset="0"/>
                <a:ea typeface="Calibri" pitchFamily="34" charset="-122"/>
                <a:cs typeface="Calibri" pitchFamily="34" charset="-120"/>
              </a:rPr>
              <a:t>3</a:t>
            </a:r>
            <a:endParaRPr lang="en-US" sz="1400" dirty="0"/>
          </a:p>
        </p:txBody>
      </p:sp>
      <p:sp>
        <p:nvSpPr>
          <p:cNvPr id="9" name="Text 7"/>
          <p:cNvSpPr/>
          <p:nvPr/>
        </p:nvSpPr>
        <p:spPr>
          <a:xfrm>
            <a:off x="1051560" y="2935224"/>
            <a:ext cx="5029200" cy="457200"/>
          </a:xfrm>
          <a:prstGeom prst="rect">
            <a:avLst/>
          </a:prstGeom>
          <a:noFill/>
          <a:ln/>
        </p:spPr>
        <p:txBody>
          <a:bodyPr wrap="square" lIns="0" tIns="0" rIns="0" bIns="0" rtlCol="0" anchor="t"/>
          <a:lstStyle/>
          <a:p>
            <a:pPr indent="0" marL="0">
              <a:buNone/>
            </a:pPr>
            <a:r>
              <a:rPr lang="en-US" sz="1600" dirty="0">
                <a:solidFill>
                  <a:srgbClr val="161617"/>
                </a:solidFill>
                <a:latin typeface="Calibri" pitchFamily="34" charset="0"/>
                <a:ea typeface="Calibri" pitchFamily="34" charset="-122"/>
                <a:cs typeface="Calibri" pitchFamily="34" charset="-120"/>
              </a:rPr>
              <a:t>Transform or skew-correct where needed</a:t>
            </a:r>
            <a:endParaRPr lang="en-US" sz="1600" dirty="0"/>
          </a:p>
        </p:txBody>
      </p:sp>
      <p:sp>
        <p:nvSpPr>
          <p:cNvPr id="10" name="Text 8"/>
          <p:cNvSpPr/>
          <p:nvPr/>
        </p:nvSpPr>
        <p:spPr>
          <a:xfrm>
            <a:off x="685800" y="3483864"/>
            <a:ext cx="320040" cy="274320"/>
          </a:xfrm>
          <a:prstGeom prst="rect">
            <a:avLst/>
          </a:prstGeom>
          <a:noFill/>
          <a:ln/>
        </p:spPr>
        <p:txBody>
          <a:bodyPr wrap="square" lIns="0" tIns="0" rIns="0" bIns="0" rtlCol="0" anchor="t"/>
          <a:lstStyle/>
          <a:p>
            <a:pPr indent="0" marL="0">
              <a:buNone/>
            </a:pPr>
            <a:r>
              <a:rPr lang="en-US" sz="1400" b="1" dirty="0">
                <a:solidFill>
                  <a:srgbClr val="3568F0"/>
                </a:solidFill>
                <a:latin typeface="Calibri" pitchFamily="34" charset="0"/>
                <a:ea typeface="Calibri" pitchFamily="34" charset="-122"/>
                <a:cs typeface="Calibri" pitchFamily="34" charset="-120"/>
              </a:rPr>
              <a:t>4</a:t>
            </a:r>
            <a:endParaRPr lang="en-US" sz="1400" dirty="0"/>
          </a:p>
        </p:txBody>
      </p:sp>
      <p:sp>
        <p:nvSpPr>
          <p:cNvPr id="11" name="Text 9"/>
          <p:cNvSpPr/>
          <p:nvPr/>
        </p:nvSpPr>
        <p:spPr>
          <a:xfrm>
            <a:off x="1051560" y="3465576"/>
            <a:ext cx="5029200" cy="457200"/>
          </a:xfrm>
          <a:prstGeom prst="rect">
            <a:avLst/>
          </a:prstGeom>
          <a:noFill/>
          <a:ln/>
        </p:spPr>
        <p:txBody>
          <a:bodyPr wrap="square" lIns="0" tIns="0" rIns="0" bIns="0" rtlCol="0" anchor="t"/>
          <a:lstStyle/>
          <a:p>
            <a:pPr indent="0" marL="0">
              <a:buNone/>
            </a:pPr>
            <a:r>
              <a:rPr lang="en-US" sz="1600" dirty="0">
                <a:solidFill>
                  <a:srgbClr val="161617"/>
                </a:solidFill>
                <a:latin typeface="Calibri" pitchFamily="34" charset="0"/>
                <a:ea typeface="Calibri" pitchFamily="34" charset="-122"/>
                <a:cs typeface="Calibri" pitchFamily="34" charset="-120"/>
              </a:rPr>
              <a:t>Clip extremes using stored bounds</a:t>
            </a:r>
            <a:endParaRPr lang="en-US" sz="1600" dirty="0"/>
          </a:p>
        </p:txBody>
      </p:sp>
      <p:sp>
        <p:nvSpPr>
          <p:cNvPr id="12" name="Text 10"/>
          <p:cNvSpPr/>
          <p:nvPr/>
        </p:nvSpPr>
        <p:spPr>
          <a:xfrm>
            <a:off x="685800" y="4014216"/>
            <a:ext cx="320040" cy="274320"/>
          </a:xfrm>
          <a:prstGeom prst="rect">
            <a:avLst/>
          </a:prstGeom>
          <a:noFill/>
          <a:ln/>
        </p:spPr>
        <p:txBody>
          <a:bodyPr wrap="square" lIns="0" tIns="0" rIns="0" bIns="0" rtlCol="0" anchor="t"/>
          <a:lstStyle/>
          <a:p>
            <a:pPr indent="0" marL="0">
              <a:buNone/>
            </a:pPr>
            <a:r>
              <a:rPr lang="en-US" sz="1400" b="1" dirty="0">
                <a:solidFill>
                  <a:srgbClr val="3568F0"/>
                </a:solidFill>
                <a:latin typeface="Calibri" pitchFamily="34" charset="0"/>
                <a:ea typeface="Calibri" pitchFamily="34" charset="-122"/>
                <a:cs typeface="Calibri" pitchFamily="34" charset="-120"/>
              </a:rPr>
              <a:t>5</a:t>
            </a:r>
            <a:endParaRPr lang="en-US" sz="1400" dirty="0"/>
          </a:p>
        </p:txBody>
      </p:sp>
      <p:sp>
        <p:nvSpPr>
          <p:cNvPr id="13" name="Text 11"/>
          <p:cNvSpPr/>
          <p:nvPr/>
        </p:nvSpPr>
        <p:spPr>
          <a:xfrm>
            <a:off x="1051560" y="3995928"/>
            <a:ext cx="5029200" cy="457200"/>
          </a:xfrm>
          <a:prstGeom prst="rect">
            <a:avLst/>
          </a:prstGeom>
          <a:noFill/>
          <a:ln/>
        </p:spPr>
        <p:txBody>
          <a:bodyPr wrap="square" lIns="0" tIns="0" rIns="0" bIns="0" rtlCol="0" anchor="t"/>
          <a:lstStyle/>
          <a:p>
            <a:pPr indent="0" marL="0">
              <a:buNone/>
            </a:pPr>
            <a:r>
              <a:rPr lang="en-US" sz="1600" dirty="0">
                <a:solidFill>
                  <a:srgbClr val="161617"/>
                </a:solidFill>
                <a:latin typeface="Calibri" pitchFamily="34" charset="0"/>
                <a:ea typeface="Calibri" pitchFamily="34" charset="-122"/>
                <a:cs typeface="Calibri" pitchFamily="34" charset="-120"/>
              </a:rPr>
              <a:t>Standardize features</a:t>
            </a:r>
            <a:endParaRPr lang="en-US" sz="1600" dirty="0"/>
          </a:p>
        </p:txBody>
      </p:sp>
      <p:sp>
        <p:nvSpPr>
          <p:cNvPr id="14" name="Text 12"/>
          <p:cNvSpPr/>
          <p:nvPr/>
        </p:nvSpPr>
        <p:spPr>
          <a:xfrm>
            <a:off x="685800" y="4544568"/>
            <a:ext cx="320040" cy="274320"/>
          </a:xfrm>
          <a:prstGeom prst="rect">
            <a:avLst/>
          </a:prstGeom>
          <a:noFill/>
          <a:ln/>
        </p:spPr>
        <p:txBody>
          <a:bodyPr wrap="square" lIns="0" tIns="0" rIns="0" bIns="0" rtlCol="0" anchor="t"/>
          <a:lstStyle/>
          <a:p>
            <a:pPr indent="0" marL="0">
              <a:buNone/>
            </a:pPr>
            <a:r>
              <a:rPr lang="en-US" sz="1400" b="1" dirty="0">
                <a:solidFill>
                  <a:srgbClr val="3568F0"/>
                </a:solidFill>
                <a:latin typeface="Calibri" pitchFamily="34" charset="0"/>
                <a:ea typeface="Calibri" pitchFamily="34" charset="-122"/>
                <a:cs typeface="Calibri" pitchFamily="34" charset="-120"/>
              </a:rPr>
              <a:t>6</a:t>
            </a:r>
            <a:endParaRPr lang="en-US" sz="1400" dirty="0"/>
          </a:p>
        </p:txBody>
      </p:sp>
      <p:sp>
        <p:nvSpPr>
          <p:cNvPr id="15" name="Text 13"/>
          <p:cNvSpPr/>
          <p:nvPr/>
        </p:nvSpPr>
        <p:spPr>
          <a:xfrm>
            <a:off x="1051560" y="4526280"/>
            <a:ext cx="5029200" cy="457200"/>
          </a:xfrm>
          <a:prstGeom prst="rect">
            <a:avLst/>
          </a:prstGeom>
          <a:noFill/>
          <a:ln/>
        </p:spPr>
        <p:txBody>
          <a:bodyPr wrap="square" lIns="0" tIns="0" rIns="0" bIns="0" rtlCol="0" anchor="t"/>
          <a:lstStyle/>
          <a:p>
            <a:pPr indent="0" marL="0">
              <a:buNone/>
            </a:pPr>
            <a:r>
              <a:rPr lang="en-US" sz="1600" dirty="0">
                <a:solidFill>
                  <a:srgbClr val="161617"/>
                </a:solidFill>
                <a:latin typeface="Calibri" pitchFamily="34" charset="0"/>
                <a:ea typeface="Calibri" pitchFamily="34" charset="-122"/>
                <a:cs typeface="Calibri" pitchFamily="34" charset="-120"/>
              </a:rPr>
              <a:t>Compare K-Means cluster counts</a:t>
            </a:r>
            <a:endParaRPr lang="en-US" sz="1600" dirty="0"/>
          </a:p>
        </p:txBody>
      </p:sp>
      <p:sp>
        <p:nvSpPr>
          <p:cNvPr id="16" name="Text 14"/>
          <p:cNvSpPr/>
          <p:nvPr/>
        </p:nvSpPr>
        <p:spPr>
          <a:xfrm>
            <a:off x="685800" y="5074920"/>
            <a:ext cx="320040" cy="274320"/>
          </a:xfrm>
          <a:prstGeom prst="rect">
            <a:avLst/>
          </a:prstGeom>
          <a:noFill/>
          <a:ln/>
        </p:spPr>
        <p:txBody>
          <a:bodyPr wrap="square" lIns="0" tIns="0" rIns="0" bIns="0" rtlCol="0" anchor="t"/>
          <a:lstStyle/>
          <a:p>
            <a:pPr indent="0" marL="0">
              <a:buNone/>
            </a:pPr>
            <a:r>
              <a:rPr lang="en-US" sz="1400" b="1" dirty="0">
                <a:solidFill>
                  <a:srgbClr val="3568F0"/>
                </a:solidFill>
                <a:latin typeface="Calibri" pitchFamily="34" charset="0"/>
                <a:ea typeface="Calibri" pitchFamily="34" charset="-122"/>
                <a:cs typeface="Calibri" pitchFamily="34" charset="-120"/>
              </a:rPr>
              <a:t>7</a:t>
            </a:r>
            <a:endParaRPr lang="en-US" sz="1400" dirty="0"/>
          </a:p>
        </p:txBody>
      </p:sp>
      <p:sp>
        <p:nvSpPr>
          <p:cNvPr id="17" name="Text 15"/>
          <p:cNvSpPr/>
          <p:nvPr/>
        </p:nvSpPr>
        <p:spPr>
          <a:xfrm>
            <a:off x="1051560" y="5056632"/>
            <a:ext cx="5029200" cy="457200"/>
          </a:xfrm>
          <a:prstGeom prst="rect">
            <a:avLst/>
          </a:prstGeom>
          <a:noFill/>
          <a:ln/>
        </p:spPr>
        <p:txBody>
          <a:bodyPr wrap="square" lIns="0" tIns="0" rIns="0" bIns="0" rtlCol="0" anchor="t"/>
          <a:lstStyle/>
          <a:p>
            <a:pPr indent="0" marL="0">
              <a:buNone/>
            </a:pPr>
            <a:r>
              <a:rPr lang="en-US" sz="1600" dirty="0">
                <a:solidFill>
                  <a:srgbClr val="161617"/>
                </a:solidFill>
                <a:latin typeface="Calibri" pitchFamily="34" charset="0"/>
                <a:ea typeface="Calibri" pitchFamily="34" charset="-122"/>
                <a:cs typeface="Calibri" pitchFamily="34" charset="-120"/>
              </a:rPr>
              <a:t>Assess silhouette, stability and minimum cluster size</a:t>
            </a:r>
            <a:endParaRPr lang="en-US" sz="1600" dirty="0"/>
          </a:p>
        </p:txBody>
      </p:sp>
      <p:sp>
        <p:nvSpPr>
          <p:cNvPr id="18" name="Text 16"/>
          <p:cNvSpPr/>
          <p:nvPr/>
        </p:nvSpPr>
        <p:spPr>
          <a:xfrm>
            <a:off x="685800" y="5605272"/>
            <a:ext cx="320040" cy="274320"/>
          </a:xfrm>
          <a:prstGeom prst="rect">
            <a:avLst/>
          </a:prstGeom>
          <a:noFill/>
          <a:ln/>
        </p:spPr>
        <p:txBody>
          <a:bodyPr wrap="square" lIns="0" tIns="0" rIns="0" bIns="0" rtlCol="0" anchor="t"/>
          <a:lstStyle/>
          <a:p>
            <a:pPr indent="0" marL="0">
              <a:buNone/>
            </a:pPr>
            <a:r>
              <a:rPr lang="en-US" sz="1400" b="1" dirty="0">
                <a:solidFill>
                  <a:srgbClr val="3568F0"/>
                </a:solidFill>
                <a:latin typeface="Calibri" pitchFamily="34" charset="0"/>
                <a:ea typeface="Calibri" pitchFamily="34" charset="-122"/>
                <a:cs typeface="Calibri" pitchFamily="34" charset="-120"/>
              </a:rPr>
              <a:t>8</a:t>
            </a:r>
            <a:endParaRPr lang="en-US" sz="1400" dirty="0"/>
          </a:p>
        </p:txBody>
      </p:sp>
      <p:sp>
        <p:nvSpPr>
          <p:cNvPr id="19" name="Text 17"/>
          <p:cNvSpPr/>
          <p:nvPr/>
        </p:nvSpPr>
        <p:spPr>
          <a:xfrm>
            <a:off x="1051560" y="5586984"/>
            <a:ext cx="5029200" cy="457200"/>
          </a:xfrm>
          <a:prstGeom prst="rect">
            <a:avLst/>
          </a:prstGeom>
          <a:noFill/>
          <a:ln/>
        </p:spPr>
        <p:txBody>
          <a:bodyPr wrap="square" lIns="0" tIns="0" rIns="0" bIns="0" rtlCol="0" anchor="t"/>
          <a:lstStyle/>
          <a:p>
            <a:pPr indent="0" marL="0">
              <a:buNone/>
            </a:pPr>
            <a:r>
              <a:rPr lang="en-US" sz="1600" dirty="0">
                <a:solidFill>
                  <a:srgbClr val="161617"/>
                </a:solidFill>
                <a:latin typeface="Calibri" pitchFamily="34" charset="0"/>
                <a:ea typeface="Calibri" pitchFamily="34" charset="-122"/>
                <a:cs typeface="Calibri" pitchFamily="34" charset="-120"/>
              </a:rPr>
              <a:t>Fit a reusable pipeline, then assign descriptive labels</a:t>
            </a:r>
            <a:endParaRPr lang="en-US" sz="1600" dirty="0"/>
          </a:p>
        </p:txBody>
      </p:sp>
      <p:sp>
        <p:nvSpPr>
          <p:cNvPr id="20" name="Shape 18"/>
          <p:cNvSpPr/>
          <p:nvPr/>
        </p:nvSpPr>
        <p:spPr>
          <a:xfrm>
            <a:off x="6537960" y="1874520"/>
            <a:ext cx="4965192" cy="2148840"/>
          </a:xfrm>
          <a:prstGeom prst="roundRect">
            <a:avLst>
              <a:gd name="adj" fmla="val 2553"/>
            </a:avLst>
          </a:prstGeom>
          <a:solidFill>
            <a:srgbClr val="FFFFFF"/>
          </a:solidFill>
          <a:ln w="9525">
            <a:solidFill>
              <a:srgbClr val="FFFFFF"/>
            </a:solidFill>
            <a:prstDash val="solid"/>
          </a:ln>
        </p:spPr>
      </p:sp>
      <p:sp>
        <p:nvSpPr>
          <p:cNvPr id="21" name="Text 19"/>
          <p:cNvSpPr/>
          <p:nvPr/>
        </p:nvSpPr>
        <p:spPr>
          <a:xfrm>
            <a:off x="6812280" y="2057400"/>
            <a:ext cx="4389120" cy="384048"/>
          </a:xfrm>
          <a:prstGeom prst="rect">
            <a:avLst/>
          </a:prstGeom>
          <a:noFill/>
          <a:ln/>
        </p:spPr>
        <p:txBody>
          <a:bodyPr wrap="square" lIns="0" tIns="0" rIns="0" bIns="0" rtlCol="0" anchor="t"/>
          <a:lstStyle/>
          <a:p>
            <a:pPr indent="0" marL="0">
              <a:buNone/>
            </a:pPr>
            <a:r>
              <a:rPr lang="en-US" sz="2400" b="1" dirty="0">
                <a:solidFill>
                  <a:srgbClr val="3568F0"/>
                </a:solidFill>
                <a:latin typeface="Calibri" pitchFamily="34" charset="0"/>
                <a:ea typeface="Calibri" pitchFamily="34" charset="-122"/>
                <a:cs typeface="Calibri" pitchFamily="34" charset="-120"/>
              </a:rPr>
              <a:t>Current snapshot</a:t>
            </a:r>
            <a:endParaRPr lang="en-US" sz="2400" dirty="0"/>
          </a:p>
        </p:txBody>
      </p:sp>
      <p:sp>
        <p:nvSpPr>
          <p:cNvPr id="22" name="Text 20"/>
          <p:cNvSpPr/>
          <p:nvPr/>
        </p:nvSpPr>
        <p:spPr>
          <a:xfrm>
            <a:off x="6812280" y="2578608"/>
            <a:ext cx="2148840" cy="566928"/>
          </a:xfrm>
          <a:prstGeom prst="rect">
            <a:avLst/>
          </a:prstGeom>
          <a:noFill/>
          <a:ln/>
        </p:spPr>
        <p:txBody>
          <a:bodyPr wrap="square" lIns="0" tIns="0" rIns="0" bIns="0" rtlCol="0" anchor="t"/>
          <a:lstStyle/>
          <a:p>
            <a:pPr indent="0" marL="0">
              <a:buNone/>
            </a:pPr>
            <a:r>
              <a:rPr lang="en-US" sz="2400" b="1" dirty="0">
                <a:solidFill>
                  <a:srgbClr val="161617"/>
                </a:solidFill>
                <a:latin typeface="Calibri" pitchFamily="34" charset="0"/>
                <a:ea typeface="Calibri" pitchFamily="34" charset="-122"/>
                <a:cs typeface="Calibri" pitchFamily="34" charset="-120"/>
              </a:rPr>
              <a:t>10,680</a:t>
            </a:r>
            <a:endParaRPr lang="en-US" sz="2400" dirty="0"/>
          </a:p>
        </p:txBody>
      </p:sp>
      <p:sp>
        <p:nvSpPr>
          <p:cNvPr id="23" name="Text 21"/>
          <p:cNvSpPr/>
          <p:nvPr/>
        </p:nvSpPr>
        <p:spPr>
          <a:xfrm>
            <a:off x="6812280" y="2907792"/>
            <a:ext cx="2148840" cy="384048"/>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eligible attacking possessions</a:t>
            </a:r>
            <a:endParaRPr lang="en-US" sz="1400" dirty="0"/>
          </a:p>
        </p:txBody>
      </p:sp>
      <p:sp>
        <p:nvSpPr>
          <p:cNvPr id="24" name="Text 22"/>
          <p:cNvSpPr/>
          <p:nvPr/>
        </p:nvSpPr>
        <p:spPr>
          <a:xfrm>
            <a:off x="9098280" y="2578608"/>
            <a:ext cx="2148840" cy="566928"/>
          </a:xfrm>
          <a:prstGeom prst="rect">
            <a:avLst/>
          </a:prstGeom>
          <a:noFill/>
          <a:ln/>
        </p:spPr>
        <p:txBody>
          <a:bodyPr wrap="square" lIns="0" tIns="0" rIns="0" bIns="0" rtlCol="0" anchor="t"/>
          <a:lstStyle/>
          <a:p>
            <a:pPr indent="0" marL="0">
              <a:buNone/>
            </a:pPr>
            <a:r>
              <a:rPr lang="en-US" sz="2400" b="1" dirty="0">
                <a:solidFill>
                  <a:srgbClr val="161617"/>
                </a:solidFill>
                <a:latin typeface="Calibri" pitchFamily="34" charset="0"/>
                <a:ea typeface="Calibri" pitchFamily="34" charset="-122"/>
                <a:cs typeface="Calibri" pitchFamily="34" charset="-120"/>
              </a:rPr>
              <a:t>336</a:t>
            </a:r>
            <a:endParaRPr lang="en-US" sz="2400" dirty="0"/>
          </a:p>
        </p:txBody>
      </p:sp>
      <p:sp>
        <p:nvSpPr>
          <p:cNvPr id="25" name="Text 23"/>
          <p:cNvSpPr/>
          <p:nvPr/>
        </p:nvSpPr>
        <p:spPr>
          <a:xfrm>
            <a:off x="9098280" y="2907792"/>
            <a:ext cx="2148840" cy="384048"/>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excluded — no attacking action</a:t>
            </a:r>
            <a:endParaRPr lang="en-US" sz="1400" dirty="0"/>
          </a:p>
        </p:txBody>
      </p:sp>
      <p:sp>
        <p:nvSpPr>
          <p:cNvPr id="26" name="Text 24"/>
          <p:cNvSpPr/>
          <p:nvPr/>
        </p:nvSpPr>
        <p:spPr>
          <a:xfrm>
            <a:off x="6812280" y="3328416"/>
            <a:ext cx="2148840" cy="566928"/>
          </a:xfrm>
          <a:prstGeom prst="rect">
            <a:avLst/>
          </a:prstGeom>
          <a:noFill/>
          <a:ln/>
        </p:spPr>
        <p:txBody>
          <a:bodyPr wrap="square" lIns="0" tIns="0" rIns="0" bIns="0" rtlCol="0" anchor="t"/>
          <a:lstStyle/>
          <a:p>
            <a:pPr indent="0" marL="0">
              <a:buNone/>
            </a:pPr>
            <a:r>
              <a:rPr lang="en-US" sz="2400" b="1" dirty="0">
                <a:solidFill>
                  <a:srgbClr val="161617"/>
                </a:solidFill>
                <a:latin typeface="Calibri" pitchFamily="34" charset="0"/>
                <a:ea typeface="Calibri" pitchFamily="34" charset="-122"/>
                <a:cs typeface="Calibri" pitchFamily="34" charset="-120"/>
              </a:rPr>
              <a:t>3</a:t>
            </a:r>
            <a:endParaRPr lang="en-US" sz="2400" dirty="0"/>
          </a:p>
        </p:txBody>
      </p:sp>
      <p:sp>
        <p:nvSpPr>
          <p:cNvPr id="27" name="Text 25"/>
          <p:cNvSpPr/>
          <p:nvPr/>
        </p:nvSpPr>
        <p:spPr>
          <a:xfrm>
            <a:off x="6812280" y="3657600"/>
            <a:ext cx="2148840" cy="384048"/>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clusters selected</a:t>
            </a:r>
            <a:endParaRPr lang="en-US" sz="1400" dirty="0"/>
          </a:p>
        </p:txBody>
      </p:sp>
      <p:sp>
        <p:nvSpPr>
          <p:cNvPr id="28" name="Text 26"/>
          <p:cNvSpPr/>
          <p:nvPr/>
        </p:nvSpPr>
        <p:spPr>
          <a:xfrm>
            <a:off x="9098280" y="3328416"/>
            <a:ext cx="2148840" cy="566928"/>
          </a:xfrm>
          <a:prstGeom prst="rect">
            <a:avLst/>
          </a:prstGeom>
          <a:noFill/>
          <a:ln/>
        </p:spPr>
        <p:txBody>
          <a:bodyPr wrap="square" lIns="0" tIns="0" rIns="0" bIns="0" rtlCol="0" anchor="t"/>
          <a:lstStyle/>
          <a:p>
            <a:pPr indent="0" marL="0">
              <a:buNone/>
            </a:pPr>
            <a:r>
              <a:rPr lang="en-US" sz="2400" b="1" dirty="0">
                <a:solidFill>
                  <a:srgbClr val="161617"/>
                </a:solidFill>
                <a:latin typeface="Calibri" pitchFamily="34" charset="0"/>
                <a:ea typeface="Calibri" pitchFamily="34" charset="-122"/>
                <a:cs typeface="Calibri" pitchFamily="34" charset="-120"/>
              </a:rPr>
              <a:t>0.2470</a:t>
            </a:r>
            <a:endParaRPr lang="en-US" sz="2400" dirty="0"/>
          </a:p>
        </p:txBody>
      </p:sp>
      <p:sp>
        <p:nvSpPr>
          <p:cNvPr id="29" name="Text 27"/>
          <p:cNvSpPr/>
          <p:nvPr/>
        </p:nvSpPr>
        <p:spPr>
          <a:xfrm>
            <a:off x="9098280" y="3657600"/>
            <a:ext cx="2148840" cy="384048"/>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silhouette score</a:t>
            </a:r>
            <a:endParaRPr lang="en-US" sz="1400" dirty="0"/>
          </a:p>
        </p:txBody>
      </p:sp>
      <p:sp>
        <p:nvSpPr>
          <p:cNvPr id="30" name="Shape 28"/>
          <p:cNvSpPr/>
          <p:nvPr/>
        </p:nvSpPr>
        <p:spPr>
          <a:xfrm>
            <a:off x="6537960" y="4224528"/>
            <a:ext cx="4965192" cy="1874520"/>
          </a:xfrm>
          <a:prstGeom prst="roundRect">
            <a:avLst>
              <a:gd name="adj" fmla="val 2927"/>
            </a:avLst>
          </a:prstGeom>
          <a:solidFill>
            <a:srgbClr val="E3EAFD"/>
          </a:solidFill>
          <a:ln w="9525">
            <a:solidFill>
              <a:srgbClr val="E3EAFD"/>
            </a:solidFill>
            <a:prstDash val="solid"/>
          </a:ln>
        </p:spPr>
      </p:sp>
      <p:sp>
        <p:nvSpPr>
          <p:cNvPr id="31" name="Text 29"/>
          <p:cNvSpPr/>
          <p:nvPr/>
        </p:nvSpPr>
        <p:spPr>
          <a:xfrm>
            <a:off x="6812280" y="4425696"/>
            <a:ext cx="4416552" cy="237744"/>
          </a:xfrm>
          <a:prstGeom prst="rect">
            <a:avLst/>
          </a:prstGeom>
          <a:noFill/>
          <a:ln/>
        </p:spPr>
        <p:txBody>
          <a:bodyPr wrap="square" lIns="0" tIns="0" rIns="0" bIns="0" rtlCol="0" anchor="t"/>
          <a:lstStyle/>
          <a:p>
            <a:pPr indent="0" marL="0">
              <a:buNone/>
            </a:pPr>
            <a:r>
              <a:rPr lang="en-US" sz="1200" b="1" spc="140" kern="0" dirty="0">
                <a:solidFill>
                  <a:srgbClr val="3568F0"/>
                </a:solidFill>
                <a:latin typeface="Calibri" pitchFamily="34" charset="0"/>
                <a:ea typeface="Calibri" pitchFamily="34" charset="-122"/>
                <a:cs typeface="Calibri" pitchFamily="34" charset="-120"/>
              </a:rPr>
              <a:t>STABILITY ARI 0.9974</a:t>
            </a:r>
            <a:endParaRPr lang="en-US" sz="1200" dirty="0"/>
          </a:p>
        </p:txBody>
      </p:sp>
      <p:sp>
        <p:nvSpPr>
          <p:cNvPr id="32" name="Text 30"/>
          <p:cNvSpPr/>
          <p:nvPr/>
        </p:nvSpPr>
        <p:spPr>
          <a:xfrm>
            <a:off x="6812280" y="4754880"/>
            <a:ext cx="4416552" cy="1207008"/>
          </a:xfrm>
          <a:prstGeom prst="rect">
            <a:avLst/>
          </a:prstGeom>
          <a:noFill/>
          <a:ln/>
        </p:spPr>
        <p:txBody>
          <a:bodyPr wrap="square" lIns="0" tIns="0" rIns="0" bIns="0" rtlCol="0" anchor="t"/>
          <a:lstStyle/>
          <a:p>
            <a:pPr indent="0" marL="0">
              <a:lnSpc>
                <a:spcPts val="2000"/>
              </a:lnSpc>
              <a:buNone/>
            </a:pPr>
            <a:r>
              <a:rPr lang="en-US" sz="1600" dirty="0">
                <a:solidFill>
                  <a:srgbClr val="161617"/>
                </a:solidFill>
                <a:latin typeface="Calibri" pitchFamily="34" charset="0"/>
                <a:ea typeface="Calibri" pitchFamily="34" charset="-122"/>
                <a:cs typeface="Calibri" pitchFamily="34" charset="-120"/>
              </a:rPr>
              <a:t>Repeated fits return nearly identical assignments. But a modest silhouette means the groups overlap — treat them as tendencies, not natural laws.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11 / 28 · ATTACKING STYLES</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The current attacking map contains three overlapping styles</a:t>
            </a:r>
            <a:endParaRPr lang="en-US" sz="3500" dirty="0"/>
          </a:p>
        </p:txBody>
      </p:sp>
      <p:sp>
        <p:nvSpPr>
          <p:cNvPr id="4" name="Shape 2"/>
          <p:cNvSpPr/>
          <p:nvPr/>
        </p:nvSpPr>
        <p:spPr>
          <a:xfrm>
            <a:off x="685800" y="1874520"/>
            <a:ext cx="5432474" cy="777240"/>
          </a:xfrm>
          <a:prstGeom prst="rect">
            <a:avLst/>
          </a:prstGeom>
          <a:solidFill>
            <a:srgbClr val="3568F0"/>
          </a:solidFill>
          <a:ln w="19050">
            <a:solidFill>
              <a:srgbClr val="F5F5F7"/>
            </a:solidFill>
            <a:prstDash val="solid"/>
          </a:ln>
        </p:spPr>
      </p:sp>
      <p:sp>
        <p:nvSpPr>
          <p:cNvPr id="5" name="Text 3"/>
          <p:cNvSpPr/>
          <p:nvPr/>
        </p:nvSpPr>
        <p:spPr>
          <a:xfrm>
            <a:off x="850392" y="2093976"/>
            <a:ext cx="5158154"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50.22%</a:t>
            </a:r>
            <a:endParaRPr lang="en-US" sz="2000" dirty="0"/>
          </a:p>
        </p:txBody>
      </p:sp>
      <p:sp>
        <p:nvSpPr>
          <p:cNvPr id="6" name="Shape 4"/>
          <p:cNvSpPr/>
          <p:nvPr/>
        </p:nvSpPr>
        <p:spPr>
          <a:xfrm>
            <a:off x="6118274" y="1874520"/>
            <a:ext cx="3738477" cy="777240"/>
          </a:xfrm>
          <a:prstGeom prst="rect">
            <a:avLst/>
          </a:prstGeom>
          <a:solidFill>
            <a:srgbClr val="7C9AF0"/>
          </a:solidFill>
          <a:ln w="19050">
            <a:solidFill>
              <a:srgbClr val="F5F5F7"/>
            </a:solidFill>
            <a:prstDash val="solid"/>
          </a:ln>
        </p:spPr>
      </p:sp>
      <p:sp>
        <p:nvSpPr>
          <p:cNvPr id="7" name="Text 5"/>
          <p:cNvSpPr/>
          <p:nvPr/>
        </p:nvSpPr>
        <p:spPr>
          <a:xfrm>
            <a:off x="6282866" y="2093976"/>
            <a:ext cx="3464157" cy="365760"/>
          </a:xfrm>
          <a:prstGeom prst="rect">
            <a:avLst/>
          </a:prstGeom>
          <a:noFill/>
          <a:ln/>
        </p:spPr>
        <p:txBody>
          <a:bodyPr wrap="square" lIns="0" tIns="0" rIns="0" bIns="0" rtlCol="0" anchor="t"/>
          <a:lstStyle/>
          <a:p>
            <a:pPr indent="0" marL="0">
              <a:buNone/>
            </a:pPr>
            <a:r>
              <a:rPr lang="en-US" sz="2000" b="1" dirty="0">
                <a:solidFill>
                  <a:srgbClr val="161617"/>
                </a:solidFill>
                <a:latin typeface="Calibri" pitchFamily="34" charset="0"/>
                <a:ea typeface="Calibri" pitchFamily="34" charset="-122"/>
                <a:cs typeface="Calibri" pitchFamily="34" charset="-120"/>
              </a:rPr>
              <a:t>34.56%</a:t>
            </a:r>
            <a:endParaRPr lang="en-US" sz="2000" dirty="0"/>
          </a:p>
        </p:txBody>
      </p:sp>
      <p:sp>
        <p:nvSpPr>
          <p:cNvPr id="8" name="Shape 6"/>
          <p:cNvSpPr/>
          <p:nvPr/>
        </p:nvSpPr>
        <p:spPr>
          <a:xfrm>
            <a:off x="9856751" y="1874520"/>
            <a:ext cx="1646401" cy="777240"/>
          </a:xfrm>
          <a:prstGeom prst="rect">
            <a:avLst/>
          </a:prstGeom>
          <a:solidFill>
            <a:srgbClr val="BCCBF7"/>
          </a:solidFill>
          <a:ln w="19050">
            <a:solidFill>
              <a:srgbClr val="F5F5F7"/>
            </a:solidFill>
            <a:prstDash val="solid"/>
          </a:ln>
        </p:spPr>
      </p:sp>
      <p:sp>
        <p:nvSpPr>
          <p:cNvPr id="9" name="Text 7"/>
          <p:cNvSpPr/>
          <p:nvPr/>
        </p:nvSpPr>
        <p:spPr>
          <a:xfrm>
            <a:off x="10021343" y="2093976"/>
            <a:ext cx="1372081" cy="365760"/>
          </a:xfrm>
          <a:prstGeom prst="rect">
            <a:avLst/>
          </a:prstGeom>
          <a:noFill/>
          <a:ln/>
        </p:spPr>
        <p:txBody>
          <a:bodyPr wrap="square" lIns="0" tIns="0" rIns="0" bIns="0" rtlCol="0" anchor="t"/>
          <a:lstStyle/>
          <a:p>
            <a:pPr indent="0" marL="0">
              <a:buNone/>
            </a:pPr>
            <a:r>
              <a:rPr lang="en-US" sz="2000" b="1" dirty="0">
                <a:solidFill>
                  <a:srgbClr val="161617"/>
                </a:solidFill>
                <a:latin typeface="Calibri" pitchFamily="34" charset="0"/>
                <a:ea typeface="Calibri" pitchFamily="34" charset="-122"/>
                <a:cs typeface="Calibri" pitchFamily="34" charset="-120"/>
              </a:rPr>
              <a:t>15.22%</a:t>
            </a:r>
            <a:endParaRPr lang="en-US" sz="2000" dirty="0"/>
          </a:p>
        </p:txBody>
      </p:sp>
      <p:sp>
        <p:nvSpPr>
          <p:cNvPr id="10" name="Shape 8"/>
          <p:cNvSpPr/>
          <p:nvPr/>
        </p:nvSpPr>
        <p:spPr>
          <a:xfrm>
            <a:off x="685800" y="2926080"/>
            <a:ext cx="3401568" cy="2331720"/>
          </a:xfrm>
          <a:prstGeom prst="roundRect">
            <a:avLst>
              <a:gd name="adj" fmla="val 2353"/>
            </a:avLst>
          </a:prstGeom>
          <a:solidFill>
            <a:srgbClr val="FFFFFF"/>
          </a:solidFill>
          <a:ln w="9525">
            <a:solidFill>
              <a:srgbClr val="FFFFFF"/>
            </a:solidFill>
            <a:prstDash val="solid"/>
          </a:ln>
        </p:spPr>
      </p:sp>
      <p:sp>
        <p:nvSpPr>
          <p:cNvPr id="11" name="Text 9"/>
          <p:cNvSpPr/>
          <p:nvPr/>
        </p:nvSpPr>
        <p:spPr>
          <a:xfrm>
            <a:off x="941832" y="3154680"/>
            <a:ext cx="2889504" cy="594360"/>
          </a:xfrm>
          <a:prstGeom prst="rect">
            <a:avLst/>
          </a:prstGeom>
          <a:noFill/>
          <a:ln/>
        </p:spPr>
        <p:txBody>
          <a:bodyPr wrap="square" lIns="0" tIns="0" rIns="0" bIns="0" rtlCol="0" anchor="t"/>
          <a:lstStyle/>
          <a:p>
            <a:pPr indent="0" marL="0">
              <a:lnSpc>
                <a:spcPts val="2400"/>
              </a:lnSpc>
              <a:buNone/>
            </a:pPr>
            <a:r>
              <a:rPr lang="en-US" sz="2000" b="1" dirty="0">
                <a:solidFill>
                  <a:srgbClr val="161617"/>
                </a:solidFill>
                <a:latin typeface="Calibri" pitchFamily="34" charset="0"/>
                <a:ea typeface="Calibri" pitchFamily="34" charset="-122"/>
                <a:cs typeface="Calibri" pitchFamily="34" charset="-120"/>
              </a:rPr>
              <a:t>Patient Build-up</a:t>
            </a:r>
            <a:endParaRPr lang="en-US" sz="2000" dirty="0"/>
          </a:p>
        </p:txBody>
      </p:sp>
      <p:sp>
        <p:nvSpPr>
          <p:cNvPr id="12" name="Text 10"/>
          <p:cNvSpPr/>
          <p:nvPr/>
        </p:nvSpPr>
        <p:spPr>
          <a:xfrm>
            <a:off x="941832" y="3749040"/>
            <a:ext cx="2889504" cy="292608"/>
          </a:xfrm>
          <a:prstGeom prst="rect">
            <a:avLst/>
          </a:prstGeom>
          <a:noFill/>
          <a:ln/>
        </p:spPr>
        <p:txBody>
          <a:bodyPr wrap="square" lIns="0" tIns="0" rIns="0" bIns="0" rtlCol="0" anchor="t"/>
          <a:lstStyle/>
          <a:p>
            <a:pPr indent="0" marL="0">
              <a:buNone/>
            </a:pPr>
            <a:r>
              <a:rPr lang="en-US" sz="1500" b="1" dirty="0">
                <a:solidFill>
                  <a:srgbClr val="3568F0"/>
                </a:solidFill>
                <a:latin typeface="Calibri" pitchFamily="34" charset="0"/>
                <a:ea typeface="Calibri" pitchFamily="34" charset="-122"/>
                <a:cs typeface="Calibri" pitchFamily="34" charset="-120"/>
              </a:rPr>
              <a:t>50.22%</a:t>
            </a:r>
            <a:endParaRPr lang="en-US" sz="1500" dirty="0"/>
          </a:p>
        </p:txBody>
      </p:sp>
      <p:sp>
        <p:nvSpPr>
          <p:cNvPr id="13" name="Text 11"/>
          <p:cNvSpPr/>
          <p:nvPr/>
        </p:nvSpPr>
        <p:spPr>
          <a:xfrm>
            <a:off x="941832" y="4160520"/>
            <a:ext cx="2889504" cy="914400"/>
          </a:xfrm>
          <a:prstGeom prst="rect">
            <a:avLst/>
          </a:prstGeom>
          <a:noFill/>
          <a:ln/>
        </p:spPr>
        <p:txBody>
          <a:bodyPr wrap="square" lIns="0" tIns="0" rIns="0" bIns="0" rtlCol="0" anchor="t"/>
          <a:lstStyle/>
          <a:p>
            <a:pPr marL="177800" indent="-177800">
              <a:lnSpc>
                <a:spcPts val="1952"/>
              </a:lnSpc>
              <a:spcAft>
                <a:spcPts val="500"/>
              </a:spcAft>
              <a:buSzPct val="100000"/>
              <a:buChar char="•"/>
            </a:pPr>
            <a:r>
              <a:rPr lang="en-US" sz="1600" dirty="0">
                <a:solidFill>
                  <a:srgbClr val="161617"/>
                </a:solidFill>
                <a:latin typeface="Calibri" pitchFamily="34" charset="0"/>
                <a:ea typeface="Calibri" pitchFamily="34" charset="-122"/>
                <a:cs typeface="Calibri" pitchFamily="34" charset="-120"/>
              </a:rPr>
              <a:t>Longer duration</a:t>
            </a:r>
            <a:endParaRPr lang="en-US" sz="1600" dirty="0"/>
          </a:p>
          <a:p>
            <a:pPr marL="177800" indent="-177800">
              <a:lnSpc>
                <a:spcPts val="1952"/>
              </a:lnSpc>
              <a:spcAft>
                <a:spcPts val="500"/>
              </a:spcAft>
              <a:buSzPct val="100000"/>
              <a:buChar char="•"/>
            </a:pPr>
            <a:r>
              <a:rPr lang="en-US" sz="1600" dirty="0">
                <a:solidFill>
                  <a:srgbClr val="161617"/>
                </a:solidFill>
                <a:latin typeface="Calibri" pitchFamily="34" charset="0"/>
                <a:ea typeface="Calibri" pitchFamily="34" charset="-122"/>
                <a:cs typeface="Calibri" pitchFamily="34" charset="-120"/>
              </a:rPr>
              <a:t>Wider span</a:t>
            </a:r>
            <a:endParaRPr lang="en-US" sz="1600" dirty="0"/>
          </a:p>
          <a:p>
            <a:pPr marL="177800" indent="-177800">
              <a:lnSpc>
                <a:spcPts val="1952"/>
              </a:lnSpc>
              <a:spcAft>
                <a:spcPts val="500"/>
              </a:spcAft>
              <a:buSzPct val="100000"/>
              <a:buChar char="•"/>
            </a:pPr>
            <a:r>
              <a:rPr lang="en-US" sz="1600" dirty="0">
                <a:solidFill>
                  <a:srgbClr val="161617"/>
                </a:solidFill>
                <a:latin typeface="Calibri" pitchFamily="34" charset="0"/>
                <a:ea typeface="Calibri" pitchFamily="34" charset="-122"/>
                <a:cs typeface="Calibri" pitchFamily="34" charset="-120"/>
              </a:rPr>
              <a:t>More carrying</a:t>
            </a:r>
            <a:endParaRPr lang="en-US" sz="1600" dirty="0"/>
          </a:p>
        </p:txBody>
      </p:sp>
      <p:sp>
        <p:nvSpPr>
          <p:cNvPr id="14" name="Shape 12"/>
          <p:cNvSpPr/>
          <p:nvPr/>
        </p:nvSpPr>
        <p:spPr>
          <a:xfrm>
            <a:off x="4361688" y="2926080"/>
            <a:ext cx="3401568" cy="2331720"/>
          </a:xfrm>
          <a:prstGeom prst="roundRect">
            <a:avLst>
              <a:gd name="adj" fmla="val 2353"/>
            </a:avLst>
          </a:prstGeom>
          <a:solidFill>
            <a:srgbClr val="FFFFFF"/>
          </a:solidFill>
          <a:ln w="9525">
            <a:solidFill>
              <a:srgbClr val="FFFFFF"/>
            </a:solidFill>
            <a:prstDash val="solid"/>
          </a:ln>
        </p:spPr>
      </p:sp>
      <p:sp>
        <p:nvSpPr>
          <p:cNvPr id="15" name="Text 13"/>
          <p:cNvSpPr/>
          <p:nvPr/>
        </p:nvSpPr>
        <p:spPr>
          <a:xfrm>
            <a:off x="4617720" y="3154680"/>
            <a:ext cx="2889504" cy="594360"/>
          </a:xfrm>
          <a:prstGeom prst="rect">
            <a:avLst/>
          </a:prstGeom>
          <a:noFill/>
          <a:ln/>
        </p:spPr>
        <p:txBody>
          <a:bodyPr wrap="square" lIns="0" tIns="0" rIns="0" bIns="0" rtlCol="0" anchor="t"/>
          <a:lstStyle/>
          <a:p>
            <a:pPr indent="0" marL="0">
              <a:lnSpc>
                <a:spcPts val="2400"/>
              </a:lnSpc>
              <a:buNone/>
            </a:pPr>
            <a:r>
              <a:rPr lang="en-US" sz="2000" b="1" dirty="0">
                <a:solidFill>
                  <a:srgbClr val="161617"/>
                </a:solidFill>
                <a:latin typeface="Calibri" pitchFamily="34" charset="0"/>
                <a:ea typeface="Calibri" pitchFamily="34" charset="-122"/>
                <a:cs typeface="Calibri" pitchFamily="34" charset="-120"/>
              </a:rPr>
              <a:t>Short Under Pressure</a:t>
            </a:r>
            <a:endParaRPr lang="en-US" sz="2000" dirty="0"/>
          </a:p>
        </p:txBody>
      </p:sp>
      <p:sp>
        <p:nvSpPr>
          <p:cNvPr id="16" name="Text 14"/>
          <p:cNvSpPr/>
          <p:nvPr/>
        </p:nvSpPr>
        <p:spPr>
          <a:xfrm>
            <a:off x="4617720" y="3749040"/>
            <a:ext cx="2889504" cy="292608"/>
          </a:xfrm>
          <a:prstGeom prst="rect">
            <a:avLst/>
          </a:prstGeom>
          <a:noFill/>
          <a:ln/>
        </p:spPr>
        <p:txBody>
          <a:bodyPr wrap="square" lIns="0" tIns="0" rIns="0" bIns="0" rtlCol="0" anchor="t"/>
          <a:lstStyle/>
          <a:p>
            <a:pPr indent="0" marL="0">
              <a:buNone/>
            </a:pPr>
            <a:r>
              <a:rPr lang="en-US" sz="1500" b="1" dirty="0">
                <a:solidFill>
                  <a:srgbClr val="3568F0"/>
                </a:solidFill>
                <a:latin typeface="Calibri" pitchFamily="34" charset="0"/>
                <a:ea typeface="Calibri" pitchFamily="34" charset="-122"/>
                <a:cs typeface="Calibri" pitchFamily="34" charset="-120"/>
              </a:rPr>
              <a:t>34.56%</a:t>
            </a:r>
            <a:endParaRPr lang="en-US" sz="1500" dirty="0"/>
          </a:p>
        </p:txBody>
      </p:sp>
      <p:sp>
        <p:nvSpPr>
          <p:cNvPr id="17" name="Text 15"/>
          <p:cNvSpPr/>
          <p:nvPr/>
        </p:nvSpPr>
        <p:spPr>
          <a:xfrm>
            <a:off x="4617720" y="4160520"/>
            <a:ext cx="2889504" cy="914400"/>
          </a:xfrm>
          <a:prstGeom prst="rect">
            <a:avLst/>
          </a:prstGeom>
          <a:noFill/>
          <a:ln/>
        </p:spPr>
        <p:txBody>
          <a:bodyPr wrap="square" lIns="0" tIns="0" rIns="0" bIns="0" rtlCol="0" anchor="t"/>
          <a:lstStyle/>
          <a:p>
            <a:pPr marL="177800" indent="-177800">
              <a:lnSpc>
                <a:spcPts val="1952"/>
              </a:lnSpc>
              <a:spcAft>
                <a:spcPts val="500"/>
              </a:spcAft>
              <a:buSzPct val="100000"/>
              <a:buChar char="•"/>
            </a:pPr>
            <a:r>
              <a:rPr lang="en-US" sz="1600" dirty="0">
                <a:solidFill>
                  <a:srgbClr val="161617"/>
                </a:solidFill>
                <a:latin typeface="Calibri" pitchFamily="34" charset="0"/>
                <a:ea typeface="Calibri" pitchFamily="34" charset="-122"/>
                <a:cs typeface="Calibri" pitchFamily="34" charset="-120"/>
              </a:rPr>
              <a:t>Less progression</a:t>
            </a:r>
            <a:endParaRPr lang="en-US" sz="1600" dirty="0"/>
          </a:p>
          <a:p>
            <a:pPr marL="177800" indent="-177800">
              <a:lnSpc>
                <a:spcPts val="1952"/>
              </a:lnSpc>
              <a:spcAft>
                <a:spcPts val="500"/>
              </a:spcAft>
              <a:buSzPct val="100000"/>
              <a:buChar char="•"/>
            </a:pPr>
            <a:r>
              <a:rPr lang="en-US" sz="1600" dirty="0">
                <a:solidFill>
                  <a:srgbClr val="161617"/>
                </a:solidFill>
                <a:latin typeface="Calibri" pitchFamily="34" charset="0"/>
                <a:ea typeface="Calibri" pitchFamily="34" charset="-122"/>
                <a:cs typeface="Calibri" pitchFamily="34" charset="-120"/>
              </a:rPr>
              <a:t>Shorter duration</a:t>
            </a:r>
            <a:endParaRPr lang="en-US" sz="1600" dirty="0"/>
          </a:p>
          <a:p>
            <a:pPr marL="177800" indent="-177800">
              <a:lnSpc>
                <a:spcPts val="1952"/>
              </a:lnSpc>
              <a:spcAft>
                <a:spcPts val="500"/>
              </a:spcAft>
              <a:buSzPct val="100000"/>
              <a:buChar char="•"/>
            </a:pPr>
            <a:r>
              <a:rPr lang="en-US" sz="1600" dirty="0">
                <a:solidFill>
                  <a:srgbClr val="161617"/>
                </a:solidFill>
                <a:latin typeface="Calibri" pitchFamily="34" charset="0"/>
                <a:ea typeface="Calibri" pitchFamily="34" charset="-122"/>
                <a:cs typeface="Calibri" pitchFamily="34" charset="-120"/>
              </a:rPr>
              <a:t>Narrower span</a:t>
            </a:r>
            <a:endParaRPr lang="en-US" sz="1600" dirty="0"/>
          </a:p>
        </p:txBody>
      </p:sp>
      <p:sp>
        <p:nvSpPr>
          <p:cNvPr id="18" name="Shape 16"/>
          <p:cNvSpPr/>
          <p:nvPr/>
        </p:nvSpPr>
        <p:spPr>
          <a:xfrm>
            <a:off x="8037576" y="2926080"/>
            <a:ext cx="3401568" cy="2331720"/>
          </a:xfrm>
          <a:prstGeom prst="roundRect">
            <a:avLst>
              <a:gd name="adj" fmla="val 2353"/>
            </a:avLst>
          </a:prstGeom>
          <a:solidFill>
            <a:srgbClr val="FFFFFF"/>
          </a:solidFill>
          <a:ln w="9525">
            <a:solidFill>
              <a:srgbClr val="FFFFFF"/>
            </a:solidFill>
            <a:prstDash val="solid"/>
          </a:ln>
        </p:spPr>
      </p:sp>
      <p:sp>
        <p:nvSpPr>
          <p:cNvPr id="19" name="Text 17"/>
          <p:cNvSpPr/>
          <p:nvPr/>
        </p:nvSpPr>
        <p:spPr>
          <a:xfrm>
            <a:off x="8293608" y="3154680"/>
            <a:ext cx="2889504" cy="594360"/>
          </a:xfrm>
          <a:prstGeom prst="rect">
            <a:avLst/>
          </a:prstGeom>
          <a:noFill/>
          <a:ln/>
        </p:spPr>
        <p:txBody>
          <a:bodyPr wrap="square" lIns="0" tIns="0" rIns="0" bIns="0" rtlCol="0" anchor="t"/>
          <a:lstStyle/>
          <a:p>
            <a:pPr indent="0" marL="0">
              <a:lnSpc>
                <a:spcPts val="2400"/>
              </a:lnSpc>
              <a:buNone/>
            </a:pPr>
            <a:r>
              <a:rPr lang="en-US" sz="2000" b="1" dirty="0">
                <a:solidFill>
                  <a:srgbClr val="161617"/>
                </a:solidFill>
                <a:latin typeface="Calibri" pitchFamily="34" charset="0"/>
                <a:ea typeface="Calibri" pitchFamily="34" charset="-122"/>
                <a:cs typeface="Calibri" pitchFamily="34" charset="-120"/>
              </a:rPr>
              <a:t>Direct Long Play</a:t>
            </a:r>
            <a:endParaRPr lang="en-US" sz="2000" dirty="0"/>
          </a:p>
        </p:txBody>
      </p:sp>
      <p:sp>
        <p:nvSpPr>
          <p:cNvPr id="20" name="Text 18"/>
          <p:cNvSpPr/>
          <p:nvPr/>
        </p:nvSpPr>
        <p:spPr>
          <a:xfrm>
            <a:off x="8293608" y="3749040"/>
            <a:ext cx="2889504" cy="292608"/>
          </a:xfrm>
          <a:prstGeom prst="rect">
            <a:avLst/>
          </a:prstGeom>
          <a:noFill/>
          <a:ln/>
        </p:spPr>
        <p:txBody>
          <a:bodyPr wrap="square" lIns="0" tIns="0" rIns="0" bIns="0" rtlCol="0" anchor="t"/>
          <a:lstStyle/>
          <a:p>
            <a:pPr indent="0" marL="0">
              <a:buNone/>
            </a:pPr>
            <a:r>
              <a:rPr lang="en-US" sz="1500" b="1" dirty="0">
                <a:solidFill>
                  <a:srgbClr val="3568F0"/>
                </a:solidFill>
                <a:latin typeface="Calibri" pitchFamily="34" charset="0"/>
                <a:ea typeface="Calibri" pitchFamily="34" charset="-122"/>
                <a:cs typeface="Calibri" pitchFamily="34" charset="-120"/>
              </a:rPr>
              <a:t>15.22%</a:t>
            </a:r>
            <a:endParaRPr lang="en-US" sz="1500" dirty="0"/>
          </a:p>
        </p:txBody>
      </p:sp>
      <p:sp>
        <p:nvSpPr>
          <p:cNvPr id="21" name="Text 19"/>
          <p:cNvSpPr/>
          <p:nvPr/>
        </p:nvSpPr>
        <p:spPr>
          <a:xfrm>
            <a:off x="8293608" y="4160520"/>
            <a:ext cx="2889504" cy="914400"/>
          </a:xfrm>
          <a:prstGeom prst="rect">
            <a:avLst/>
          </a:prstGeom>
          <a:noFill/>
          <a:ln/>
        </p:spPr>
        <p:txBody>
          <a:bodyPr wrap="square" lIns="0" tIns="0" rIns="0" bIns="0" rtlCol="0" anchor="t"/>
          <a:lstStyle/>
          <a:p>
            <a:pPr marL="177800" indent="-177800">
              <a:lnSpc>
                <a:spcPts val="1952"/>
              </a:lnSpc>
              <a:spcAft>
                <a:spcPts val="500"/>
              </a:spcAft>
              <a:buSzPct val="100000"/>
              <a:buChar char="•"/>
            </a:pPr>
            <a:r>
              <a:rPr lang="en-US" sz="1600" dirty="0">
                <a:solidFill>
                  <a:srgbClr val="161617"/>
                </a:solidFill>
                <a:latin typeface="Calibri" pitchFamily="34" charset="0"/>
                <a:ea typeface="Calibri" pitchFamily="34" charset="-122"/>
                <a:cs typeface="Calibri" pitchFamily="34" charset="-120"/>
              </a:rPr>
              <a:t>Faster progression</a:t>
            </a:r>
            <a:endParaRPr lang="en-US" sz="1600" dirty="0"/>
          </a:p>
          <a:p>
            <a:pPr marL="177800" indent="-177800">
              <a:lnSpc>
                <a:spcPts val="1952"/>
              </a:lnSpc>
              <a:spcAft>
                <a:spcPts val="500"/>
              </a:spcAft>
              <a:buSzPct val="100000"/>
              <a:buChar char="•"/>
            </a:pPr>
            <a:r>
              <a:rPr lang="en-US" sz="1600" dirty="0">
                <a:solidFill>
                  <a:srgbClr val="161617"/>
                </a:solidFill>
                <a:latin typeface="Calibri" pitchFamily="34" charset="0"/>
                <a:ea typeface="Calibri" pitchFamily="34" charset="-122"/>
                <a:cs typeface="Calibri" pitchFamily="34" charset="-120"/>
              </a:rPr>
              <a:t>More progressive passing</a:t>
            </a:r>
            <a:endParaRPr lang="en-US" sz="1600" dirty="0"/>
          </a:p>
          <a:p>
            <a:pPr marL="177800" indent="-177800">
              <a:lnSpc>
                <a:spcPts val="1952"/>
              </a:lnSpc>
              <a:spcAft>
                <a:spcPts val="500"/>
              </a:spcAft>
              <a:buSzPct val="100000"/>
              <a:buChar char="•"/>
            </a:pPr>
            <a:r>
              <a:rPr lang="en-US" sz="1600" dirty="0">
                <a:solidFill>
                  <a:srgbClr val="161617"/>
                </a:solidFill>
                <a:latin typeface="Calibri" pitchFamily="34" charset="0"/>
                <a:ea typeface="Calibri" pitchFamily="34" charset="-122"/>
                <a:cs typeface="Calibri" pitchFamily="34" charset="-120"/>
              </a:rPr>
              <a:t>Longer passes</a:t>
            </a:r>
            <a:endParaRPr lang="en-US" sz="1600" dirty="0"/>
          </a:p>
        </p:txBody>
      </p:sp>
      <p:sp>
        <p:nvSpPr>
          <p:cNvPr id="22" name="Shape 20"/>
          <p:cNvSpPr/>
          <p:nvPr/>
        </p:nvSpPr>
        <p:spPr>
          <a:xfrm>
            <a:off x="685800" y="5440680"/>
            <a:ext cx="10817352" cy="868680"/>
          </a:xfrm>
          <a:prstGeom prst="roundRect">
            <a:avLst>
              <a:gd name="adj" fmla="val 6316"/>
            </a:avLst>
          </a:prstGeom>
          <a:solidFill>
            <a:srgbClr val="ECECF0"/>
          </a:solidFill>
          <a:ln w="9525">
            <a:solidFill>
              <a:srgbClr val="ECECF0"/>
            </a:solidFill>
            <a:prstDash val="solid"/>
          </a:ln>
        </p:spPr>
      </p:sp>
      <p:sp>
        <p:nvSpPr>
          <p:cNvPr id="23" name="Text 21"/>
          <p:cNvSpPr/>
          <p:nvPr/>
        </p:nvSpPr>
        <p:spPr>
          <a:xfrm>
            <a:off x="960120" y="5641848"/>
            <a:ext cx="10268712" cy="530352"/>
          </a:xfrm>
          <a:prstGeom prst="rect">
            <a:avLst/>
          </a:prstGeom>
          <a:noFill/>
          <a:ln/>
        </p:spPr>
        <p:txBody>
          <a:bodyPr wrap="square" lIns="0" tIns="0" rIns="0" bIns="0" rtlCol="0" anchor="t"/>
          <a:lstStyle/>
          <a:p>
            <a:pPr indent="0" marL="0">
              <a:lnSpc>
                <a:spcPts val="2125"/>
              </a:lnSpc>
              <a:buNone/>
            </a:pPr>
            <a:r>
              <a:rPr lang="en-US" sz="1700" dirty="0">
                <a:solidFill>
                  <a:srgbClr val="161617"/>
                </a:solidFill>
                <a:latin typeface="Calibri" pitchFamily="34" charset="0"/>
                <a:ea typeface="Calibri" pitchFamily="34" charset="-122"/>
                <a:cs typeface="Calibri" pitchFamily="34" charset="-120"/>
              </a:rPr>
              <a:t>Current snapshot — cluster labels are analyst interpretations of centroid fingerprints. Not every possession fits a pure tactical category.</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12 / 28 · STAGE 3 DATA LAYER</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Stage 3 adds defensive shape from event-time 360 frames</a:t>
            </a:r>
            <a:endParaRPr lang="en-US" sz="3500" dirty="0"/>
          </a:p>
        </p:txBody>
      </p:sp>
      <p:sp>
        <p:nvSpPr>
          <p:cNvPr id="4" name="Text 2"/>
          <p:cNvSpPr/>
          <p:nvPr/>
        </p:nvSpPr>
        <p:spPr>
          <a:xfrm>
            <a:off x="685800" y="1874520"/>
            <a:ext cx="2514600" cy="566928"/>
          </a:xfrm>
          <a:prstGeom prst="rect">
            <a:avLst/>
          </a:prstGeom>
          <a:noFill/>
          <a:ln/>
        </p:spPr>
        <p:txBody>
          <a:bodyPr wrap="square" lIns="0" tIns="0" rIns="0" bIns="0" rtlCol="0" anchor="t"/>
          <a:lstStyle/>
          <a:p>
            <a:pPr indent="0" marL="0">
              <a:buNone/>
            </a:pPr>
            <a:r>
              <a:rPr lang="en-US" sz="2800" b="1" dirty="0">
                <a:solidFill>
                  <a:srgbClr val="161617"/>
                </a:solidFill>
                <a:latin typeface="Calibri" pitchFamily="34" charset="0"/>
                <a:ea typeface="Calibri" pitchFamily="34" charset="-122"/>
                <a:cs typeface="Calibri" pitchFamily="34" charset="-120"/>
              </a:rPr>
              <a:t>203,882</a:t>
            </a:r>
            <a:endParaRPr lang="en-US" sz="2800" dirty="0"/>
          </a:p>
        </p:txBody>
      </p:sp>
      <p:sp>
        <p:nvSpPr>
          <p:cNvPr id="5" name="Text 3"/>
          <p:cNvSpPr/>
          <p:nvPr/>
        </p:nvSpPr>
        <p:spPr>
          <a:xfrm>
            <a:off x="685800" y="2331720"/>
            <a:ext cx="2514600" cy="64008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cached event frames</a:t>
            </a:r>
            <a:endParaRPr lang="en-US" sz="1400" dirty="0"/>
          </a:p>
        </p:txBody>
      </p:sp>
      <p:sp>
        <p:nvSpPr>
          <p:cNvPr id="6" name="Text 4"/>
          <p:cNvSpPr/>
          <p:nvPr/>
        </p:nvSpPr>
        <p:spPr>
          <a:xfrm>
            <a:off x="3429000" y="1874520"/>
            <a:ext cx="2514600" cy="566928"/>
          </a:xfrm>
          <a:prstGeom prst="rect">
            <a:avLst/>
          </a:prstGeom>
          <a:noFill/>
          <a:ln/>
        </p:spPr>
        <p:txBody>
          <a:bodyPr wrap="square" lIns="0" tIns="0" rIns="0" bIns="0" rtlCol="0" anchor="t"/>
          <a:lstStyle/>
          <a:p>
            <a:pPr indent="0" marL="0">
              <a:buNone/>
            </a:pPr>
            <a:r>
              <a:rPr lang="en-US" sz="2800" b="1" dirty="0">
                <a:solidFill>
                  <a:srgbClr val="161617"/>
                </a:solidFill>
                <a:latin typeface="Calibri" pitchFamily="34" charset="0"/>
                <a:ea typeface="Calibri" pitchFamily="34" charset="-122"/>
                <a:cs typeface="Calibri" pitchFamily="34" charset="-120"/>
              </a:rPr>
              <a:t>3,084,800</a:t>
            </a:r>
            <a:endParaRPr lang="en-US" sz="2800" dirty="0"/>
          </a:p>
        </p:txBody>
      </p:sp>
      <p:sp>
        <p:nvSpPr>
          <p:cNvPr id="7" name="Text 5"/>
          <p:cNvSpPr/>
          <p:nvPr/>
        </p:nvSpPr>
        <p:spPr>
          <a:xfrm>
            <a:off x="3429000" y="2331720"/>
            <a:ext cx="2514600" cy="64008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player-location rows</a:t>
            </a:r>
            <a:endParaRPr lang="en-US" sz="1400" dirty="0"/>
          </a:p>
        </p:txBody>
      </p:sp>
      <p:sp>
        <p:nvSpPr>
          <p:cNvPr id="8" name="Text 6"/>
          <p:cNvSpPr/>
          <p:nvPr/>
        </p:nvSpPr>
        <p:spPr>
          <a:xfrm>
            <a:off x="6172200" y="1874520"/>
            <a:ext cx="2514600" cy="566928"/>
          </a:xfrm>
          <a:prstGeom prst="rect">
            <a:avLst/>
          </a:prstGeom>
          <a:noFill/>
          <a:ln/>
        </p:spPr>
        <p:txBody>
          <a:bodyPr wrap="square" lIns="0" tIns="0" rIns="0" bIns="0" rtlCol="0" anchor="t"/>
          <a:lstStyle/>
          <a:p>
            <a:pPr indent="0" marL="0">
              <a:buNone/>
            </a:pPr>
            <a:r>
              <a:rPr lang="en-US" sz="2800" b="1" dirty="0">
                <a:solidFill>
                  <a:srgbClr val="161617"/>
                </a:solidFill>
                <a:latin typeface="Calibri" pitchFamily="34" charset="0"/>
                <a:ea typeface="Calibri" pitchFamily="34" charset="-122"/>
                <a:cs typeface="Calibri" pitchFamily="34" charset="-120"/>
              </a:rPr>
              <a:t>203,495</a:t>
            </a:r>
            <a:endParaRPr lang="en-US" sz="2800" dirty="0"/>
          </a:p>
        </p:txBody>
      </p:sp>
      <p:sp>
        <p:nvSpPr>
          <p:cNvPr id="9" name="Text 7"/>
          <p:cNvSpPr/>
          <p:nvPr/>
        </p:nvSpPr>
        <p:spPr>
          <a:xfrm>
            <a:off x="6172200" y="2331720"/>
            <a:ext cx="2514600" cy="64008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frames with derived spatial metrics</a:t>
            </a:r>
            <a:endParaRPr lang="en-US" sz="1400" dirty="0"/>
          </a:p>
        </p:txBody>
      </p:sp>
      <p:sp>
        <p:nvSpPr>
          <p:cNvPr id="10" name="Text 8"/>
          <p:cNvSpPr/>
          <p:nvPr/>
        </p:nvSpPr>
        <p:spPr>
          <a:xfrm>
            <a:off x="8915400" y="1874520"/>
            <a:ext cx="2514600" cy="566928"/>
          </a:xfrm>
          <a:prstGeom prst="rect">
            <a:avLst/>
          </a:prstGeom>
          <a:noFill/>
          <a:ln/>
        </p:spPr>
        <p:txBody>
          <a:bodyPr wrap="square" lIns="0" tIns="0" rIns="0" bIns="0" rtlCol="0" anchor="t"/>
          <a:lstStyle/>
          <a:p>
            <a:pPr indent="0" marL="0">
              <a:buNone/>
            </a:pPr>
            <a:r>
              <a:rPr lang="en-US" sz="2800" b="1" dirty="0">
                <a:solidFill>
                  <a:srgbClr val="24775B"/>
                </a:solidFill>
                <a:latin typeface="Calibri" pitchFamily="34" charset="0"/>
                <a:ea typeface="Calibri" pitchFamily="34" charset="-122"/>
                <a:cs typeface="Calibri" pitchFamily="34" charset="-120"/>
              </a:rPr>
              <a:t>96.13%</a:t>
            </a:r>
            <a:endParaRPr lang="en-US" sz="2800" dirty="0"/>
          </a:p>
        </p:txBody>
      </p:sp>
      <p:sp>
        <p:nvSpPr>
          <p:cNvPr id="11" name="Text 9"/>
          <p:cNvSpPr/>
          <p:nvPr/>
        </p:nvSpPr>
        <p:spPr>
          <a:xfrm>
            <a:off x="8915400" y="2331720"/>
            <a:ext cx="2514600" cy="64008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of possessions have spatial frames (10,590)</a:t>
            </a:r>
            <a:endParaRPr lang="en-US" sz="1400" dirty="0"/>
          </a:p>
        </p:txBody>
      </p:sp>
      <p:sp>
        <p:nvSpPr>
          <p:cNvPr id="12" name="Shape 10"/>
          <p:cNvSpPr/>
          <p:nvPr/>
        </p:nvSpPr>
        <p:spPr>
          <a:xfrm>
            <a:off x="685800" y="3154680"/>
            <a:ext cx="5029200" cy="2606040"/>
          </a:xfrm>
          <a:prstGeom prst="rect">
            <a:avLst/>
          </a:prstGeom>
          <a:solidFill>
            <a:srgbClr val="FFFFFF"/>
          </a:solidFill>
          <a:ln w="12700">
            <a:solidFill>
              <a:srgbClr val="DCDCE1"/>
            </a:solidFill>
            <a:prstDash val="solid"/>
          </a:ln>
        </p:spPr>
      </p:sp>
      <p:sp>
        <p:nvSpPr>
          <p:cNvPr id="13" name="Shape 11"/>
          <p:cNvSpPr/>
          <p:nvPr/>
        </p:nvSpPr>
        <p:spPr>
          <a:xfrm>
            <a:off x="4343400" y="3657600"/>
            <a:ext cx="1371600" cy="1600200"/>
          </a:xfrm>
          <a:prstGeom prst="rect">
            <a:avLst/>
          </a:prstGeom>
          <a:ln w="12700">
            <a:solidFill>
              <a:srgbClr val="DCDCE1"/>
            </a:solidFill>
            <a:prstDash val="solid"/>
          </a:ln>
        </p:spPr>
      </p:sp>
      <p:sp>
        <p:nvSpPr>
          <p:cNvPr id="14" name="Shape 12"/>
          <p:cNvSpPr/>
          <p:nvPr/>
        </p:nvSpPr>
        <p:spPr>
          <a:xfrm>
            <a:off x="3794760" y="3657600"/>
            <a:ext cx="155448" cy="155448"/>
          </a:xfrm>
          <a:prstGeom prst="ellipse">
            <a:avLst/>
          </a:prstGeom>
          <a:ln w="15875">
            <a:solidFill>
              <a:srgbClr val="6E6E73"/>
            </a:solidFill>
            <a:prstDash val="solid"/>
          </a:ln>
        </p:spPr>
      </p:sp>
      <p:sp>
        <p:nvSpPr>
          <p:cNvPr id="15" name="Shape 13"/>
          <p:cNvSpPr/>
          <p:nvPr/>
        </p:nvSpPr>
        <p:spPr>
          <a:xfrm>
            <a:off x="4251960" y="4206240"/>
            <a:ext cx="155448" cy="155448"/>
          </a:xfrm>
          <a:prstGeom prst="ellipse">
            <a:avLst/>
          </a:prstGeom>
          <a:ln w="15875">
            <a:solidFill>
              <a:srgbClr val="6E6E73"/>
            </a:solidFill>
            <a:prstDash val="solid"/>
          </a:ln>
        </p:spPr>
      </p:sp>
      <p:sp>
        <p:nvSpPr>
          <p:cNvPr id="16" name="Shape 14"/>
          <p:cNvSpPr/>
          <p:nvPr/>
        </p:nvSpPr>
        <p:spPr>
          <a:xfrm>
            <a:off x="4069080" y="4754880"/>
            <a:ext cx="155448" cy="155448"/>
          </a:xfrm>
          <a:prstGeom prst="ellipse">
            <a:avLst/>
          </a:prstGeom>
          <a:ln w="15875">
            <a:solidFill>
              <a:srgbClr val="6E6E73"/>
            </a:solidFill>
            <a:prstDash val="solid"/>
          </a:ln>
        </p:spPr>
      </p:sp>
      <p:sp>
        <p:nvSpPr>
          <p:cNvPr id="17" name="Shape 15"/>
          <p:cNvSpPr/>
          <p:nvPr/>
        </p:nvSpPr>
        <p:spPr>
          <a:xfrm>
            <a:off x="3703320" y="5303520"/>
            <a:ext cx="155448" cy="155448"/>
          </a:xfrm>
          <a:prstGeom prst="ellipse">
            <a:avLst/>
          </a:prstGeom>
          <a:ln w="15875">
            <a:solidFill>
              <a:srgbClr val="6E6E73"/>
            </a:solidFill>
            <a:prstDash val="solid"/>
          </a:ln>
        </p:spPr>
      </p:sp>
      <p:sp>
        <p:nvSpPr>
          <p:cNvPr id="18" name="Shape 16"/>
          <p:cNvSpPr/>
          <p:nvPr/>
        </p:nvSpPr>
        <p:spPr>
          <a:xfrm>
            <a:off x="4800600" y="4023360"/>
            <a:ext cx="155448" cy="155448"/>
          </a:xfrm>
          <a:prstGeom prst="ellipse">
            <a:avLst/>
          </a:prstGeom>
          <a:ln w="15875">
            <a:solidFill>
              <a:srgbClr val="6E6E73"/>
            </a:solidFill>
            <a:prstDash val="solid"/>
          </a:ln>
        </p:spPr>
      </p:sp>
      <p:sp>
        <p:nvSpPr>
          <p:cNvPr id="19" name="Shape 17"/>
          <p:cNvSpPr/>
          <p:nvPr/>
        </p:nvSpPr>
        <p:spPr>
          <a:xfrm>
            <a:off x="4709160" y="4937760"/>
            <a:ext cx="155448" cy="155448"/>
          </a:xfrm>
          <a:prstGeom prst="ellipse">
            <a:avLst/>
          </a:prstGeom>
          <a:ln w="15875">
            <a:solidFill>
              <a:srgbClr val="6E6E73"/>
            </a:solidFill>
            <a:prstDash val="solid"/>
          </a:ln>
        </p:spPr>
      </p:sp>
      <p:sp>
        <p:nvSpPr>
          <p:cNvPr id="20" name="Shape 18"/>
          <p:cNvSpPr/>
          <p:nvPr/>
        </p:nvSpPr>
        <p:spPr>
          <a:xfrm>
            <a:off x="3246120" y="4480560"/>
            <a:ext cx="155448" cy="155448"/>
          </a:xfrm>
          <a:prstGeom prst="ellipse">
            <a:avLst/>
          </a:prstGeom>
          <a:ln w="15875">
            <a:solidFill>
              <a:srgbClr val="6E6E73"/>
            </a:solidFill>
            <a:prstDash val="solid"/>
          </a:ln>
        </p:spPr>
      </p:sp>
      <p:sp>
        <p:nvSpPr>
          <p:cNvPr id="21" name="Shape 19"/>
          <p:cNvSpPr/>
          <p:nvPr/>
        </p:nvSpPr>
        <p:spPr>
          <a:xfrm>
            <a:off x="1600200" y="4480560"/>
            <a:ext cx="155448" cy="155448"/>
          </a:xfrm>
          <a:prstGeom prst="ellipse">
            <a:avLst/>
          </a:prstGeom>
          <a:solidFill>
            <a:srgbClr val="3568F0"/>
          </a:solidFill>
          <a:ln w="12700">
            <a:solidFill>
              <a:srgbClr val="333333"/>
            </a:solidFill>
            <a:prstDash val="solid"/>
          </a:ln>
        </p:spPr>
      </p:sp>
      <p:sp>
        <p:nvSpPr>
          <p:cNvPr id="22" name="Shape 20"/>
          <p:cNvSpPr/>
          <p:nvPr/>
        </p:nvSpPr>
        <p:spPr>
          <a:xfrm>
            <a:off x="2240280" y="3931920"/>
            <a:ext cx="155448" cy="155448"/>
          </a:xfrm>
          <a:prstGeom prst="ellipse">
            <a:avLst/>
          </a:prstGeom>
          <a:solidFill>
            <a:srgbClr val="3568F0"/>
          </a:solidFill>
          <a:ln w="12700">
            <a:solidFill>
              <a:srgbClr val="333333"/>
            </a:solidFill>
            <a:prstDash val="solid"/>
          </a:ln>
        </p:spPr>
      </p:sp>
      <p:sp>
        <p:nvSpPr>
          <p:cNvPr id="23" name="Shape 21"/>
          <p:cNvSpPr/>
          <p:nvPr/>
        </p:nvSpPr>
        <p:spPr>
          <a:xfrm>
            <a:off x="2423160" y="5029200"/>
            <a:ext cx="155448" cy="155448"/>
          </a:xfrm>
          <a:prstGeom prst="ellipse">
            <a:avLst/>
          </a:prstGeom>
          <a:solidFill>
            <a:srgbClr val="3568F0"/>
          </a:solidFill>
          <a:ln w="12700">
            <a:solidFill>
              <a:srgbClr val="333333"/>
            </a:solidFill>
            <a:prstDash val="solid"/>
          </a:ln>
        </p:spPr>
      </p:sp>
      <p:sp>
        <p:nvSpPr>
          <p:cNvPr id="24" name="Shape 22"/>
          <p:cNvSpPr/>
          <p:nvPr/>
        </p:nvSpPr>
        <p:spPr>
          <a:xfrm>
            <a:off x="2880360" y="4206240"/>
            <a:ext cx="155448" cy="155448"/>
          </a:xfrm>
          <a:prstGeom prst="ellipse">
            <a:avLst/>
          </a:prstGeom>
          <a:solidFill>
            <a:srgbClr val="3568F0"/>
          </a:solidFill>
          <a:ln w="12700">
            <a:solidFill>
              <a:srgbClr val="333333"/>
            </a:solidFill>
            <a:prstDash val="solid"/>
          </a:ln>
        </p:spPr>
      </p:sp>
      <p:sp>
        <p:nvSpPr>
          <p:cNvPr id="25" name="Shape 23"/>
          <p:cNvSpPr/>
          <p:nvPr/>
        </p:nvSpPr>
        <p:spPr>
          <a:xfrm>
            <a:off x="3566160" y="3383280"/>
            <a:ext cx="0" cy="2148840"/>
          </a:xfrm>
          <a:prstGeom prst="line">
            <a:avLst/>
          </a:prstGeom>
          <a:noFill/>
          <a:ln w="15875">
            <a:solidFill>
              <a:srgbClr val="D44B52"/>
            </a:solidFill>
            <a:prstDash val="dash"/>
          </a:ln>
        </p:spPr>
      </p:sp>
      <p:sp>
        <p:nvSpPr>
          <p:cNvPr id="26" name="Text 24"/>
          <p:cNvSpPr/>
          <p:nvPr/>
        </p:nvSpPr>
        <p:spPr>
          <a:xfrm>
            <a:off x="2834640" y="5376672"/>
            <a:ext cx="1463040" cy="228600"/>
          </a:xfrm>
          <a:prstGeom prst="rect">
            <a:avLst/>
          </a:prstGeom>
          <a:noFill/>
          <a:ln/>
        </p:spPr>
        <p:txBody>
          <a:bodyPr wrap="square" lIns="0" tIns="0" rIns="0" bIns="0" rtlCol="0" anchor="t"/>
          <a:lstStyle/>
          <a:p>
            <a:pPr indent="0" marL="0">
              <a:buNone/>
            </a:pPr>
            <a:r>
              <a:rPr lang="en-US" sz="1100" dirty="0">
                <a:solidFill>
                  <a:srgbClr val="D44B52"/>
                </a:solidFill>
                <a:latin typeface="Calibri" pitchFamily="34" charset="0"/>
                <a:ea typeface="Calibri" pitchFamily="34" charset="-122"/>
                <a:cs typeface="Calibri" pitchFamily="34" charset="-120"/>
              </a:rPr>
              <a:t>back-line height</a:t>
            </a:r>
            <a:endParaRPr lang="en-US" sz="1100" dirty="0"/>
          </a:p>
        </p:txBody>
      </p:sp>
      <p:sp>
        <p:nvSpPr>
          <p:cNvPr id="27" name="Text 25"/>
          <p:cNvSpPr/>
          <p:nvPr/>
        </p:nvSpPr>
        <p:spPr>
          <a:xfrm>
            <a:off x="886968" y="3291840"/>
            <a:ext cx="2743200" cy="457200"/>
          </a:xfrm>
          <a:prstGeom prst="rect">
            <a:avLst/>
          </a:prstGeom>
          <a:noFill/>
          <a:ln/>
        </p:spPr>
        <p:txBody>
          <a:bodyPr wrap="square" lIns="0" tIns="0" rIns="0" bIns="0" rtlCol="0" anchor="t"/>
          <a:lstStyle/>
          <a:p>
            <a:pPr indent="0" marL="0">
              <a:lnSpc>
                <a:spcPts val="1500"/>
              </a:lnSpc>
              <a:buNone/>
            </a:pPr>
            <a:r>
              <a:rPr lang="en-US" sz="1200" dirty="0">
                <a:solidFill>
                  <a:srgbClr val="6E6E73"/>
                </a:solidFill>
                <a:latin typeface="Calibri" pitchFamily="34" charset="0"/>
                <a:ea typeface="Calibri" pitchFamily="34" charset="-122"/>
                <a:cs typeface="Calibri" pitchFamily="34" charset="-120"/>
              </a:rPr>
              <a:t>Event-time freeze frame: one moment, not a tracked sequence.</a:t>
            </a:r>
            <a:endParaRPr lang="en-US" sz="1200" dirty="0"/>
          </a:p>
        </p:txBody>
      </p:sp>
      <p:sp>
        <p:nvSpPr>
          <p:cNvPr id="28" name="Text 26"/>
          <p:cNvSpPr/>
          <p:nvPr/>
        </p:nvSpPr>
        <p:spPr>
          <a:xfrm>
            <a:off x="6126480" y="3154680"/>
            <a:ext cx="5376672" cy="384048"/>
          </a:xfrm>
          <a:prstGeom prst="rect">
            <a:avLst/>
          </a:prstGeom>
          <a:noFill/>
          <a:ln/>
        </p:spPr>
        <p:txBody>
          <a:bodyPr wrap="square" lIns="0" tIns="0" rIns="0" bIns="0" rtlCol="0" anchor="t"/>
          <a:lstStyle/>
          <a:p>
            <a:pPr indent="0" marL="0">
              <a:buNone/>
            </a:pPr>
            <a:r>
              <a:rPr lang="en-US" sz="2400" b="1" dirty="0">
                <a:solidFill>
                  <a:srgbClr val="161617"/>
                </a:solidFill>
                <a:latin typeface="Calibri" pitchFamily="34" charset="0"/>
                <a:ea typeface="Calibri" pitchFamily="34" charset="-122"/>
                <a:cs typeface="Calibri" pitchFamily="34" charset="-120"/>
              </a:rPr>
              <a:t>Derived measures</a:t>
            </a:r>
            <a:endParaRPr lang="en-US" sz="2400" dirty="0"/>
          </a:p>
        </p:txBody>
      </p:sp>
      <p:sp>
        <p:nvSpPr>
          <p:cNvPr id="29" name="Text 27"/>
          <p:cNvSpPr/>
          <p:nvPr/>
        </p:nvSpPr>
        <p:spPr>
          <a:xfrm>
            <a:off x="6126480" y="3703320"/>
            <a:ext cx="5376672" cy="914400"/>
          </a:xfrm>
          <a:prstGeom prst="rect">
            <a:avLst/>
          </a:prstGeom>
          <a:noFill/>
          <a:ln/>
        </p:spPr>
        <p:txBody>
          <a:bodyPr wrap="square" lIns="0" tIns="0" rIns="0" bIns="0" rtlCol="0" anchor="t"/>
          <a:lstStyle/>
          <a:p>
            <a:pPr marL="177800" indent="-177800">
              <a:lnSpc>
                <a:spcPts val="1952"/>
              </a:lnSpc>
              <a:spcAft>
                <a:spcPts val="500"/>
              </a:spcAft>
              <a:buSzPct val="100000"/>
              <a:buChar char="•"/>
            </a:pPr>
            <a:r>
              <a:rPr lang="en-US" sz="1600" dirty="0">
                <a:solidFill>
                  <a:srgbClr val="161617"/>
                </a:solidFill>
                <a:latin typeface="Calibri" pitchFamily="34" charset="0"/>
                <a:ea typeface="Calibri" pitchFamily="34" charset="-122"/>
                <a:cs typeface="Calibri" pitchFamily="34" charset="-120"/>
              </a:rPr>
              <a:t>Coordinates normalized into the attacking direction</a:t>
            </a:r>
            <a:endParaRPr lang="en-US" sz="1600" dirty="0"/>
          </a:p>
          <a:p>
            <a:pPr marL="177800" indent="-177800">
              <a:lnSpc>
                <a:spcPts val="1952"/>
              </a:lnSpc>
              <a:spcAft>
                <a:spcPts val="500"/>
              </a:spcAft>
              <a:buSzPct val="100000"/>
              <a:buChar char="•"/>
            </a:pPr>
            <a:r>
              <a:rPr lang="en-US" sz="1600" dirty="0">
                <a:solidFill>
                  <a:srgbClr val="161617"/>
                </a:solidFill>
                <a:latin typeface="Calibri" pitchFamily="34" charset="0"/>
                <a:ea typeface="Calibri" pitchFamily="34" charset="-122"/>
                <a:cs typeface="Calibri" pitchFamily="34" charset="-120"/>
              </a:rPr>
              <a:t>Defender distance, width, depth, back-line height</a:t>
            </a:r>
            <a:endParaRPr lang="en-US" sz="1600" dirty="0"/>
          </a:p>
          <a:p>
            <a:pPr marL="177800" indent="-177800">
              <a:lnSpc>
                <a:spcPts val="1952"/>
              </a:lnSpc>
              <a:spcAft>
                <a:spcPts val="500"/>
              </a:spcAft>
              <a:buSzPct val="100000"/>
              <a:buChar char="•"/>
            </a:pPr>
            <a:r>
              <a:rPr lang="en-US" sz="1600" dirty="0">
                <a:solidFill>
                  <a:srgbClr val="161617"/>
                </a:solidFill>
                <a:latin typeface="Calibri" pitchFamily="34" charset="0"/>
                <a:ea typeface="Calibri" pitchFamily="34" charset="-122"/>
                <a:cs typeface="Calibri" pitchFamily="34" charset="-120"/>
              </a:rPr>
              <a:t>Behind-ball share, visible area, density</a:t>
            </a:r>
            <a:endParaRPr lang="en-US" sz="1600" dirty="0"/>
          </a:p>
          <a:p>
            <a:pPr marL="177800" indent="-177800">
              <a:lnSpc>
                <a:spcPts val="1952"/>
              </a:lnSpc>
              <a:spcAft>
                <a:spcPts val="500"/>
              </a:spcAft>
              <a:buSzPct val="100000"/>
              <a:buChar char="•"/>
            </a:pPr>
            <a:r>
              <a:rPr lang="en-US" sz="1600" dirty="0">
                <a:solidFill>
                  <a:srgbClr val="161617"/>
                </a:solidFill>
                <a:latin typeface="Calibri" pitchFamily="34" charset="0"/>
                <a:ea typeface="Calibri" pitchFamily="34" charset="-122"/>
                <a:cs typeface="Calibri" pitchFamily="34" charset="-120"/>
              </a:rPr>
              <a:t>Visibility and observed-player counts retained</a:t>
            </a:r>
            <a:endParaRPr lang="en-US" sz="1600" dirty="0"/>
          </a:p>
        </p:txBody>
      </p:sp>
      <p:sp>
        <p:nvSpPr>
          <p:cNvPr id="30" name="Shape 28"/>
          <p:cNvSpPr/>
          <p:nvPr/>
        </p:nvSpPr>
        <p:spPr>
          <a:xfrm>
            <a:off x="6126480" y="5257800"/>
            <a:ext cx="5376672" cy="960120"/>
          </a:xfrm>
          <a:prstGeom prst="roundRect">
            <a:avLst>
              <a:gd name="adj" fmla="val 5714"/>
            </a:avLst>
          </a:prstGeom>
          <a:solidFill>
            <a:srgbClr val="F9E7E8"/>
          </a:solidFill>
          <a:ln w="9525">
            <a:solidFill>
              <a:srgbClr val="F9E7E8"/>
            </a:solidFill>
            <a:prstDash val="solid"/>
          </a:ln>
        </p:spPr>
      </p:sp>
      <p:sp>
        <p:nvSpPr>
          <p:cNvPr id="31" name="Text 29"/>
          <p:cNvSpPr/>
          <p:nvPr/>
        </p:nvSpPr>
        <p:spPr>
          <a:xfrm>
            <a:off x="6400800" y="5458968"/>
            <a:ext cx="4828032" cy="621792"/>
          </a:xfrm>
          <a:prstGeom prst="rect">
            <a:avLst/>
          </a:prstGeom>
          <a:noFill/>
          <a:ln/>
        </p:spPr>
        <p:txBody>
          <a:bodyPr wrap="square" lIns="0" tIns="0" rIns="0" bIns="0" rtlCol="0" anchor="t"/>
          <a:lstStyle/>
          <a:p>
            <a:pPr indent="0" marL="0">
              <a:lnSpc>
                <a:spcPts val="1875"/>
              </a:lnSpc>
              <a:buNone/>
            </a:pPr>
            <a:r>
              <a:rPr lang="en-US" sz="1500" dirty="0">
                <a:solidFill>
                  <a:srgbClr val="161617"/>
                </a:solidFill>
                <a:latin typeface="Calibri" pitchFamily="34" charset="0"/>
                <a:ea typeface="Calibri" pitchFamily="34" charset="-122"/>
                <a:cs typeface="Calibri" pitchFamily="34" charset="-120"/>
              </a:rPr>
              <a:t>Public off-ball 360 players are anonymous: named profiles cover event actors only, anonymous locations describe surrounding shape.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13 / 28 · DEFENSIVE STYLES</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Defensive clustering describes responses, not fixed team identities</a:t>
            </a:r>
            <a:endParaRPr lang="en-US" sz="3500" dirty="0"/>
          </a:p>
        </p:txBody>
      </p:sp>
      <p:graphicFrame>
        <p:nvGraphicFramePr>
          <p:cNvPr id="4" name="Chart 0" descr=""/>
          <p:cNvGraphicFramePr/>
          <p:nvPr/>
        </p:nvGraphicFramePr>
        <p:xfrm>
          <a:off x="548640" y="1828800"/>
          <a:ext cx="640080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85800" y="5074920"/>
            <a:ext cx="6217920" cy="274320"/>
          </a:xfrm>
          <a:prstGeom prst="rect">
            <a:avLst/>
          </a:prstGeom>
          <a:noFill/>
          <a:ln/>
        </p:spPr>
        <p:txBody>
          <a:bodyPr wrap="square" lIns="0" tIns="0" rIns="0" bIns="0" rtlCol="0" anchor="t"/>
          <a:lstStyle/>
          <a:p>
            <a:pPr indent="0" marL="0">
              <a:buNone/>
            </a:pPr>
            <a:r>
              <a:rPr lang="en-US" sz="1400" i="1" dirty="0">
                <a:solidFill>
                  <a:srgbClr val="6E6E73"/>
                </a:solidFill>
                <a:latin typeface="Calibri" pitchFamily="34" charset="0"/>
                <a:ea typeface="Calibri" pitchFamily="34" charset="-122"/>
                <a:cs typeface="Calibri" pitchFamily="34" charset="-120"/>
              </a:rPr>
              <a:t>Current snapshot — modeling in progress.</a:t>
            </a:r>
            <a:endParaRPr lang="en-US" sz="1400" dirty="0"/>
          </a:p>
        </p:txBody>
      </p:sp>
      <p:sp>
        <p:nvSpPr>
          <p:cNvPr id="6" name="Shape 3"/>
          <p:cNvSpPr/>
          <p:nvPr/>
        </p:nvSpPr>
        <p:spPr>
          <a:xfrm>
            <a:off x="7178040" y="1874520"/>
            <a:ext cx="4325112" cy="1600200"/>
          </a:xfrm>
          <a:prstGeom prst="roundRect">
            <a:avLst>
              <a:gd name="adj" fmla="val 3429"/>
            </a:avLst>
          </a:prstGeom>
          <a:solidFill>
            <a:srgbClr val="FFFFFF"/>
          </a:solidFill>
          <a:ln w="9525">
            <a:solidFill>
              <a:srgbClr val="FFFFFF"/>
            </a:solidFill>
            <a:prstDash val="solid"/>
          </a:ln>
        </p:spPr>
      </p:sp>
      <p:sp>
        <p:nvSpPr>
          <p:cNvPr id="7" name="Text 4"/>
          <p:cNvSpPr/>
          <p:nvPr/>
        </p:nvSpPr>
        <p:spPr>
          <a:xfrm>
            <a:off x="7452360" y="2057400"/>
            <a:ext cx="3749040" cy="384048"/>
          </a:xfrm>
          <a:prstGeom prst="rect">
            <a:avLst/>
          </a:prstGeom>
          <a:noFill/>
          <a:ln/>
        </p:spPr>
        <p:txBody>
          <a:bodyPr wrap="square" lIns="0" tIns="0" rIns="0" bIns="0" rtlCol="0" anchor="t"/>
          <a:lstStyle/>
          <a:p>
            <a:pPr indent="0" marL="0">
              <a:buNone/>
            </a:pPr>
            <a:r>
              <a:rPr lang="en-US" sz="2000" b="1" dirty="0">
                <a:solidFill>
                  <a:srgbClr val="3568F0"/>
                </a:solidFill>
                <a:latin typeface="Calibri" pitchFamily="34" charset="0"/>
                <a:ea typeface="Calibri" pitchFamily="34" charset="-122"/>
                <a:cs typeface="Calibri" pitchFamily="34" charset="-120"/>
              </a:rPr>
              <a:t>Current snapshot</a:t>
            </a:r>
            <a:endParaRPr lang="en-US" sz="2000" dirty="0"/>
          </a:p>
        </p:txBody>
      </p:sp>
      <p:sp>
        <p:nvSpPr>
          <p:cNvPr id="8" name="Text 5"/>
          <p:cNvSpPr/>
          <p:nvPr/>
        </p:nvSpPr>
        <p:spPr>
          <a:xfrm>
            <a:off x="7452360" y="2542032"/>
            <a:ext cx="1828800" cy="566928"/>
          </a:xfrm>
          <a:prstGeom prst="rect">
            <a:avLst/>
          </a:prstGeom>
          <a:noFill/>
          <a:ln/>
        </p:spPr>
        <p:txBody>
          <a:bodyPr wrap="square" lIns="0" tIns="0" rIns="0" bIns="0" rtlCol="0" anchor="t"/>
          <a:lstStyle/>
          <a:p>
            <a:pPr indent="0" marL="0">
              <a:buNone/>
            </a:pPr>
            <a:r>
              <a:rPr lang="en-US" sz="1900" b="1" dirty="0">
                <a:solidFill>
                  <a:srgbClr val="161617"/>
                </a:solidFill>
                <a:latin typeface="Calibri" pitchFamily="34" charset="0"/>
                <a:ea typeface="Calibri" pitchFamily="34" charset="-122"/>
                <a:cs typeface="Calibri" pitchFamily="34" charset="-120"/>
              </a:rPr>
              <a:t>9,685</a:t>
            </a:r>
            <a:endParaRPr lang="en-US" sz="1900" dirty="0"/>
          </a:p>
        </p:txBody>
      </p:sp>
      <p:sp>
        <p:nvSpPr>
          <p:cNvPr id="9" name="Text 6"/>
          <p:cNvSpPr/>
          <p:nvPr/>
        </p:nvSpPr>
        <p:spPr>
          <a:xfrm>
            <a:off x="7452360" y="2798064"/>
            <a:ext cx="1828800" cy="237744"/>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eligible possessions</a:t>
            </a:r>
            <a:endParaRPr lang="en-US" sz="1400" dirty="0"/>
          </a:p>
        </p:txBody>
      </p:sp>
      <p:sp>
        <p:nvSpPr>
          <p:cNvPr id="10" name="Text 7"/>
          <p:cNvSpPr/>
          <p:nvPr/>
        </p:nvSpPr>
        <p:spPr>
          <a:xfrm>
            <a:off x="9418320" y="2542032"/>
            <a:ext cx="1828800" cy="566928"/>
          </a:xfrm>
          <a:prstGeom prst="rect">
            <a:avLst/>
          </a:prstGeom>
          <a:noFill/>
          <a:ln/>
        </p:spPr>
        <p:txBody>
          <a:bodyPr wrap="square" lIns="0" tIns="0" rIns="0" bIns="0" rtlCol="0" anchor="t"/>
          <a:lstStyle/>
          <a:p>
            <a:pPr indent="0" marL="0">
              <a:buNone/>
            </a:pPr>
            <a:r>
              <a:rPr lang="en-US" sz="1900" b="1" dirty="0">
                <a:solidFill>
                  <a:srgbClr val="161617"/>
                </a:solidFill>
                <a:latin typeface="Calibri" pitchFamily="34" charset="0"/>
                <a:ea typeface="Calibri" pitchFamily="34" charset="-122"/>
                <a:cs typeface="Calibri" pitchFamily="34" charset="-120"/>
              </a:rPr>
              <a:t>4</a:t>
            </a:r>
            <a:endParaRPr lang="en-US" sz="1900" dirty="0"/>
          </a:p>
        </p:txBody>
      </p:sp>
      <p:sp>
        <p:nvSpPr>
          <p:cNvPr id="11" name="Text 8"/>
          <p:cNvSpPr/>
          <p:nvPr/>
        </p:nvSpPr>
        <p:spPr>
          <a:xfrm>
            <a:off x="9418320" y="2798064"/>
            <a:ext cx="1828800" cy="237744"/>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clusters selected</a:t>
            </a:r>
            <a:endParaRPr lang="en-US" sz="1400" dirty="0"/>
          </a:p>
        </p:txBody>
      </p:sp>
      <p:sp>
        <p:nvSpPr>
          <p:cNvPr id="12" name="Text 9"/>
          <p:cNvSpPr/>
          <p:nvPr/>
        </p:nvSpPr>
        <p:spPr>
          <a:xfrm>
            <a:off x="7452360" y="3017520"/>
            <a:ext cx="1828800" cy="566928"/>
          </a:xfrm>
          <a:prstGeom prst="rect">
            <a:avLst/>
          </a:prstGeom>
          <a:noFill/>
          <a:ln/>
        </p:spPr>
        <p:txBody>
          <a:bodyPr wrap="square" lIns="0" tIns="0" rIns="0" bIns="0" rtlCol="0" anchor="t"/>
          <a:lstStyle/>
          <a:p>
            <a:pPr indent="0" marL="0">
              <a:buNone/>
            </a:pPr>
            <a:r>
              <a:rPr lang="en-US" sz="1900" b="1" dirty="0">
                <a:solidFill>
                  <a:srgbClr val="161617"/>
                </a:solidFill>
                <a:latin typeface="Calibri" pitchFamily="34" charset="0"/>
                <a:ea typeface="Calibri" pitchFamily="34" charset="-122"/>
                <a:cs typeface="Calibri" pitchFamily="34" charset="-120"/>
              </a:rPr>
              <a:t>0.1897</a:t>
            </a:r>
            <a:endParaRPr lang="en-US" sz="1900" dirty="0"/>
          </a:p>
        </p:txBody>
      </p:sp>
      <p:sp>
        <p:nvSpPr>
          <p:cNvPr id="13" name="Text 10"/>
          <p:cNvSpPr/>
          <p:nvPr/>
        </p:nvSpPr>
        <p:spPr>
          <a:xfrm>
            <a:off x="7452360" y="3273552"/>
            <a:ext cx="1828800" cy="237744"/>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silhouette</a:t>
            </a:r>
            <a:endParaRPr lang="en-US" sz="1400" dirty="0"/>
          </a:p>
        </p:txBody>
      </p:sp>
      <p:sp>
        <p:nvSpPr>
          <p:cNvPr id="14" name="Text 11"/>
          <p:cNvSpPr/>
          <p:nvPr/>
        </p:nvSpPr>
        <p:spPr>
          <a:xfrm>
            <a:off x="9418320" y="3017520"/>
            <a:ext cx="1828800" cy="566928"/>
          </a:xfrm>
          <a:prstGeom prst="rect">
            <a:avLst/>
          </a:prstGeom>
          <a:noFill/>
          <a:ln/>
        </p:spPr>
        <p:txBody>
          <a:bodyPr wrap="square" lIns="0" tIns="0" rIns="0" bIns="0" rtlCol="0" anchor="t"/>
          <a:lstStyle/>
          <a:p>
            <a:pPr indent="0" marL="0">
              <a:buNone/>
            </a:pPr>
            <a:r>
              <a:rPr lang="en-US" sz="1900" b="1" dirty="0">
                <a:solidFill>
                  <a:srgbClr val="161617"/>
                </a:solidFill>
                <a:latin typeface="Calibri" pitchFamily="34" charset="0"/>
                <a:ea typeface="Calibri" pitchFamily="34" charset="-122"/>
                <a:cs typeface="Calibri" pitchFamily="34" charset="-120"/>
              </a:rPr>
              <a:t>0.9999</a:t>
            </a:r>
            <a:endParaRPr lang="en-US" sz="1900" dirty="0"/>
          </a:p>
        </p:txBody>
      </p:sp>
      <p:sp>
        <p:nvSpPr>
          <p:cNvPr id="15" name="Text 12"/>
          <p:cNvSpPr/>
          <p:nvPr/>
        </p:nvSpPr>
        <p:spPr>
          <a:xfrm>
            <a:off x="9418320" y="3273552"/>
            <a:ext cx="1828800" cy="237744"/>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stability ARI</a:t>
            </a:r>
            <a:endParaRPr lang="en-US" sz="1400" dirty="0"/>
          </a:p>
        </p:txBody>
      </p:sp>
      <p:sp>
        <p:nvSpPr>
          <p:cNvPr id="16" name="Shape 13"/>
          <p:cNvSpPr/>
          <p:nvPr/>
        </p:nvSpPr>
        <p:spPr>
          <a:xfrm>
            <a:off x="7178040" y="3703320"/>
            <a:ext cx="4325112" cy="2331720"/>
          </a:xfrm>
          <a:prstGeom prst="roundRect">
            <a:avLst>
              <a:gd name="adj" fmla="val 2353"/>
            </a:avLst>
          </a:prstGeom>
          <a:solidFill>
            <a:srgbClr val="ECECF0"/>
          </a:solidFill>
          <a:ln w="9525">
            <a:solidFill>
              <a:srgbClr val="ECECF0"/>
            </a:solidFill>
            <a:prstDash val="solid"/>
          </a:ln>
        </p:spPr>
      </p:sp>
      <p:sp>
        <p:nvSpPr>
          <p:cNvPr id="17" name="Text 14"/>
          <p:cNvSpPr/>
          <p:nvPr/>
        </p:nvSpPr>
        <p:spPr>
          <a:xfrm>
            <a:off x="7452360" y="3904488"/>
            <a:ext cx="3776472" cy="237744"/>
          </a:xfrm>
          <a:prstGeom prst="rect">
            <a:avLst/>
          </a:prstGeom>
          <a:noFill/>
          <a:ln/>
        </p:spPr>
        <p:txBody>
          <a:bodyPr wrap="square" lIns="0" tIns="0" rIns="0" bIns="0" rtlCol="0" anchor="t"/>
          <a:lstStyle/>
          <a:p>
            <a:pPr indent="0" marL="0">
              <a:buNone/>
            </a:pPr>
            <a:r>
              <a:rPr lang="en-US" sz="1200" b="1" spc="140" kern="0" dirty="0">
                <a:solidFill>
                  <a:srgbClr val="6E6E73"/>
                </a:solidFill>
                <a:latin typeface="Calibri" pitchFamily="34" charset="0"/>
                <a:ea typeface="Calibri" pitchFamily="34" charset="-122"/>
                <a:cs typeface="Calibri" pitchFamily="34" charset="-120"/>
              </a:rPr>
              <a:t>HOW TO READ THIS</a:t>
            </a:r>
            <a:endParaRPr lang="en-US" sz="1200" dirty="0"/>
          </a:p>
        </p:txBody>
      </p:sp>
      <p:sp>
        <p:nvSpPr>
          <p:cNvPr id="18" name="Text 15"/>
          <p:cNvSpPr/>
          <p:nvPr/>
        </p:nvSpPr>
        <p:spPr>
          <a:xfrm>
            <a:off x="7452360" y="4233672"/>
            <a:ext cx="3776472" cy="1664208"/>
          </a:xfrm>
          <a:prstGeom prst="rect">
            <a:avLst/>
          </a:prstGeom>
          <a:noFill/>
          <a:ln/>
        </p:spPr>
        <p:txBody>
          <a:bodyPr wrap="square" lIns="0" tIns="0" rIns="0" bIns="0" rtlCol="0" anchor="t"/>
          <a:lstStyle/>
          <a:p>
            <a:pPr indent="0" marL="0">
              <a:lnSpc>
                <a:spcPts val="2000"/>
              </a:lnSpc>
              <a:buNone/>
            </a:pPr>
            <a:r>
              <a:rPr lang="en-US" sz="1600" dirty="0">
                <a:solidFill>
                  <a:srgbClr val="161617"/>
                </a:solidFill>
                <a:latin typeface="Calibri" pitchFamily="34" charset="0"/>
                <a:ea typeface="Calibri" pitchFamily="34" charset="-122"/>
                <a:cs typeface="Calibri" pitchFamily="34" charset="-120"/>
              </a:rPr>
              <a:t>A team appears in several defensive styles. These describe possession-level defensive responses, and the labels are post-hoc interpretations — not ground-truth tactical annotations.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14 / 28 · STAGE 4</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Stage 4 evaluates twelve attack–defense matchup cells</a:t>
            </a:r>
            <a:endParaRPr lang="en-US" sz="3500" dirty="0"/>
          </a:p>
        </p:txBody>
      </p:sp>
      <p:sp>
        <p:nvSpPr>
          <p:cNvPr id="4" name="Text 2"/>
          <p:cNvSpPr/>
          <p:nvPr/>
        </p:nvSpPr>
        <p:spPr>
          <a:xfrm>
            <a:off x="2788920" y="1874520"/>
            <a:ext cx="2121408" cy="548640"/>
          </a:xfrm>
          <a:prstGeom prst="rect">
            <a:avLst/>
          </a:prstGeom>
          <a:noFill/>
          <a:ln/>
        </p:spPr>
        <p:txBody>
          <a:bodyPr wrap="square" lIns="0" tIns="0" rIns="0" bIns="0" rtlCol="0" anchor="t"/>
          <a:lstStyle/>
          <a:p>
            <a:pPr indent="0" marL="0">
              <a:lnSpc>
                <a:spcPts val="1700"/>
              </a:lnSpc>
              <a:buNone/>
            </a:pPr>
            <a:r>
              <a:rPr lang="en-US" sz="1400" b="1" dirty="0">
                <a:solidFill>
                  <a:srgbClr val="6E6E73"/>
                </a:solidFill>
                <a:latin typeface="Calibri" pitchFamily="34" charset="0"/>
                <a:ea typeface="Calibri" pitchFamily="34" charset="-122"/>
                <a:cs typeface="Calibri" pitchFamily="34" charset="-120"/>
              </a:rPr>
              <a:t>Wide Retreating Block</a:t>
            </a:r>
            <a:endParaRPr lang="en-US" sz="1400" dirty="0"/>
          </a:p>
        </p:txBody>
      </p:sp>
      <p:sp>
        <p:nvSpPr>
          <p:cNvPr id="5" name="Text 3"/>
          <p:cNvSpPr/>
          <p:nvPr/>
        </p:nvSpPr>
        <p:spPr>
          <a:xfrm>
            <a:off x="5056632" y="1874520"/>
            <a:ext cx="2121408" cy="548640"/>
          </a:xfrm>
          <a:prstGeom prst="rect">
            <a:avLst/>
          </a:prstGeom>
          <a:noFill/>
          <a:ln/>
        </p:spPr>
        <p:txBody>
          <a:bodyPr wrap="square" lIns="0" tIns="0" rIns="0" bIns="0" rtlCol="0" anchor="t"/>
          <a:lstStyle/>
          <a:p>
            <a:pPr indent="0" marL="0">
              <a:lnSpc>
                <a:spcPts val="1700"/>
              </a:lnSpc>
              <a:buNone/>
            </a:pPr>
            <a:r>
              <a:rPr lang="en-US" sz="1400" b="1" dirty="0">
                <a:solidFill>
                  <a:srgbClr val="6E6E73"/>
                </a:solidFill>
                <a:latin typeface="Calibri" pitchFamily="34" charset="0"/>
                <a:ea typeface="Calibri" pitchFamily="34" charset="-122"/>
                <a:cs typeface="Calibri" pitchFamily="34" charset="-120"/>
              </a:rPr>
              <a:t>Compact Pressure Block</a:t>
            </a:r>
            <a:endParaRPr lang="en-US" sz="1400" dirty="0"/>
          </a:p>
        </p:txBody>
      </p:sp>
      <p:sp>
        <p:nvSpPr>
          <p:cNvPr id="6" name="Text 4"/>
          <p:cNvSpPr/>
          <p:nvPr/>
        </p:nvSpPr>
        <p:spPr>
          <a:xfrm>
            <a:off x="7324344" y="1874520"/>
            <a:ext cx="2121408" cy="548640"/>
          </a:xfrm>
          <a:prstGeom prst="rect">
            <a:avLst/>
          </a:prstGeom>
          <a:noFill/>
          <a:ln/>
        </p:spPr>
        <p:txBody>
          <a:bodyPr wrap="square" lIns="0" tIns="0" rIns="0" bIns="0" rtlCol="0" anchor="t"/>
          <a:lstStyle/>
          <a:p>
            <a:pPr indent="0" marL="0">
              <a:lnSpc>
                <a:spcPts val="1700"/>
              </a:lnSpc>
              <a:buNone/>
            </a:pPr>
            <a:r>
              <a:rPr lang="en-US" sz="1400" b="1" dirty="0">
                <a:solidFill>
                  <a:srgbClr val="6E6E73"/>
                </a:solidFill>
                <a:latin typeface="Calibri" pitchFamily="34" charset="0"/>
                <a:ea typeface="Calibri" pitchFamily="34" charset="-122"/>
                <a:cs typeface="Calibri" pitchFamily="34" charset="-120"/>
              </a:rPr>
              <a:t>High-Intensity Press</a:t>
            </a:r>
            <a:endParaRPr lang="en-US" sz="1400" dirty="0"/>
          </a:p>
        </p:txBody>
      </p:sp>
      <p:sp>
        <p:nvSpPr>
          <p:cNvPr id="7" name="Text 5"/>
          <p:cNvSpPr/>
          <p:nvPr/>
        </p:nvSpPr>
        <p:spPr>
          <a:xfrm>
            <a:off x="9592056" y="1874520"/>
            <a:ext cx="2121408" cy="548640"/>
          </a:xfrm>
          <a:prstGeom prst="rect">
            <a:avLst/>
          </a:prstGeom>
          <a:noFill/>
          <a:ln/>
        </p:spPr>
        <p:txBody>
          <a:bodyPr wrap="square" lIns="0" tIns="0" rIns="0" bIns="0" rtlCol="0" anchor="t"/>
          <a:lstStyle/>
          <a:p>
            <a:pPr indent="0" marL="0">
              <a:lnSpc>
                <a:spcPts val="1700"/>
              </a:lnSpc>
              <a:buNone/>
            </a:pPr>
            <a:r>
              <a:rPr lang="en-US" sz="1400" b="1" dirty="0">
                <a:solidFill>
                  <a:srgbClr val="6E6E73"/>
                </a:solidFill>
                <a:latin typeface="Calibri" pitchFamily="34" charset="0"/>
                <a:ea typeface="Calibri" pitchFamily="34" charset="-122"/>
                <a:cs typeface="Calibri" pitchFamily="34" charset="-120"/>
              </a:rPr>
              <a:t>Set-Piece Compact Shape</a:t>
            </a:r>
            <a:endParaRPr lang="en-US" sz="1400" dirty="0"/>
          </a:p>
        </p:txBody>
      </p:sp>
      <p:sp>
        <p:nvSpPr>
          <p:cNvPr id="8" name="Text 6"/>
          <p:cNvSpPr/>
          <p:nvPr/>
        </p:nvSpPr>
        <p:spPr>
          <a:xfrm>
            <a:off x="685800" y="2670048"/>
            <a:ext cx="1965960" cy="548640"/>
          </a:xfrm>
          <a:prstGeom prst="rect">
            <a:avLst/>
          </a:prstGeom>
          <a:noFill/>
          <a:ln/>
        </p:spPr>
        <p:txBody>
          <a:bodyPr wrap="square" lIns="0" tIns="0" rIns="0" bIns="0" rtlCol="0" anchor="t"/>
          <a:lstStyle/>
          <a:p>
            <a:pPr indent="0" marL="0">
              <a:lnSpc>
                <a:spcPts val="1800"/>
              </a:lnSpc>
              <a:buNone/>
            </a:pPr>
            <a:r>
              <a:rPr lang="en-US" sz="1500" b="1" dirty="0">
                <a:solidFill>
                  <a:srgbClr val="161617"/>
                </a:solidFill>
                <a:latin typeface="Calibri" pitchFamily="34" charset="0"/>
                <a:ea typeface="Calibri" pitchFamily="34" charset="-122"/>
                <a:cs typeface="Calibri" pitchFamily="34" charset="-120"/>
              </a:rPr>
              <a:t>Patient Build-up</a:t>
            </a:r>
            <a:endParaRPr lang="en-US" sz="1500" dirty="0"/>
          </a:p>
        </p:txBody>
      </p:sp>
      <p:sp>
        <p:nvSpPr>
          <p:cNvPr id="9" name="Shape 7"/>
          <p:cNvSpPr/>
          <p:nvPr/>
        </p:nvSpPr>
        <p:spPr>
          <a:xfrm>
            <a:off x="2788920" y="2560320"/>
            <a:ext cx="2121408" cy="749808"/>
          </a:xfrm>
          <a:prstGeom prst="roundRect">
            <a:avLst>
              <a:gd name="adj" fmla="val 7317"/>
            </a:avLst>
          </a:prstGeom>
          <a:solidFill>
            <a:srgbClr val="E3EAFD"/>
          </a:solidFill>
          <a:ln w="12700">
            <a:solidFill>
              <a:srgbClr val="3568F0"/>
            </a:solidFill>
            <a:prstDash val="solid"/>
          </a:ln>
        </p:spPr>
      </p:sp>
      <p:sp>
        <p:nvSpPr>
          <p:cNvPr id="10" name="Text 8"/>
          <p:cNvSpPr/>
          <p:nvPr/>
        </p:nvSpPr>
        <p:spPr>
          <a:xfrm>
            <a:off x="2935224" y="2743200"/>
            <a:ext cx="1828800" cy="457200"/>
          </a:xfrm>
          <a:prstGeom prst="rect">
            <a:avLst/>
          </a:prstGeom>
          <a:noFill/>
          <a:ln/>
        </p:spPr>
        <p:txBody>
          <a:bodyPr wrap="square" lIns="0" tIns="0" rIns="0" bIns="0" rtlCol="0" anchor="t"/>
          <a:lstStyle/>
          <a:p>
            <a:pPr indent="0" marL="0">
              <a:lnSpc>
                <a:spcPts val="1500"/>
              </a:lnSpc>
              <a:buNone/>
            </a:pPr>
            <a:r>
              <a:rPr lang="en-US" sz="1200" dirty="0">
                <a:solidFill>
                  <a:srgbClr val="3568F0"/>
                </a:solidFill>
                <a:latin typeface="Calibri" pitchFamily="34" charset="0"/>
                <a:ea typeface="Calibri" pitchFamily="34" charset="-122"/>
                <a:cs typeface="Calibri" pitchFamily="34" charset="-120"/>
              </a:rPr>
              <a:t>n · shot rate · box entry · mean xG</a:t>
            </a:r>
            <a:endParaRPr lang="en-US" sz="1200" dirty="0"/>
          </a:p>
        </p:txBody>
      </p:sp>
      <p:sp>
        <p:nvSpPr>
          <p:cNvPr id="11" name="Shape 9"/>
          <p:cNvSpPr/>
          <p:nvPr/>
        </p:nvSpPr>
        <p:spPr>
          <a:xfrm>
            <a:off x="5056632" y="2560320"/>
            <a:ext cx="2121408" cy="749808"/>
          </a:xfrm>
          <a:prstGeom prst="roundRect">
            <a:avLst>
              <a:gd name="adj" fmla="val 7317"/>
            </a:avLst>
          </a:prstGeom>
          <a:solidFill>
            <a:srgbClr val="FFFFFF"/>
          </a:solidFill>
          <a:ln w="9525">
            <a:solidFill>
              <a:srgbClr val="FFFFFF"/>
            </a:solidFill>
            <a:prstDash val="solid"/>
          </a:ln>
        </p:spPr>
      </p:sp>
      <p:sp>
        <p:nvSpPr>
          <p:cNvPr id="12" name="Text 10"/>
          <p:cNvSpPr/>
          <p:nvPr/>
        </p:nvSpPr>
        <p:spPr>
          <a:xfrm>
            <a:off x="5202936" y="2743200"/>
            <a:ext cx="1828800" cy="457200"/>
          </a:xfrm>
          <a:prstGeom prst="rect">
            <a:avLst/>
          </a:prstGeom>
          <a:noFill/>
          <a:ln/>
        </p:spPr>
        <p:txBody>
          <a:bodyPr wrap="square" lIns="0" tIns="0" rIns="0" bIns="0" rtlCol="0" anchor="t"/>
          <a:lstStyle/>
          <a:p>
            <a:pPr indent="0" marL="0">
              <a:lnSpc>
                <a:spcPts val="1500"/>
              </a:lnSpc>
              <a:buNone/>
            </a:pPr>
            <a:r>
              <a:rPr lang="en-US" sz="1200" dirty="0">
                <a:solidFill>
                  <a:srgbClr val="6E6E73"/>
                </a:solidFill>
                <a:latin typeface="Calibri" pitchFamily="34" charset="0"/>
                <a:ea typeface="Calibri" pitchFamily="34" charset="-122"/>
                <a:cs typeface="Calibri" pitchFamily="34" charset="-120"/>
              </a:rPr>
              <a:t>n · shot rate · box entry · mean xG</a:t>
            </a:r>
            <a:endParaRPr lang="en-US" sz="1200" dirty="0"/>
          </a:p>
        </p:txBody>
      </p:sp>
      <p:sp>
        <p:nvSpPr>
          <p:cNvPr id="13" name="Shape 11"/>
          <p:cNvSpPr/>
          <p:nvPr/>
        </p:nvSpPr>
        <p:spPr>
          <a:xfrm>
            <a:off x="7324344" y="2560320"/>
            <a:ext cx="2121408" cy="749808"/>
          </a:xfrm>
          <a:prstGeom prst="roundRect">
            <a:avLst>
              <a:gd name="adj" fmla="val 7317"/>
            </a:avLst>
          </a:prstGeom>
          <a:solidFill>
            <a:srgbClr val="FFFFFF"/>
          </a:solidFill>
          <a:ln w="9525">
            <a:solidFill>
              <a:srgbClr val="FFFFFF"/>
            </a:solidFill>
            <a:prstDash val="solid"/>
          </a:ln>
        </p:spPr>
      </p:sp>
      <p:sp>
        <p:nvSpPr>
          <p:cNvPr id="14" name="Text 12"/>
          <p:cNvSpPr/>
          <p:nvPr/>
        </p:nvSpPr>
        <p:spPr>
          <a:xfrm>
            <a:off x="7470648" y="2743200"/>
            <a:ext cx="1828800" cy="457200"/>
          </a:xfrm>
          <a:prstGeom prst="rect">
            <a:avLst/>
          </a:prstGeom>
          <a:noFill/>
          <a:ln/>
        </p:spPr>
        <p:txBody>
          <a:bodyPr wrap="square" lIns="0" tIns="0" rIns="0" bIns="0" rtlCol="0" anchor="t"/>
          <a:lstStyle/>
          <a:p>
            <a:pPr indent="0" marL="0">
              <a:lnSpc>
                <a:spcPts val="1500"/>
              </a:lnSpc>
              <a:buNone/>
            </a:pPr>
            <a:r>
              <a:rPr lang="en-US" sz="1200" dirty="0">
                <a:solidFill>
                  <a:srgbClr val="6E6E73"/>
                </a:solidFill>
                <a:latin typeface="Calibri" pitchFamily="34" charset="0"/>
                <a:ea typeface="Calibri" pitchFamily="34" charset="-122"/>
                <a:cs typeface="Calibri" pitchFamily="34" charset="-120"/>
              </a:rPr>
              <a:t>n · shot rate · box entry · mean xG</a:t>
            </a:r>
            <a:endParaRPr lang="en-US" sz="1200" dirty="0"/>
          </a:p>
        </p:txBody>
      </p:sp>
      <p:sp>
        <p:nvSpPr>
          <p:cNvPr id="15" name="Shape 13"/>
          <p:cNvSpPr/>
          <p:nvPr/>
        </p:nvSpPr>
        <p:spPr>
          <a:xfrm>
            <a:off x="9592056" y="2560320"/>
            <a:ext cx="2121408" cy="749808"/>
          </a:xfrm>
          <a:prstGeom prst="roundRect">
            <a:avLst>
              <a:gd name="adj" fmla="val 7317"/>
            </a:avLst>
          </a:prstGeom>
          <a:solidFill>
            <a:srgbClr val="FFFFFF"/>
          </a:solidFill>
          <a:ln w="9525">
            <a:solidFill>
              <a:srgbClr val="FFFFFF"/>
            </a:solidFill>
            <a:prstDash val="solid"/>
          </a:ln>
        </p:spPr>
      </p:sp>
      <p:sp>
        <p:nvSpPr>
          <p:cNvPr id="16" name="Text 14"/>
          <p:cNvSpPr/>
          <p:nvPr/>
        </p:nvSpPr>
        <p:spPr>
          <a:xfrm>
            <a:off x="9738360" y="2743200"/>
            <a:ext cx="1828800" cy="457200"/>
          </a:xfrm>
          <a:prstGeom prst="rect">
            <a:avLst/>
          </a:prstGeom>
          <a:noFill/>
          <a:ln/>
        </p:spPr>
        <p:txBody>
          <a:bodyPr wrap="square" lIns="0" tIns="0" rIns="0" bIns="0" rtlCol="0" anchor="t"/>
          <a:lstStyle/>
          <a:p>
            <a:pPr indent="0" marL="0">
              <a:lnSpc>
                <a:spcPts val="1500"/>
              </a:lnSpc>
              <a:buNone/>
            </a:pPr>
            <a:r>
              <a:rPr lang="en-US" sz="1200" dirty="0">
                <a:solidFill>
                  <a:srgbClr val="6E6E73"/>
                </a:solidFill>
                <a:latin typeface="Calibri" pitchFamily="34" charset="0"/>
                <a:ea typeface="Calibri" pitchFamily="34" charset="-122"/>
                <a:cs typeface="Calibri" pitchFamily="34" charset="-120"/>
              </a:rPr>
              <a:t>n · shot rate · box entry · mean xG</a:t>
            </a:r>
            <a:endParaRPr lang="en-US" sz="1200" dirty="0"/>
          </a:p>
        </p:txBody>
      </p:sp>
      <p:sp>
        <p:nvSpPr>
          <p:cNvPr id="17" name="Text 15"/>
          <p:cNvSpPr/>
          <p:nvPr/>
        </p:nvSpPr>
        <p:spPr>
          <a:xfrm>
            <a:off x="685800" y="3538728"/>
            <a:ext cx="1965960" cy="548640"/>
          </a:xfrm>
          <a:prstGeom prst="rect">
            <a:avLst/>
          </a:prstGeom>
          <a:noFill/>
          <a:ln/>
        </p:spPr>
        <p:txBody>
          <a:bodyPr wrap="square" lIns="0" tIns="0" rIns="0" bIns="0" rtlCol="0" anchor="t"/>
          <a:lstStyle/>
          <a:p>
            <a:pPr indent="0" marL="0">
              <a:lnSpc>
                <a:spcPts val="1800"/>
              </a:lnSpc>
              <a:buNone/>
            </a:pPr>
            <a:r>
              <a:rPr lang="en-US" sz="1500" b="1" dirty="0">
                <a:solidFill>
                  <a:srgbClr val="161617"/>
                </a:solidFill>
                <a:latin typeface="Calibri" pitchFamily="34" charset="0"/>
                <a:ea typeface="Calibri" pitchFamily="34" charset="-122"/>
                <a:cs typeface="Calibri" pitchFamily="34" charset="-120"/>
              </a:rPr>
              <a:t>Short Under Pressure</a:t>
            </a:r>
            <a:endParaRPr lang="en-US" sz="1500" dirty="0"/>
          </a:p>
        </p:txBody>
      </p:sp>
      <p:sp>
        <p:nvSpPr>
          <p:cNvPr id="18" name="Shape 16"/>
          <p:cNvSpPr/>
          <p:nvPr/>
        </p:nvSpPr>
        <p:spPr>
          <a:xfrm>
            <a:off x="2788920" y="3429000"/>
            <a:ext cx="2121408" cy="749808"/>
          </a:xfrm>
          <a:prstGeom prst="roundRect">
            <a:avLst>
              <a:gd name="adj" fmla="val 7317"/>
            </a:avLst>
          </a:prstGeom>
          <a:solidFill>
            <a:srgbClr val="FFFFFF"/>
          </a:solidFill>
          <a:ln w="9525">
            <a:solidFill>
              <a:srgbClr val="FFFFFF"/>
            </a:solidFill>
            <a:prstDash val="solid"/>
          </a:ln>
        </p:spPr>
      </p:sp>
      <p:sp>
        <p:nvSpPr>
          <p:cNvPr id="19" name="Text 17"/>
          <p:cNvSpPr/>
          <p:nvPr/>
        </p:nvSpPr>
        <p:spPr>
          <a:xfrm>
            <a:off x="2935224" y="3611880"/>
            <a:ext cx="1828800" cy="457200"/>
          </a:xfrm>
          <a:prstGeom prst="rect">
            <a:avLst/>
          </a:prstGeom>
          <a:noFill/>
          <a:ln/>
        </p:spPr>
        <p:txBody>
          <a:bodyPr wrap="square" lIns="0" tIns="0" rIns="0" bIns="0" rtlCol="0" anchor="t"/>
          <a:lstStyle/>
          <a:p>
            <a:pPr indent="0" marL="0">
              <a:lnSpc>
                <a:spcPts val="1500"/>
              </a:lnSpc>
              <a:buNone/>
            </a:pPr>
            <a:r>
              <a:rPr lang="en-US" sz="1200" dirty="0">
                <a:solidFill>
                  <a:srgbClr val="6E6E73"/>
                </a:solidFill>
                <a:latin typeface="Calibri" pitchFamily="34" charset="0"/>
                <a:ea typeface="Calibri" pitchFamily="34" charset="-122"/>
                <a:cs typeface="Calibri" pitchFamily="34" charset="-120"/>
              </a:rPr>
              <a:t>n · shot rate · box entry · mean xG</a:t>
            </a:r>
            <a:endParaRPr lang="en-US" sz="1200" dirty="0"/>
          </a:p>
        </p:txBody>
      </p:sp>
      <p:sp>
        <p:nvSpPr>
          <p:cNvPr id="20" name="Shape 18"/>
          <p:cNvSpPr/>
          <p:nvPr/>
        </p:nvSpPr>
        <p:spPr>
          <a:xfrm>
            <a:off x="5056632" y="3429000"/>
            <a:ext cx="2121408" cy="749808"/>
          </a:xfrm>
          <a:prstGeom prst="roundRect">
            <a:avLst>
              <a:gd name="adj" fmla="val 7317"/>
            </a:avLst>
          </a:prstGeom>
          <a:solidFill>
            <a:srgbClr val="FFFFFF"/>
          </a:solidFill>
          <a:ln w="9525">
            <a:solidFill>
              <a:srgbClr val="FFFFFF"/>
            </a:solidFill>
            <a:prstDash val="solid"/>
          </a:ln>
        </p:spPr>
      </p:sp>
      <p:sp>
        <p:nvSpPr>
          <p:cNvPr id="21" name="Text 19"/>
          <p:cNvSpPr/>
          <p:nvPr/>
        </p:nvSpPr>
        <p:spPr>
          <a:xfrm>
            <a:off x="5202936" y="3611880"/>
            <a:ext cx="1828800" cy="457200"/>
          </a:xfrm>
          <a:prstGeom prst="rect">
            <a:avLst/>
          </a:prstGeom>
          <a:noFill/>
          <a:ln/>
        </p:spPr>
        <p:txBody>
          <a:bodyPr wrap="square" lIns="0" tIns="0" rIns="0" bIns="0" rtlCol="0" anchor="t"/>
          <a:lstStyle/>
          <a:p>
            <a:pPr indent="0" marL="0">
              <a:lnSpc>
                <a:spcPts val="1500"/>
              </a:lnSpc>
              <a:buNone/>
            </a:pPr>
            <a:r>
              <a:rPr lang="en-US" sz="1200" dirty="0">
                <a:solidFill>
                  <a:srgbClr val="6E6E73"/>
                </a:solidFill>
                <a:latin typeface="Calibri" pitchFamily="34" charset="0"/>
                <a:ea typeface="Calibri" pitchFamily="34" charset="-122"/>
                <a:cs typeface="Calibri" pitchFamily="34" charset="-120"/>
              </a:rPr>
              <a:t>n · shot rate · box entry · mean xG</a:t>
            </a:r>
            <a:endParaRPr lang="en-US" sz="1200" dirty="0"/>
          </a:p>
        </p:txBody>
      </p:sp>
      <p:sp>
        <p:nvSpPr>
          <p:cNvPr id="22" name="Shape 20"/>
          <p:cNvSpPr/>
          <p:nvPr/>
        </p:nvSpPr>
        <p:spPr>
          <a:xfrm>
            <a:off x="7324344" y="3429000"/>
            <a:ext cx="2121408" cy="749808"/>
          </a:xfrm>
          <a:prstGeom prst="roundRect">
            <a:avLst>
              <a:gd name="adj" fmla="val 7317"/>
            </a:avLst>
          </a:prstGeom>
          <a:solidFill>
            <a:srgbClr val="FFFFFF"/>
          </a:solidFill>
          <a:ln w="9525">
            <a:solidFill>
              <a:srgbClr val="FFFFFF"/>
            </a:solidFill>
            <a:prstDash val="solid"/>
          </a:ln>
        </p:spPr>
      </p:sp>
      <p:sp>
        <p:nvSpPr>
          <p:cNvPr id="23" name="Text 21"/>
          <p:cNvSpPr/>
          <p:nvPr/>
        </p:nvSpPr>
        <p:spPr>
          <a:xfrm>
            <a:off x="7470648" y="3611880"/>
            <a:ext cx="1828800" cy="457200"/>
          </a:xfrm>
          <a:prstGeom prst="rect">
            <a:avLst/>
          </a:prstGeom>
          <a:noFill/>
          <a:ln/>
        </p:spPr>
        <p:txBody>
          <a:bodyPr wrap="square" lIns="0" tIns="0" rIns="0" bIns="0" rtlCol="0" anchor="t"/>
          <a:lstStyle/>
          <a:p>
            <a:pPr indent="0" marL="0">
              <a:lnSpc>
                <a:spcPts val="1500"/>
              </a:lnSpc>
              <a:buNone/>
            </a:pPr>
            <a:r>
              <a:rPr lang="en-US" sz="1200" dirty="0">
                <a:solidFill>
                  <a:srgbClr val="6E6E73"/>
                </a:solidFill>
                <a:latin typeface="Calibri" pitchFamily="34" charset="0"/>
                <a:ea typeface="Calibri" pitchFamily="34" charset="-122"/>
                <a:cs typeface="Calibri" pitchFamily="34" charset="-120"/>
              </a:rPr>
              <a:t>n · shot rate · box entry · mean xG</a:t>
            </a:r>
            <a:endParaRPr lang="en-US" sz="1200" dirty="0"/>
          </a:p>
        </p:txBody>
      </p:sp>
      <p:sp>
        <p:nvSpPr>
          <p:cNvPr id="24" name="Shape 22"/>
          <p:cNvSpPr/>
          <p:nvPr/>
        </p:nvSpPr>
        <p:spPr>
          <a:xfrm>
            <a:off x="9592056" y="3429000"/>
            <a:ext cx="2121408" cy="749808"/>
          </a:xfrm>
          <a:prstGeom prst="roundRect">
            <a:avLst>
              <a:gd name="adj" fmla="val 7317"/>
            </a:avLst>
          </a:prstGeom>
          <a:solidFill>
            <a:srgbClr val="FFFFFF"/>
          </a:solidFill>
          <a:ln w="9525">
            <a:solidFill>
              <a:srgbClr val="FFFFFF"/>
            </a:solidFill>
            <a:prstDash val="solid"/>
          </a:ln>
        </p:spPr>
      </p:sp>
      <p:sp>
        <p:nvSpPr>
          <p:cNvPr id="25" name="Text 23"/>
          <p:cNvSpPr/>
          <p:nvPr/>
        </p:nvSpPr>
        <p:spPr>
          <a:xfrm>
            <a:off x="9738360" y="3611880"/>
            <a:ext cx="1828800" cy="457200"/>
          </a:xfrm>
          <a:prstGeom prst="rect">
            <a:avLst/>
          </a:prstGeom>
          <a:noFill/>
          <a:ln/>
        </p:spPr>
        <p:txBody>
          <a:bodyPr wrap="square" lIns="0" tIns="0" rIns="0" bIns="0" rtlCol="0" anchor="t"/>
          <a:lstStyle/>
          <a:p>
            <a:pPr indent="0" marL="0">
              <a:lnSpc>
                <a:spcPts val="1500"/>
              </a:lnSpc>
              <a:buNone/>
            </a:pPr>
            <a:r>
              <a:rPr lang="en-US" sz="1200" dirty="0">
                <a:solidFill>
                  <a:srgbClr val="6E6E73"/>
                </a:solidFill>
                <a:latin typeface="Calibri" pitchFamily="34" charset="0"/>
                <a:ea typeface="Calibri" pitchFamily="34" charset="-122"/>
                <a:cs typeface="Calibri" pitchFamily="34" charset="-120"/>
              </a:rPr>
              <a:t>n · shot rate · box entry · mean xG</a:t>
            </a:r>
            <a:endParaRPr lang="en-US" sz="1200" dirty="0"/>
          </a:p>
        </p:txBody>
      </p:sp>
      <p:sp>
        <p:nvSpPr>
          <p:cNvPr id="26" name="Text 24"/>
          <p:cNvSpPr/>
          <p:nvPr/>
        </p:nvSpPr>
        <p:spPr>
          <a:xfrm>
            <a:off x="685800" y="4407408"/>
            <a:ext cx="1965960" cy="548640"/>
          </a:xfrm>
          <a:prstGeom prst="rect">
            <a:avLst/>
          </a:prstGeom>
          <a:noFill/>
          <a:ln/>
        </p:spPr>
        <p:txBody>
          <a:bodyPr wrap="square" lIns="0" tIns="0" rIns="0" bIns="0" rtlCol="0" anchor="t"/>
          <a:lstStyle/>
          <a:p>
            <a:pPr indent="0" marL="0">
              <a:lnSpc>
                <a:spcPts val="1800"/>
              </a:lnSpc>
              <a:buNone/>
            </a:pPr>
            <a:r>
              <a:rPr lang="en-US" sz="1500" b="1" dirty="0">
                <a:solidFill>
                  <a:srgbClr val="161617"/>
                </a:solidFill>
                <a:latin typeface="Calibri" pitchFamily="34" charset="0"/>
                <a:ea typeface="Calibri" pitchFamily="34" charset="-122"/>
                <a:cs typeface="Calibri" pitchFamily="34" charset="-120"/>
              </a:rPr>
              <a:t>Direct Long Play</a:t>
            </a:r>
            <a:endParaRPr lang="en-US" sz="1500" dirty="0"/>
          </a:p>
        </p:txBody>
      </p:sp>
      <p:sp>
        <p:nvSpPr>
          <p:cNvPr id="27" name="Shape 25"/>
          <p:cNvSpPr/>
          <p:nvPr/>
        </p:nvSpPr>
        <p:spPr>
          <a:xfrm>
            <a:off x="2788920" y="4297680"/>
            <a:ext cx="2121408" cy="749808"/>
          </a:xfrm>
          <a:prstGeom prst="roundRect">
            <a:avLst>
              <a:gd name="adj" fmla="val 7317"/>
            </a:avLst>
          </a:prstGeom>
          <a:solidFill>
            <a:srgbClr val="FFFFFF"/>
          </a:solidFill>
          <a:ln w="9525">
            <a:solidFill>
              <a:srgbClr val="FFFFFF"/>
            </a:solidFill>
            <a:prstDash val="solid"/>
          </a:ln>
        </p:spPr>
      </p:sp>
      <p:sp>
        <p:nvSpPr>
          <p:cNvPr id="28" name="Text 26"/>
          <p:cNvSpPr/>
          <p:nvPr/>
        </p:nvSpPr>
        <p:spPr>
          <a:xfrm>
            <a:off x="2935224" y="4480560"/>
            <a:ext cx="1828800" cy="457200"/>
          </a:xfrm>
          <a:prstGeom prst="rect">
            <a:avLst/>
          </a:prstGeom>
          <a:noFill/>
          <a:ln/>
        </p:spPr>
        <p:txBody>
          <a:bodyPr wrap="square" lIns="0" tIns="0" rIns="0" bIns="0" rtlCol="0" anchor="t"/>
          <a:lstStyle/>
          <a:p>
            <a:pPr indent="0" marL="0">
              <a:lnSpc>
                <a:spcPts val="1500"/>
              </a:lnSpc>
              <a:buNone/>
            </a:pPr>
            <a:r>
              <a:rPr lang="en-US" sz="1200" dirty="0">
                <a:solidFill>
                  <a:srgbClr val="6E6E73"/>
                </a:solidFill>
                <a:latin typeface="Calibri" pitchFamily="34" charset="0"/>
                <a:ea typeface="Calibri" pitchFamily="34" charset="-122"/>
                <a:cs typeface="Calibri" pitchFamily="34" charset="-120"/>
              </a:rPr>
              <a:t>n · shot rate · box entry · mean xG</a:t>
            </a:r>
            <a:endParaRPr lang="en-US" sz="1200" dirty="0"/>
          </a:p>
        </p:txBody>
      </p:sp>
      <p:sp>
        <p:nvSpPr>
          <p:cNvPr id="29" name="Shape 27"/>
          <p:cNvSpPr/>
          <p:nvPr/>
        </p:nvSpPr>
        <p:spPr>
          <a:xfrm>
            <a:off x="5056632" y="4297680"/>
            <a:ext cx="2121408" cy="749808"/>
          </a:xfrm>
          <a:prstGeom prst="roundRect">
            <a:avLst>
              <a:gd name="adj" fmla="val 7317"/>
            </a:avLst>
          </a:prstGeom>
          <a:solidFill>
            <a:srgbClr val="FFFFFF"/>
          </a:solidFill>
          <a:ln w="9525">
            <a:solidFill>
              <a:srgbClr val="FFFFFF"/>
            </a:solidFill>
            <a:prstDash val="solid"/>
          </a:ln>
        </p:spPr>
      </p:sp>
      <p:sp>
        <p:nvSpPr>
          <p:cNvPr id="30" name="Text 28"/>
          <p:cNvSpPr/>
          <p:nvPr/>
        </p:nvSpPr>
        <p:spPr>
          <a:xfrm>
            <a:off x="5202936" y="4480560"/>
            <a:ext cx="1828800" cy="457200"/>
          </a:xfrm>
          <a:prstGeom prst="rect">
            <a:avLst/>
          </a:prstGeom>
          <a:noFill/>
          <a:ln/>
        </p:spPr>
        <p:txBody>
          <a:bodyPr wrap="square" lIns="0" tIns="0" rIns="0" bIns="0" rtlCol="0" anchor="t"/>
          <a:lstStyle/>
          <a:p>
            <a:pPr indent="0" marL="0">
              <a:lnSpc>
                <a:spcPts val="1500"/>
              </a:lnSpc>
              <a:buNone/>
            </a:pPr>
            <a:r>
              <a:rPr lang="en-US" sz="1200" dirty="0">
                <a:solidFill>
                  <a:srgbClr val="6E6E73"/>
                </a:solidFill>
                <a:latin typeface="Calibri" pitchFamily="34" charset="0"/>
                <a:ea typeface="Calibri" pitchFamily="34" charset="-122"/>
                <a:cs typeface="Calibri" pitchFamily="34" charset="-120"/>
              </a:rPr>
              <a:t>n · shot rate · box entry · mean xG</a:t>
            </a:r>
            <a:endParaRPr lang="en-US" sz="1200" dirty="0"/>
          </a:p>
        </p:txBody>
      </p:sp>
      <p:sp>
        <p:nvSpPr>
          <p:cNvPr id="31" name="Shape 29"/>
          <p:cNvSpPr/>
          <p:nvPr/>
        </p:nvSpPr>
        <p:spPr>
          <a:xfrm>
            <a:off x="7324344" y="4297680"/>
            <a:ext cx="2121408" cy="749808"/>
          </a:xfrm>
          <a:prstGeom prst="roundRect">
            <a:avLst>
              <a:gd name="adj" fmla="val 7317"/>
            </a:avLst>
          </a:prstGeom>
          <a:solidFill>
            <a:srgbClr val="FFFFFF"/>
          </a:solidFill>
          <a:ln w="9525">
            <a:solidFill>
              <a:srgbClr val="FFFFFF"/>
            </a:solidFill>
            <a:prstDash val="solid"/>
          </a:ln>
        </p:spPr>
      </p:sp>
      <p:sp>
        <p:nvSpPr>
          <p:cNvPr id="32" name="Text 30"/>
          <p:cNvSpPr/>
          <p:nvPr/>
        </p:nvSpPr>
        <p:spPr>
          <a:xfrm>
            <a:off x="7470648" y="4480560"/>
            <a:ext cx="1828800" cy="457200"/>
          </a:xfrm>
          <a:prstGeom prst="rect">
            <a:avLst/>
          </a:prstGeom>
          <a:noFill/>
          <a:ln/>
        </p:spPr>
        <p:txBody>
          <a:bodyPr wrap="square" lIns="0" tIns="0" rIns="0" bIns="0" rtlCol="0" anchor="t"/>
          <a:lstStyle/>
          <a:p>
            <a:pPr indent="0" marL="0">
              <a:lnSpc>
                <a:spcPts val="1500"/>
              </a:lnSpc>
              <a:buNone/>
            </a:pPr>
            <a:r>
              <a:rPr lang="en-US" sz="1200" dirty="0">
                <a:solidFill>
                  <a:srgbClr val="6E6E73"/>
                </a:solidFill>
                <a:latin typeface="Calibri" pitchFamily="34" charset="0"/>
                <a:ea typeface="Calibri" pitchFamily="34" charset="-122"/>
                <a:cs typeface="Calibri" pitchFamily="34" charset="-120"/>
              </a:rPr>
              <a:t>n · shot rate · box entry · mean xG</a:t>
            </a:r>
            <a:endParaRPr lang="en-US" sz="1200" dirty="0"/>
          </a:p>
        </p:txBody>
      </p:sp>
      <p:sp>
        <p:nvSpPr>
          <p:cNvPr id="33" name="Shape 31"/>
          <p:cNvSpPr/>
          <p:nvPr/>
        </p:nvSpPr>
        <p:spPr>
          <a:xfrm>
            <a:off x="9592056" y="4297680"/>
            <a:ext cx="2121408" cy="749808"/>
          </a:xfrm>
          <a:prstGeom prst="roundRect">
            <a:avLst>
              <a:gd name="adj" fmla="val 7317"/>
            </a:avLst>
          </a:prstGeom>
          <a:solidFill>
            <a:srgbClr val="FFFFFF"/>
          </a:solidFill>
          <a:ln w="9525">
            <a:solidFill>
              <a:srgbClr val="FFFFFF"/>
            </a:solidFill>
            <a:prstDash val="solid"/>
          </a:ln>
        </p:spPr>
      </p:sp>
      <p:sp>
        <p:nvSpPr>
          <p:cNvPr id="34" name="Text 32"/>
          <p:cNvSpPr/>
          <p:nvPr/>
        </p:nvSpPr>
        <p:spPr>
          <a:xfrm>
            <a:off x="9738360" y="4480560"/>
            <a:ext cx="1828800" cy="457200"/>
          </a:xfrm>
          <a:prstGeom prst="rect">
            <a:avLst/>
          </a:prstGeom>
          <a:noFill/>
          <a:ln/>
        </p:spPr>
        <p:txBody>
          <a:bodyPr wrap="square" lIns="0" tIns="0" rIns="0" bIns="0" rtlCol="0" anchor="t"/>
          <a:lstStyle/>
          <a:p>
            <a:pPr indent="0" marL="0">
              <a:lnSpc>
                <a:spcPts val="1500"/>
              </a:lnSpc>
              <a:buNone/>
            </a:pPr>
            <a:r>
              <a:rPr lang="en-US" sz="1200" dirty="0">
                <a:solidFill>
                  <a:srgbClr val="6E6E73"/>
                </a:solidFill>
                <a:latin typeface="Calibri" pitchFamily="34" charset="0"/>
                <a:ea typeface="Calibri" pitchFamily="34" charset="-122"/>
                <a:cs typeface="Calibri" pitchFamily="34" charset="-120"/>
              </a:rPr>
              <a:t>n · shot rate · box entry · mean xG</a:t>
            </a:r>
            <a:endParaRPr lang="en-US" sz="1200" dirty="0"/>
          </a:p>
        </p:txBody>
      </p:sp>
      <p:sp>
        <p:nvSpPr>
          <p:cNvPr id="35" name="Text 33"/>
          <p:cNvSpPr/>
          <p:nvPr/>
        </p:nvSpPr>
        <p:spPr>
          <a:xfrm>
            <a:off x="685800" y="5212080"/>
            <a:ext cx="10817352" cy="457200"/>
          </a:xfrm>
          <a:prstGeom prst="rect">
            <a:avLst/>
          </a:prstGeom>
          <a:noFill/>
          <a:ln/>
        </p:spPr>
        <p:txBody>
          <a:bodyPr wrap="square" lIns="0" tIns="0" rIns="0" bIns="0" rtlCol="0" anchor="t"/>
          <a:lstStyle/>
          <a:p>
            <a:pPr indent="0" marL="0">
              <a:buNone/>
            </a:pPr>
            <a:r>
              <a:rPr lang="en-US" sz="1600" dirty="0">
                <a:solidFill>
                  <a:srgbClr val="161617"/>
                </a:solidFill>
                <a:latin typeface="Calibri" pitchFamily="34" charset="0"/>
                <a:ea typeface="Calibri" pitchFamily="34" charset="-122"/>
                <a:cs typeface="Calibri" pitchFamily="34" charset="-120"/>
              </a:rPr>
              <a:t>3 attacking styles × 4 defensive styles = 12 cells. Every cell reports its sample size beside its effectiveness measures.</a:t>
            </a:r>
            <a:endParaRPr lang="en-US" sz="1600" dirty="0"/>
          </a:p>
        </p:txBody>
      </p:sp>
      <p:sp>
        <p:nvSpPr>
          <p:cNvPr id="36" name="Shape 34"/>
          <p:cNvSpPr/>
          <p:nvPr/>
        </p:nvSpPr>
        <p:spPr>
          <a:xfrm>
            <a:off x="685800" y="5669280"/>
            <a:ext cx="10817352" cy="777240"/>
          </a:xfrm>
          <a:prstGeom prst="roundRect">
            <a:avLst>
              <a:gd name="adj" fmla="val 7059"/>
            </a:avLst>
          </a:prstGeom>
          <a:solidFill>
            <a:srgbClr val="F9E7E8"/>
          </a:solidFill>
          <a:ln w="9525">
            <a:solidFill>
              <a:srgbClr val="F9E7E8"/>
            </a:solidFill>
            <a:prstDash val="solid"/>
          </a:ln>
        </p:spPr>
      </p:sp>
      <p:sp>
        <p:nvSpPr>
          <p:cNvPr id="37" name="Text 35"/>
          <p:cNvSpPr/>
          <p:nvPr/>
        </p:nvSpPr>
        <p:spPr>
          <a:xfrm>
            <a:off x="960120" y="5870448"/>
            <a:ext cx="10268712" cy="438912"/>
          </a:xfrm>
          <a:prstGeom prst="rect">
            <a:avLst/>
          </a:prstGeom>
          <a:noFill/>
          <a:ln/>
        </p:spPr>
        <p:txBody>
          <a:bodyPr wrap="square" lIns="0" tIns="0" rIns="0" bIns="0" rtlCol="0" anchor="t"/>
          <a:lstStyle/>
          <a:p>
            <a:pPr indent="0" marL="0">
              <a:lnSpc>
                <a:spcPts val="2125"/>
              </a:lnSpc>
              <a:buNone/>
            </a:pPr>
            <a:r>
              <a:rPr lang="en-US" sz="1700" b="1" dirty="0">
                <a:solidFill>
                  <a:srgbClr val="161617"/>
                </a:solidFill>
                <a:latin typeface="Calibri" pitchFamily="34" charset="0"/>
                <a:ea typeface="Calibri" pitchFamily="34" charset="-122"/>
                <a:cs typeface="Calibri" pitchFamily="34" charset="-120"/>
              </a:rPr>
              <a:t>These are observed tournament associations, not estimates of what would happen if a team changed tactics.</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15 / 28 · STAGE 5</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Stage 5 models completed-possession outcomes</a:t>
            </a:r>
            <a:endParaRPr lang="en-US" sz="3500" dirty="0"/>
          </a:p>
        </p:txBody>
      </p:sp>
      <p:sp>
        <p:nvSpPr>
          <p:cNvPr id="4" name="Shape 2"/>
          <p:cNvSpPr/>
          <p:nvPr/>
        </p:nvSpPr>
        <p:spPr>
          <a:xfrm>
            <a:off x="685800" y="1874520"/>
            <a:ext cx="2532888" cy="3931920"/>
          </a:xfrm>
          <a:prstGeom prst="roundRect">
            <a:avLst>
              <a:gd name="adj" fmla="val 2166"/>
            </a:avLst>
          </a:prstGeom>
          <a:solidFill>
            <a:srgbClr val="FFFFFF"/>
          </a:solidFill>
          <a:ln w="9525">
            <a:solidFill>
              <a:srgbClr val="FFFFFF"/>
            </a:solidFill>
            <a:prstDash val="solid"/>
          </a:ln>
        </p:spPr>
      </p:sp>
      <p:sp>
        <p:nvSpPr>
          <p:cNvPr id="5" name="Text 3"/>
          <p:cNvSpPr/>
          <p:nvPr/>
        </p:nvSpPr>
        <p:spPr>
          <a:xfrm>
            <a:off x="914400" y="2084832"/>
            <a:ext cx="2075688" cy="640080"/>
          </a:xfrm>
          <a:prstGeom prst="rect">
            <a:avLst/>
          </a:prstGeom>
          <a:noFill/>
          <a:ln/>
        </p:spPr>
        <p:txBody>
          <a:bodyPr wrap="square" lIns="0" tIns="0" rIns="0" bIns="0" rtlCol="0" anchor="t"/>
          <a:lstStyle/>
          <a:p>
            <a:pPr indent="0" marL="0">
              <a:lnSpc>
                <a:spcPts val="2400"/>
              </a:lnSpc>
              <a:buNone/>
            </a:pPr>
            <a:r>
              <a:rPr lang="en-US" sz="2000" b="1" dirty="0">
                <a:solidFill>
                  <a:srgbClr val="3568F0"/>
                </a:solidFill>
                <a:latin typeface="Calibri" pitchFamily="34" charset="0"/>
                <a:ea typeface="Calibri" pitchFamily="34" charset="-122"/>
                <a:cs typeface="Calibri" pitchFamily="34" charset="-120"/>
              </a:rPr>
              <a:t>Targets</a:t>
            </a:r>
            <a:endParaRPr lang="en-US" sz="2000" dirty="0"/>
          </a:p>
        </p:txBody>
      </p:sp>
      <p:sp>
        <p:nvSpPr>
          <p:cNvPr id="6" name="Text 4"/>
          <p:cNvSpPr/>
          <p:nvPr/>
        </p:nvSpPr>
        <p:spPr>
          <a:xfrm>
            <a:off x="914400" y="2788920"/>
            <a:ext cx="2075688" cy="914400"/>
          </a:xfrm>
          <a:prstGeom prst="rect">
            <a:avLst/>
          </a:prstGeom>
          <a:noFill/>
          <a:ln/>
        </p:spPr>
        <p:txBody>
          <a:bodyPr wrap="square" lIns="0" tIns="0" rIns="0" bIns="0" rtlCol="0" anchor="t"/>
          <a:lstStyle/>
          <a:p>
            <a:pPr marL="177800" indent="-177800">
              <a:lnSpc>
                <a:spcPts val="1952"/>
              </a:lnSpc>
              <a:spcAft>
                <a:spcPts val="800"/>
              </a:spcAft>
              <a:buSzPct val="100000"/>
              <a:buChar char="•"/>
            </a:pPr>
            <a:r>
              <a:rPr lang="en-US" sz="1600" dirty="0">
                <a:solidFill>
                  <a:srgbClr val="161617"/>
                </a:solidFill>
                <a:latin typeface="Calibri" pitchFamily="34" charset="0"/>
                <a:ea typeface="Calibri" pitchFamily="34" charset="-122"/>
                <a:cs typeface="Calibri" pitchFamily="34" charset="-120"/>
              </a:rPr>
              <a:t>Does the possession produce a shot?</a:t>
            </a:r>
            <a:endParaRPr lang="en-US" sz="1600" dirty="0"/>
          </a:p>
          <a:p>
            <a:pPr marL="177800" indent="-177800">
              <a:lnSpc>
                <a:spcPts val="1952"/>
              </a:lnSpc>
              <a:spcAft>
                <a:spcPts val="800"/>
              </a:spcAft>
              <a:buSzPct val="100000"/>
              <a:buChar char="•"/>
            </a:pPr>
            <a:r>
              <a:rPr lang="en-US" sz="1600" dirty="0">
                <a:solidFill>
                  <a:srgbClr val="161617"/>
                </a:solidFill>
                <a:latin typeface="Calibri" pitchFamily="34" charset="0"/>
                <a:ea typeface="Calibri" pitchFamily="34" charset="-122"/>
                <a:cs typeface="Calibri" pitchFamily="34" charset="-120"/>
              </a:rPr>
              <a:t>Does it enter or end inside the penalty area?</a:t>
            </a:r>
            <a:endParaRPr lang="en-US" sz="1600" dirty="0"/>
          </a:p>
        </p:txBody>
      </p:sp>
      <p:sp>
        <p:nvSpPr>
          <p:cNvPr id="7" name="Shape 5"/>
          <p:cNvSpPr/>
          <p:nvPr/>
        </p:nvSpPr>
        <p:spPr>
          <a:xfrm>
            <a:off x="3429000" y="1874520"/>
            <a:ext cx="2532888" cy="3931920"/>
          </a:xfrm>
          <a:prstGeom prst="roundRect">
            <a:avLst>
              <a:gd name="adj" fmla="val 2166"/>
            </a:avLst>
          </a:prstGeom>
          <a:solidFill>
            <a:srgbClr val="FFFFFF"/>
          </a:solidFill>
          <a:ln w="9525">
            <a:solidFill>
              <a:srgbClr val="FFFFFF"/>
            </a:solidFill>
            <a:prstDash val="solid"/>
          </a:ln>
        </p:spPr>
      </p:sp>
      <p:sp>
        <p:nvSpPr>
          <p:cNvPr id="8" name="Text 6"/>
          <p:cNvSpPr/>
          <p:nvPr/>
        </p:nvSpPr>
        <p:spPr>
          <a:xfrm>
            <a:off x="3657600" y="2084832"/>
            <a:ext cx="2075688" cy="640080"/>
          </a:xfrm>
          <a:prstGeom prst="rect">
            <a:avLst/>
          </a:prstGeom>
          <a:noFill/>
          <a:ln/>
        </p:spPr>
        <p:txBody>
          <a:bodyPr wrap="square" lIns="0" tIns="0" rIns="0" bIns="0" rtlCol="0" anchor="t"/>
          <a:lstStyle/>
          <a:p>
            <a:pPr indent="0" marL="0">
              <a:lnSpc>
                <a:spcPts val="2400"/>
              </a:lnSpc>
              <a:buNone/>
            </a:pPr>
            <a:r>
              <a:rPr lang="en-US" sz="2000" b="1" dirty="0">
                <a:solidFill>
                  <a:srgbClr val="3568F0"/>
                </a:solidFill>
                <a:latin typeface="Calibri" pitchFamily="34" charset="0"/>
                <a:ea typeface="Calibri" pitchFamily="34" charset="-122"/>
                <a:cs typeface="Calibri" pitchFamily="34" charset="-120"/>
              </a:rPr>
              <a:t>Model families</a:t>
            </a:r>
            <a:endParaRPr lang="en-US" sz="2000" dirty="0"/>
          </a:p>
        </p:txBody>
      </p:sp>
      <p:sp>
        <p:nvSpPr>
          <p:cNvPr id="9" name="Text 7"/>
          <p:cNvSpPr/>
          <p:nvPr/>
        </p:nvSpPr>
        <p:spPr>
          <a:xfrm>
            <a:off x="3657600" y="2788920"/>
            <a:ext cx="2075688" cy="914400"/>
          </a:xfrm>
          <a:prstGeom prst="rect">
            <a:avLst/>
          </a:prstGeom>
          <a:noFill/>
          <a:ln/>
        </p:spPr>
        <p:txBody>
          <a:bodyPr wrap="square" lIns="0" tIns="0" rIns="0" bIns="0" rtlCol="0" anchor="t"/>
          <a:lstStyle/>
          <a:p>
            <a:pPr marL="177800" indent="-177800">
              <a:lnSpc>
                <a:spcPts val="1952"/>
              </a:lnSpc>
              <a:spcAft>
                <a:spcPts val="800"/>
              </a:spcAft>
              <a:buSzPct val="100000"/>
              <a:buChar char="•"/>
            </a:pPr>
            <a:r>
              <a:rPr lang="en-US" sz="1600" dirty="0">
                <a:solidFill>
                  <a:srgbClr val="161617"/>
                </a:solidFill>
                <a:latin typeface="Calibri" pitchFamily="34" charset="0"/>
                <a:ea typeface="Calibri" pitchFamily="34" charset="-122"/>
                <a:cs typeface="Calibri" pitchFamily="34" charset="-120"/>
              </a:rPr>
              <a:t>Logistic regression baseline</a:t>
            </a:r>
            <a:endParaRPr lang="en-US" sz="1600" dirty="0"/>
          </a:p>
          <a:p>
            <a:pPr marL="177800" indent="-177800">
              <a:lnSpc>
                <a:spcPts val="1952"/>
              </a:lnSpc>
              <a:spcAft>
                <a:spcPts val="800"/>
              </a:spcAft>
              <a:buSzPct val="100000"/>
              <a:buChar char="•"/>
            </a:pPr>
            <a:r>
              <a:rPr lang="en-US" sz="1600" dirty="0">
                <a:solidFill>
                  <a:srgbClr val="161617"/>
                </a:solidFill>
                <a:latin typeface="Calibri" pitchFamily="34" charset="0"/>
                <a:ea typeface="Calibri" pitchFamily="34" charset="-122"/>
                <a:cs typeface="Calibri" pitchFamily="34" charset="-120"/>
              </a:rPr>
              <a:t>Random forest</a:t>
            </a:r>
            <a:endParaRPr lang="en-US" sz="1600" dirty="0"/>
          </a:p>
          <a:p>
            <a:pPr marL="177800" indent="-177800">
              <a:lnSpc>
                <a:spcPts val="1952"/>
              </a:lnSpc>
              <a:spcAft>
                <a:spcPts val="800"/>
              </a:spcAft>
              <a:buSzPct val="100000"/>
              <a:buChar char="•"/>
            </a:pPr>
            <a:r>
              <a:rPr lang="en-US" sz="1600" dirty="0">
                <a:solidFill>
                  <a:srgbClr val="161617"/>
                </a:solidFill>
                <a:latin typeface="Calibri" pitchFamily="34" charset="0"/>
                <a:ea typeface="Calibri" pitchFamily="34" charset="-122"/>
                <a:cs typeface="Calibri" pitchFamily="34" charset="-120"/>
              </a:rPr>
              <a:t>Histogram gradient boosting</a:t>
            </a:r>
            <a:endParaRPr lang="en-US" sz="1600" dirty="0"/>
          </a:p>
          <a:p>
            <a:pPr marL="177800" indent="-177800">
              <a:lnSpc>
                <a:spcPts val="1952"/>
              </a:lnSpc>
              <a:spcAft>
                <a:spcPts val="800"/>
              </a:spcAft>
              <a:buSzPct val="100000"/>
              <a:buChar char="•"/>
            </a:pPr>
            <a:r>
              <a:rPr lang="en-US" sz="1600" dirty="0">
                <a:solidFill>
                  <a:srgbClr val="161617"/>
                </a:solidFill>
                <a:latin typeface="Calibri" pitchFamily="34" charset="0"/>
                <a:ea typeface="Calibri" pitchFamily="34" charset="-122"/>
                <a:cs typeface="Calibri" pitchFamily="34" charset="-120"/>
              </a:rPr>
              <a:t>XGBoost</a:t>
            </a:r>
            <a:endParaRPr lang="en-US" sz="1600" dirty="0"/>
          </a:p>
          <a:p>
            <a:pPr marL="177800" indent="-177800">
              <a:lnSpc>
                <a:spcPts val="1952"/>
              </a:lnSpc>
              <a:spcAft>
                <a:spcPts val="800"/>
              </a:spcAft>
              <a:buSzPct val="100000"/>
              <a:buChar char="•"/>
            </a:pPr>
            <a:r>
              <a:rPr lang="en-US" sz="1600" dirty="0">
                <a:solidFill>
                  <a:srgbClr val="161617"/>
                </a:solidFill>
                <a:latin typeface="Calibri" pitchFamily="34" charset="0"/>
                <a:ea typeface="Calibri" pitchFamily="34" charset="-122"/>
                <a:cs typeface="Calibri" pitchFamily="34" charset="-120"/>
              </a:rPr>
              <a:t>Soft-voting ensembles</a:t>
            </a:r>
            <a:endParaRPr lang="en-US" sz="1600" dirty="0"/>
          </a:p>
        </p:txBody>
      </p:sp>
      <p:sp>
        <p:nvSpPr>
          <p:cNvPr id="10" name="Shape 8"/>
          <p:cNvSpPr/>
          <p:nvPr/>
        </p:nvSpPr>
        <p:spPr>
          <a:xfrm>
            <a:off x="6172200" y="1874520"/>
            <a:ext cx="2532888" cy="3931920"/>
          </a:xfrm>
          <a:prstGeom prst="roundRect">
            <a:avLst>
              <a:gd name="adj" fmla="val 2166"/>
            </a:avLst>
          </a:prstGeom>
          <a:solidFill>
            <a:srgbClr val="FFFFFF"/>
          </a:solidFill>
          <a:ln w="9525">
            <a:solidFill>
              <a:srgbClr val="FFFFFF"/>
            </a:solidFill>
            <a:prstDash val="solid"/>
          </a:ln>
        </p:spPr>
      </p:sp>
      <p:sp>
        <p:nvSpPr>
          <p:cNvPr id="11" name="Text 9"/>
          <p:cNvSpPr/>
          <p:nvPr/>
        </p:nvSpPr>
        <p:spPr>
          <a:xfrm>
            <a:off x="6400800" y="2084832"/>
            <a:ext cx="2075688" cy="640080"/>
          </a:xfrm>
          <a:prstGeom prst="rect">
            <a:avLst/>
          </a:prstGeom>
          <a:noFill/>
          <a:ln/>
        </p:spPr>
        <p:txBody>
          <a:bodyPr wrap="square" lIns="0" tIns="0" rIns="0" bIns="0" rtlCol="0" anchor="t"/>
          <a:lstStyle/>
          <a:p>
            <a:pPr indent="0" marL="0">
              <a:lnSpc>
                <a:spcPts val="2400"/>
              </a:lnSpc>
              <a:buNone/>
            </a:pPr>
            <a:r>
              <a:rPr lang="en-US" sz="2000" b="1" dirty="0">
                <a:solidFill>
                  <a:srgbClr val="3568F0"/>
                </a:solidFill>
                <a:latin typeface="Calibri" pitchFamily="34" charset="0"/>
                <a:ea typeface="Calibri" pitchFamily="34" charset="-122"/>
                <a:cs typeface="Calibri" pitchFamily="34" charset="-120"/>
              </a:rPr>
              <a:t>Feature layouts</a:t>
            </a:r>
            <a:endParaRPr lang="en-US" sz="2000" dirty="0"/>
          </a:p>
        </p:txBody>
      </p:sp>
      <p:sp>
        <p:nvSpPr>
          <p:cNvPr id="12" name="Text 10"/>
          <p:cNvSpPr/>
          <p:nvPr/>
        </p:nvSpPr>
        <p:spPr>
          <a:xfrm>
            <a:off x="6400800" y="2788920"/>
            <a:ext cx="2075688" cy="914400"/>
          </a:xfrm>
          <a:prstGeom prst="rect">
            <a:avLst/>
          </a:prstGeom>
          <a:noFill/>
          <a:ln/>
        </p:spPr>
        <p:txBody>
          <a:bodyPr wrap="square" lIns="0" tIns="0" rIns="0" bIns="0" rtlCol="0" anchor="t"/>
          <a:lstStyle/>
          <a:p>
            <a:pPr marL="177800" indent="-177800">
              <a:lnSpc>
                <a:spcPts val="1952"/>
              </a:lnSpc>
              <a:spcAft>
                <a:spcPts val="800"/>
              </a:spcAft>
              <a:buSzPct val="100000"/>
              <a:buChar char="•"/>
            </a:pPr>
            <a:r>
              <a:rPr lang="en-US" sz="1600" dirty="0">
                <a:solidFill>
                  <a:srgbClr val="161617"/>
                </a:solidFill>
                <a:latin typeface="Calibri" pitchFamily="34" charset="0"/>
                <a:ea typeface="Calibri" pitchFamily="34" charset="-122"/>
                <a:cs typeface="Calibri" pitchFamily="34" charset="-120"/>
              </a:rPr>
              <a:t>Start Context</a:t>
            </a:r>
            <a:endParaRPr lang="en-US" sz="1600" dirty="0"/>
          </a:p>
          <a:p>
            <a:pPr marL="177800" indent="-177800">
              <a:lnSpc>
                <a:spcPts val="1952"/>
              </a:lnSpc>
              <a:spcAft>
                <a:spcPts val="800"/>
              </a:spcAft>
              <a:buSzPct val="100000"/>
              <a:buChar char="•"/>
            </a:pPr>
            <a:r>
              <a:rPr lang="en-US" sz="1600" dirty="0">
                <a:solidFill>
                  <a:srgbClr val="161617"/>
                </a:solidFill>
                <a:latin typeface="Calibri" pitchFamily="34" charset="0"/>
                <a:ea typeface="Calibri" pitchFamily="34" charset="-122"/>
                <a:cs typeface="Calibri" pitchFamily="34" charset="-120"/>
              </a:rPr>
              <a:t>Context + Attack Style</a:t>
            </a:r>
            <a:endParaRPr lang="en-US" sz="1600" dirty="0"/>
          </a:p>
          <a:p>
            <a:pPr marL="177800" indent="-177800">
              <a:lnSpc>
                <a:spcPts val="1952"/>
              </a:lnSpc>
              <a:spcAft>
                <a:spcPts val="800"/>
              </a:spcAft>
              <a:buSzPct val="100000"/>
              <a:buChar char="•"/>
            </a:pPr>
            <a:r>
              <a:rPr lang="en-US" sz="1600" dirty="0">
                <a:solidFill>
                  <a:srgbClr val="161617"/>
                </a:solidFill>
                <a:latin typeface="Calibri" pitchFamily="34" charset="0"/>
                <a:ea typeface="Calibri" pitchFamily="34" charset="-122"/>
                <a:cs typeface="Calibri" pitchFamily="34" charset="-120"/>
              </a:rPr>
              <a:t>Context + Both Styles</a:t>
            </a:r>
            <a:endParaRPr lang="en-US" sz="1600" dirty="0"/>
          </a:p>
          <a:p>
            <a:pPr marL="177800" indent="-177800">
              <a:lnSpc>
                <a:spcPts val="1952"/>
              </a:lnSpc>
              <a:spcAft>
                <a:spcPts val="800"/>
              </a:spcAft>
              <a:buSzPct val="100000"/>
              <a:buChar char="•"/>
            </a:pPr>
            <a:r>
              <a:rPr lang="en-US" sz="1600" dirty="0">
                <a:solidFill>
                  <a:srgbClr val="161617"/>
                </a:solidFill>
                <a:latin typeface="Calibri" pitchFamily="34" charset="0"/>
                <a:ea typeface="Calibri" pitchFamily="34" charset="-122"/>
                <a:cs typeface="Calibri" pitchFamily="34" charset="-120"/>
              </a:rPr>
              <a:t>Tactical + Shape</a:t>
            </a:r>
            <a:endParaRPr lang="en-US" sz="1600" dirty="0"/>
          </a:p>
          <a:p>
            <a:pPr marL="177800" indent="-177800">
              <a:lnSpc>
                <a:spcPts val="1952"/>
              </a:lnSpc>
              <a:spcAft>
                <a:spcPts val="800"/>
              </a:spcAft>
              <a:buSzPct val="100000"/>
              <a:buChar char="•"/>
            </a:pPr>
            <a:r>
              <a:rPr lang="en-US" sz="1600" dirty="0">
                <a:solidFill>
                  <a:srgbClr val="161617"/>
                </a:solidFill>
                <a:latin typeface="Calibri" pitchFamily="34" charset="0"/>
                <a:ea typeface="Calibri" pitchFamily="34" charset="-122"/>
                <a:cs typeface="Calibri" pitchFamily="34" charset="-120"/>
              </a:rPr>
              <a:t>Player-Aware</a:t>
            </a:r>
            <a:endParaRPr lang="en-US" sz="1600" dirty="0"/>
          </a:p>
        </p:txBody>
      </p:sp>
      <p:sp>
        <p:nvSpPr>
          <p:cNvPr id="13" name="Shape 11"/>
          <p:cNvSpPr/>
          <p:nvPr/>
        </p:nvSpPr>
        <p:spPr>
          <a:xfrm>
            <a:off x="8915400" y="1874520"/>
            <a:ext cx="2532888" cy="3931920"/>
          </a:xfrm>
          <a:prstGeom prst="roundRect">
            <a:avLst>
              <a:gd name="adj" fmla="val 2166"/>
            </a:avLst>
          </a:prstGeom>
          <a:solidFill>
            <a:srgbClr val="FFFFFF"/>
          </a:solidFill>
          <a:ln w="9525">
            <a:solidFill>
              <a:srgbClr val="FFFFFF"/>
            </a:solidFill>
            <a:prstDash val="solid"/>
          </a:ln>
        </p:spPr>
      </p:sp>
      <p:sp>
        <p:nvSpPr>
          <p:cNvPr id="14" name="Text 12"/>
          <p:cNvSpPr/>
          <p:nvPr/>
        </p:nvSpPr>
        <p:spPr>
          <a:xfrm>
            <a:off x="9144000" y="2084832"/>
            <a:ext cx="2075688" cy="640080"/>
          </a:xfrm>
          <a:prstGeom prst="rect">
            <a:avLst/>
          </a:prstGeom>
          <a:noFill/>
          <a:ln/>
        </p:spPr>
        <p:txBody>
          <a:bodyPr wrap="square" lIns="0" tIns="0" rIns="0" bIns="0" rtlCol="0" anchor="t"/>
          <a:lstStyle/>
          <a:p>
            <a:pPr indent="0" marL="0">
              <a:lnSpc>
                <a:spcPts val="2400"/>
              </a:lnSpc>
              <a:buNone/>
            </a:pPr>
            <a:r>
              <a:rPr lang="en-US" sz="2000" b="1" dirty="0">
                <a:solidFill>
                  <a:srgbClr val="3568F0"/>
                </a:solidFill>
                <a:latin typeface="Calibri" pitchFamily="34" charset="0"/>
                <a:ea typeface="Calibri" pitchFamily="34" charset="-122"/>
                <a:cs typeface="Calibri" pitchFamily="34" charset="-120"/>
              </a:rPr>
              <a:t>Primary metrics</a:t>
            </a:r>
            <a:endParaRPr lang="en-US" sz="2000" dirty="0"/>
          </a:p>
        </p:txBody>
      </p:sp>
      <p:sp>
        <p:nvSpPr>
          <p:cNvPr id="15" name="Text 13"/>
          <p:cNvSpPr/>
          <p:nvPr/>
        </p:nvSpPr>
        <p:spPr>
          <a:xfrm>
            <a:off x="9144000" y="2788920"/>
            <a:ext cx="2075688" cy="914400"/>
          </a:xfrm>
          <a:prstGeom prst="rect">
            <a:avLst/>
          </a:prstGeom>
          <a:noFill/>
          <a:ln/>
        </p:spPr>
        <p:txBody>
          <a:bodyPr wrap="square" lIns="0" tIns="0" rIns="0" bIns="0" rtlCol="0" anchor="t"/>
          <a:lstStyle/>
          <a:p>
            <a:pPr marL="177800" indent="-177800">
              <a:lnSpc>
                <a:spcPts val="1952"/>
              </a:lnSpc>
              <a:spcAft>
                <a:spcPts val="800"/>
              </a:spcAft>
              <a:buSzPct val="100000"/>
              <a:buChar char="•"/>
            </a:pPr>
            <a:r>
              <a:rPr lang="en-US" sz="1600" dirty="0">
                <a:solidFill>
                  <a:srgbClr val="161617"/>
                </a:solidFill>
                <a:latin typeface="Calibri" pitchFamily="34" charset="0"/>
                <a:ea typeface="Calibri" pitchFamily="34" charset="-122"/>
                <a:cs typeface="Calibri" pitchFamily="34" charset="-120"/>
              </a:rPr>
              <a:t>Log loss and Brier score</a:t>
            </a:r>
            <a:endParaRPr lang="en-US" sz="1600" dirty="0"/>
          </a:p>
          <a:p>
            <a:pPr marL="177800" indent="-177800">
              <a:lnSpc>
                <a:spcPts val="1952"/>
              </a:lnSpc>
              <a:spcAft>
                <a:spcPts val="800"/>
              </a:spcAft>
              <a:buSzPct val="100000"/>
              <a:buChar char="•"/>
            </a:pPr>
            <a:r>
              <a:rPr lang="en-US" sz="1600" dirty="0">
                <a:solidFill>
                  <a:srgbClr val="161617"/>
                </a:solidFill>
                <a:latin typeface="Calibri" pitchFamily="34" charset="0"/>
                <a:ea typeface="Calibri" pitchFamily="34" charset="-122"/>
                <a:cs typeface="Calibri" pitchFamily="34" charset="-120"/>
              </a:rPr>
              <a:t>ROC-AUC and PR-AUC</a:t>
            </a:r>
            <a:endParaRPr lang="en-US" sz="1600" dirty="0"/>
          </a:p>
          <a:p>
            <a:pPr marL="177800" indent="-177800">
              <a:lnSpc>
                <a:spcPts val="1952"/>
              </a:lnSpc>
              <a:spcAft>
                <a:spcPts val="800"/>
              </a:spcAft>
              <a:buSzPct val="100000"/>
              <a:buChar char="•"/>
            </a:pPr>
            <a:r>
              <a:rPr lang="en-US" sz="1600" dirty="0">
                <a:solidFill>
                  <a:srgbClr val="161617"/>
                </a:solidFill>
                <a:latin typeface="Calibri" pitchFamily="34" charset="0"/>
                <a:ea typeface="Calibri" pitchFamily="34" charset="-122"/>
                <a:cs typeface="Calibri" pitchFamily="34" charset="-120"/>
              </a:rPr>
              <a:t>Calibration error</a:t>
            </a:r>
            <a:endParaRPr lang="en-US" sz="1600" dirty="0"/>
          </a:p>
        </p:txBody>
      </p:sp>
      <p:sp>
        <p:nvSpPr>
          <p:cNvPr id="16" name="Text 14"/>
          <p:cNvSpPr/>
          <p:nvPr/>
        </p:nvSpPr>
        <p:spPr>
          <a:xfrm>
            <a:off x="685800" y="5989320"/>
            <a:ext cx="10817352" cy="274320"/>
          </a:xfrm>
          <a:prstGeom prst="rect">
            <a:avLst/>
          </a:prstGeom>
          <a:noFill/>
          <a:ln/>
        </p:spPr>
        <p:txBody>
          <a:bodyPr wrap="square" lIns="0" tIns="0" rIns="0" bIns="0" rtlCol="0" anchor="t"/>
          <a:lstStyle/>
          <a:p>
            <a:pPr indent="0" marL="0">
              <a:buNone/>
            </a:pPr>
            <a:r>
              <a:rPr lang="en-US" sz="1600" i="1" dirty="0">
                <a:solidFill>
                  <a:srgbClr val="6E6E73"/>
                </a:solidFill>
                <a:latin typeface="Calibri" pitchFamily="34" charset="0"/>
                <a:ea typeface="Calibri" pitchFamily="34" charset="-122"/>
                <a:cs typeface="Calibri" pitchFamily="34" charset="-120"/>
              </a:rPr>
              <a:t>Probability quality leads. Log loss and Brier score decide selection; ROC-AUC and PR-AUC are secondary discrimination checks.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16 / 28 · EVALUATION DESIGN</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Match-aware validation reduces optimistic leakage</a:t>
            </a:r>
            <a:endParaRPr lang="en-US" sz="3500" dirty="0"/>
          </a:p>
        </p:txBody>
      </p:sp>
      <p:sp>
        <p:nvSpPr>
          <p:cNvPr id="4" name="Text 2"/>
          <p:cNvSpPr/>
          <p:nvPr/>
        </p:nvSpPr>
        <p:spPr>
          <a:xfrm>
            <a:off x="685800" y="1783080"/>
            <a:ext cx="10817352" cy="320040"/>
          </a:xfrm>
          <a:prstGeom prst="rect">
            <a:avLst/>
          </a:prstGeom>
          <a:noFill/>
          <a:ln/>
        </p:spPr>
        <p:txBody>
          <a:bodyPr wrap="square" lIns="0" tIns="0" rIns="0" bIns="0" rtlCol="0" anchor="t"/>
          <a:lstStyle/>
          <a:p>
            <a:pPr indent="0" marL="0">
              <a:buNone/>
            </a:pPr>
            <a:r>
              <a:rPr lang="en-US" sz="1700" dirty="0">
                <a:solidFill>
                  <a:srgbClr val="6E6E73"/>
                </a:solidFill>
                <a:latin typeface="Calibri" pitchFamily="34" charset="0"/>
                <a:ea typeface="Calibri" pitchFamily="34" charset="-122"/>
                <a:cs typeface="Calibri" pitchFamily="34" charset="-120"/>
              </a:rPr>
              <a:t>Five-fold stratified group cross-validation — complete matches stay on one side of the split</a:t>
            </a:r>
            <a:endParaRPr lang="en-US" sz="1700" dirty="0"/>
          </a:p>
        </p:txBody>
      </p:sp>
      <p:sp>
        <p:nvSpPr>
          <p:cNvPr id="5" name="Text 3"/>
          <p:cNvSpPr/>
          <p:nvPr/>
        </p:nvSpPr>
        <p:spPr>
          <a:xfrm>
            <a:off x="685800" y="2276856"/>
            <a:ext cx="777240" cy="274320"/>
          </a:xfrm>
          <a:prstGeom prst="rect">
            <a:avLst/>
          </a:prstGeom>
          <a:noFill/>
          <a:ln/>
        </p:spPr>
        <p:txBody>
          <a:bodyPr wrap="square" lIns="0" tIns="0" rIns="0" bIns="0" rtlCol="0" anchor="t"/>
          <a:lstStyle/>
          <a:p>
            <a:pPr indent="0" marL="0">
              <a:buNone/>
            </a:pPr>
            <a:r>
              <a:rPr lang="en-US" sz="1400" dirty="0">
                <a:solidFill>
                  <a:srgbClr val="6E6E73"/>
                </a:solidFill>
                <a:latin typeface="Calibri" pitchFamily="34" charset="0"/>
                <a:ea typeface="Calibri" pitchFamily="34" charset="-122"/>
                <a:cs typeface="Calibri" pitchFamily="34" charset="-120"/>
              </a:rPr>
              <a:t>Fold 1</a:t>
            </a:r>
            <a:endParaRPr lang="en-US" sz="1400" dirty="0"/>
          </a:p>
        </p:txBody>
      </p:sp>
      <p:sp>
        <p:nvSpPr>
          <p:cNvPr id="6" name="Shape 4"/>
          <p:cNvSpPr/>
          <p:nvPr/>
        </p:nvSpPr>
        <p:spPr>
          <a:xfrm>
            <a:off x="1554480" y="2240280"/>
            <a:ext cx="804672" cy="310896"/>
          </a:xfrm>
          <a:prstGeom prst="rect">
            <a:avLst/>
          </a:prstGeom>
          <a:solidFill>
            <a:srgbClr val="D44B52"/>
          </a:solidFill>
          <a:ln w="12700">
            <a:solidFill>
              <a:srgbClr val="333333"/>
            </a:solidFill>
            <a:prstDash val="solid"/>
          </a:ln>
        </p:spPr>
      </p:sp>
      <p:sp>
        <p:nvSpPr>
          <p:cNvPr id="7" name="Shape 5"/>
          <p:cNvSpPr/>
          <p:nvPr/>
        </p:nvSpPr>
        <p:spPr>
          <a:xfrm>
            <a:off x="2450592" y="2240280"/>
            <a:ext cx="804672" cy="310896"/>
          </a:xfrm>
          <a:prstGeom prst="rect">
            <a:avLst/>
          </a:prstGeom>
          <a:solidFill>
            <a:srgbClr val="E3EAFD"/>
          </a:solidFill>
          <a:ln w="12700">
            <a:solidFill>
              <a:srgbClr val="333333"/>
            </a:solidFill>
            <a:prstDash val="solid"/>
          </a:ln>
        </p:spPr>
      </p:sp>
      <p:sp>
        <p:nvSpPr>
          <p:cNvPr id="8" name="Shape 6"/>
          <p:cNvSpPr/>
          <p:nvPr/>
        </p:nvSpPr>
        <p:spPr>
          <a:xfrm>
            <a:off x="3346704" y="2240280"/>
            <a:ext cx="804672" cy="310896"/>
          </a:xfrm>
          <a:prstGeom prst="rect">
            <a:avLst/>
          </a:prstGeom>
          <a:solidFill>
            <a:srgbClr val="E3EAFD"/>
          </a:solidFill>
          <a:ln w="12700">
            <a:solidFill>
              <a:srgbClr val="333333"/>
            </a:solidFill>
            <a:prstDash val="solid"/>
          </a:ln>
        </p:spPr>
      </p:sp>
      <p:sp>
        <p:nvSpPr>
          <p:cNvPr id="9" name="Shape 7"/>
          <p:cNvSpPr/>
          <p:nvPr/>
        </p:nvSpPr>
        <p:spPr>
          <a:xfrm>
            <a:off x="4242816" y="2240280"/>
            <a:ext cx="804672" cy="310896"/>
          </a:xfrm>
          <a:prstGeom prst="rect">
            <a:avLst/>
          </a:prstGeom>
          <a:solidFill>
            <a:srgbClr val="E3EAFD"/>
          </a:solidFill>
          <a:ln w="12700">
            <a:solidFill>
              <a:srgbClr val="333333"/>
            </a:solidFill>
            <a:prstDash val="solid"/>
          </a:ln>
        </p:spPr>
      </p:sp>
      <p:sp>
        <p:nvSpPr>
          <p:cNvPr id="10" name="Shape 8"/>
          <p:cNvSpPr/>
          <p:nvPr/>
        </p:nvSpPr>
        <p:spPr>
          <a:xfrm>
            <a:off x="5138928" y="2240280"/>
            <a:ext cx="804672" cy="310896"/>
          </a:xfrm>
          <a:prstGeom prst="rect">
            <a:avLst/>
          </a:prstGeom>
          <a:solidFill>
            <a:srgbClr val="E3EAFD"/>
          </a:solidFill>
          <a:ln w="12700">
            <a:solidFill>
              <a:srgbClr val="333333"/>
            </a:solidFill>
            <a:prstDash val="solid"/>
          </a:ln>
        </p:spPr>
      </p:sp>
      <p:sp>
        <p:nvSpPr>
          <p:cNvPr id="11" name="Text 9"/>
          <p:cNvSpPr/>
          <p:nvPr/>
        </p:nvSpPr>
        <p:spPr>
          <a:xfrm>
            <a:off x="685800" y="2715768"/>
            <a:ext cx="777240" cy="274320"/>
          </a:xfrm>
          <a:prstGeom prst="rect">
            <a:avLst/>
          </a:prstGeom>
          <a:noFill/>
          <a:ln/>
        </p:spPr>
        <p:txBody>
          <a:bodyPr wrap="square" lIns="0" tIns="0" rIns="0" bIns="0" rtlCol="0" anchor="t"/>
          <a:lstStyle/>
          <a:p>
            <a:pPr indent="0" marL="0">
              <a:buNone/>
            </a:pPr>
            <a:r>
              <a:rPr lang="en-US" sz="1400" dirty="0">
                <a:solidFill>
                  <a:srgbClr val="6E6E73"/>
                </a:solidFill>
                <a:latin typeface="Calibri" pitchFamily="34" charset="0"/>
                <a:ea typeface="Calibri" pitchFamily="34" charset="-122"/>
                <a:cs typeface="Calibri" pitchFamily="34" charset="-120"/>
              </a:rPr>
              <a:t>Fold 2</a:t>
            </a:r>
            <a:endParaRPr lang="en-US" sz="1400" dirty="0"/>
          </a:p>
        </p:txBody>
      </p:sp>
      <p:sp>
        <p:nvSpPr>
          <p:cNvPr id="12" name="Shape 10"/>
          <p:cNvSpPr/>
          <p:nvPr/>
        </p:nvSpPr>
        <p:spPr>
          <a:xfrm>
            <a:off x="1554480" y="2679192"/>
            <a:ext cx="804672" cy="310896"/>
          </a:xfrm>
          <a:prstGeom prst="rect">
            <a:avLst/>
          </a:prstGeom>
          <a:solidFill>
            <a:srgbClr val="E3EAFD"/>
          </a:solidFill>
          <a:ln w="12700">
            <a:solidFill>
              <a:srgbClr val="333333"/>
            </a:solidFill>
            <a:prstDash val="solid"/>
          </a:ln>
        </p:spPr>
      </p:sp>
      <p:sp>
        <p:nvSpPr>
          <p:cNvPr id="13" name="Shape 11"/>
          <p:cNvSpPr/>
          <p:nvPr/>
        </p:nvSpPr>
        <p:spPr>
          <a:xfrm>
            <a:off x="2450592" y="2679192"/>
            <a:ext cx="804672" cy="310896"/>
          </a:xfrm>
          <a:prstGeom prst="rect">
            <a:avLst/>
          </a:prstGeom>
          <a:solidFill>
            <a:srgbClr val="D44B52"/>
          </a:solidFill>
          <a:ln w="12700">
            <a:solidFill>
              <a:srgbClr val="333333"/>
            </a:solidFill>
            <a:prstDash val="solid"/>
          </a:ln>
        </p:spPr>
      </p:sp>
      <p:sp>
        <p:nvSpPr>
          <p:cNvPr id="14" name="Shape 12"/>
          <p:cNvSpPr/>
          <p:nvPr/>
        </p:nvSpPr>
        <p:spPr>
          <a:xfrm>
            <a:off x="3346704" y="2679192"/>
            <a:ext cx="804672" cy="310896"/>
          </a:xfrm>
          <a:prstGeom prst="rect">
            <a:avLst/>
          </a:prstGeom>
          <a:solidFill>
            <a:srgbClr val="E3EAFD"/>
          </a:solidFill>
          <a:ln w="12700">
            <a:solidFill>
              <a:srgbClr val="333333"/>
            </a:solidFill>
            <a:prstDash val="solid"/>
          </a:ln>
        </p:spPr>
      </p:sp>
      <p:sp>
        <p:nvSpPr>
          <p:cNvPr id="15" name="Shape 13"/>
          <p:cNvSpPr/>
          <p:nvPr/>
        </p:nvSpPr>
        <p:spPr>
          <a:xfrm>
            <a:off x="4242816" y="2679192"/>
            <a:ext cx="804672" cy="310896"/>
          </a:xfrm>
          <a:prstGeom prst="rect">
            <a:avLst/>
          </a:prstGeom>
          <a:solidFill>
            <a:srgbClr val="E3EAFD"/>
          </a:solidFill>
          <a:ln w="12700">
            <a:solidFill>
              <a:srgbClr val="333333"/>
            </a:solidFill>
            <a:prstDash val="solid"/>
          </a:ln>
        </p:spPr>
      </p:sp>
      <p:sp>
        <p:nvSpPr>
          <p:cNvPr id="16" name="Shape 14"/>
          <p:cNvSpPr/>
          <p:nvPr/>
        </p:nvSpPr>
        <p:spPr>
          <a:xfrm>
            <a:off x="5138928" y="2679192"/>
            <a:ext cx="804672" cy="310896"/>
          </a:xfrm>
          <a:prstGeom prst="rect">
            <a:avLst/>
          </a:prstGeom>
          <a:solidFill>
            <a:srgbClr val="E3EAFD"/>
          </a:solidFill>
          <a:ln w="12700">
            <a:solidFill>
              <a:srgbClr val="333333"/>
            </a:solidFill>
            <a:prstDash val="solid"/>
          </a:ln>
        </p:spPr>
      </p:sp>
      <p:sp>
        <p:nvSpPr>
          <p:cNvPr id="17" name="Text 15"/>
          <p:cNvSpPr/>
          <p:nvPr/>
        </p:nvSpPr>
        <p:spPr>
          <a:xfrm>
            <a:off x="685800" y="3154680"/>
            <a:ext cx="777240" cy="274320"/>
          </a:xfrm>
          <a:prstGeom prst="rect">
            <a:avLst/>
          </a:prstGeom>
          <a:noFill/>
          <a:ln/>
        </p:spPr>
        <p:txBody>
          <a:bodyPr wrap="square" lIns="0" tIns="0" rIns="0" bIns="0" rtlCol="0" anchor="t"/>
          <a:lstStyle/>
          <a:p>
            <a:pPr indent="0" marL="0">
              <a:buNone/>
            </a:pPr>
            <a:r>
              <a:rPr lang="en-US" sz="1400" dirty="0">
                <a:solidFill>
                  <a:srgbClr val="6E6E73"/>
                </a:solidFill>
                <a:latin typeface="Calibri" pitchFamily="34" charset="0"/>
                <a:ea typeface="Calibri" pitchFamily="34" charset="-122"/>
                <a:cs typeface="Calibri" pitchFamily="34" charset="-120"/>
              </a:rPr>
              <a:t>Fold 3</a:t>
            </a:r>
            <a:endParaRPr lang="en-US" sz="1400" dirty="0"/>
          </a:p>
        </p:txBody>
      </p:sp>
      <p:sp>
        <p:nvSpPr>
          <p:cNvPr id="18" name="Shape 16"/>
          <p:cNvSpPr/>
          <p:nvPr/>
        </p:nvSpPr>
        <p:spPr>
          <a:xfrm>
            <a:off x="1554480" y="3118104"/>
            <a:ext cx="804672" cy="310896"/>
          </a:xfrm>
          <a:prstGeom prst="rect">
            <a:avLst/>
          </a:prstGeom>
          <a:solidFill>
            <a:srgbClr val="E3EAFD"/>
          </a:solidFill>
          <a:ln w="12700">
            <a:solidFill>
              <a:srgbClr val="333333"/>
            </a:solidFill>
            <a:prstDash val="solid"/>
          </a:ln>
        </p:spPr>
      </p:sp>
      <p:sp>
        <p:nvSpPr>
          <p:cNvPr id="19" name="Shape 17"/>
          <p:cNvSpPr/>
          <p:nvPr/>
        </p:nvSpPr>
        <p:spPr>
          <a:xfrm>
            <a:off x="2450592" y="3118104"/>
            <a:ext cx="804672" cy="310896"/>
          </a:xfrm>
          <a:prstGeom prst="rect">
            <a:avLst/>
          </a:prstGeom>
          <a:solidFill>
            <a:srgbClr val="E3EAFD"/>
          </a:solidFill>
          <a:ln w="12700">
            <a:solidFill>
              <a:srgbClr val="333333"/>
            </a:solidFill>
            <a:prstDash val="solid"/>
          </a:ln>
        </p:spPr>
      </p:sp>
      <p:sp>
        <p:nvSpPr>
          <p:cNvPr id="20" name="Shape 18"/>
          <p:cNvSpPr/>
          <p:nvPr/>
        </p:nvSpPr>
        <p:spPr>
          <a:xfrm>
            <a:off x="3346704" y="3118104"/>
            <a:ext cx="804672" cy="310896"/>
          </a:xfrm>
          <a:prstGeom prst="rect">
            <a:avLst/>
          </a:prstGeom>
          <a:solidFill>
            <a:srgbClr val="D44B52"/>
          </a:solidFill>
          <a:ln w="12700">
            <a:solidFill>
              <a:srgbClr val="333333"/>
            </a:solidFill>
            <a:prstDash val="solid"/>
          </a:ln>
        </p:spPr>
      </p:sp>
      <p:sp>
        <p:nvSpPr>
          <p:cNvPr id="21" name="Shape 19"/>
          <p:cNvSpPr/>
          <p:nvPr/>
        </p:nvSpPr>
        <p:spPr>
          <a:xfrm>
            <a:off x="4242816" y="3118104"/>
            <a:ext cx="804672" cy="310896"/>
          </a:xfrm>
          <a:prstGeom prst="rect">
            <a:avLst/>
          </a:prstGeom>
          <a:solidFill>
            <a:srgbClr val="E3EAFD"/>
          </a:solidFill>
          <a:ln w="12700">
            <a:solidFill>
              <a:srgbClr val="333333"/>
            </a:solidFill>
            <a:prstDash val="solid"/>
          </a:ln>
        </p:spPr>
      </p:sp>
      <p:sp>
        <p:nvSpPr>
          <p:cNvPr id="22" name="Shape 20"/>
          <p:cNvSpPr/>
          <p:nvPr/>
        </p:nvSpPr>
        <p:spPr>
          <a:xfrm>
            <a:off x="5138928" y="3118104"/>
            <a:ext cx="804672" cy="310896"/>
          </a:xfrm>
          <a:prstGeom prst="rect">
            <a:avLst/>
          </a:prstGeom>
          <a:solidFill>
            <a:srgbClr val="E3EAFD"/>
          </a:solidFill>
          <a:ln w="12700">
            <a:solidFill>
              <a:srgbClr val="333333"/>
            </a:solidFill>
            <a:prstDash val="solid"/>
          </a:ln>
        </p:spPr>
      </p:sp>
      <p:sp>
        <p:nvSpPr>
          <p:cNvPr id="23" name="Text 21"/>
          <p:cNvSpPr/>
          <p:nvPr/>
        </p:nvSpPr>
        <p:spPr>
          <a:xfrm>
            <a:off x="685800" y="3593592"/>
            <a:ext cx="777240" cy="274320"/>
          </a:xfrm>
          <a:prstGeom prst="rect">
            <a:avLst/>
          </a:prstGeom>
          <a:noFill/>
          <a:ln/>
        </p:spPr>
        <p:txBody>
          <a:bodyPr wrap="square" lIns="0" tIns="0" rIns="0" bIns="0" rtlCol="0" anchor="t"/>
          <a:lstStyle/>
          <a:p>
            <a:pPr indent="0" marL="0">
              <a:buNone/>
            </a:pPr>
            <a:r>
              <a:rPr lang="en-US" sz="1400" dirty="0">
                <a:solidFill>
                  <a:srgbClr val="6E6E73"/>
                </a:solidFill>
                <a:latin typeface="Calibri" pitchFamily="34" charset="0"/>
                <a:ea typeface="Calibri" pitchFamily="34" charset="-122"/>
                <a:cs typeface="Calibri" pitchFamily="34" charset="-120"/>
              </a:rPr>
              <a:t>Fold 4</a:t>
            </a:r>
            <a:endParaRPr lang="en-US" sz="1400" dirty="0"/>
          </a:p>
        </p:txBody>
      </p:sp>
      <p:sp>
        <p:nvSpPr>
          <p:cNvPr id="24" name="Shape 22"/>
          <p:cNvSpPr/>
          <p:nvPr/>
        </p:nvSpPr>
        <p:spPr>
          <a:xfrm>
            <a:off x="1554480" y="3557016"/>
            <a:ext cx="804672" cy="310896"/>
          </a:xfrm>
          <a:prstGeom prst="rect">
            <a:avLst/>
          </a:prstGeom>
          <a:solidFill>
            <a:srgbClr val="E3EAFD"/>
          </a:solidFill>
          <a:ln w="12700">
            <a:solidFill>
              <a:srgbClr val="333333"/>
            </a:solidFill>
            <a:prstDash val="solid"/>
          </a:ln>
        </p:spPr>
      </p:sp>
      <p:sp>
        <p:nvSpPr>
          <p:cNvPr id="25" name="Shape 23"/>
          <p:cNvSpPr/>
          <p:nvPr/>
        </p:nvSpPr>
        <p:spPr>
          <a:xfrm>
            <a:off x="2450592" y="3557016"/>
            <a:ext cx="804672" cy="310896"/>
          </a:xfrm>
          <a:prstGeom prst="rect">
            <a:avLst/>
          </a:prstGeom>
          <a:solidFill>
            <a:srgbClr val="E3EAFD"/>
          </a:solidFill>
          <a:ln w="12700">
            <a:solidFill>
              <a:srgbClr val="333333"/>
            </a:solidFill>
            <a:prstDash val="solid"/>
          </a:ln>
        </p:spPr>
      </p:sp>
      <p:sp>
        <p:nvSpPr>
          <p:cNvPr id="26" name="Shape 24"/>
          <p:cNvSpPr/>
          <p:nvPr/>
        </p:nvSpPr>
        <p:spPr>
          <a:xfrm>
            <a:off x="3346704" y="3557016"/>
            <a:ext cx="804672" cy="310896"/>
          </a:xfrm>
          <a:prstGeom prst="rect">
            <a:avLst/>
          </a:prstGeom>
          <a:solidFill>
            <a:srgbClr val="E3EAFD"/>
          </a:solidFill>
          <a:ln w="12700">
            <a:solidFill>
              <a:srgbClr val="333333"/>
            </a:solidFill>
            <a:prstDash val="solid"/>
          </a:ln>
        </p:spPr>
      </p:sp>
      <p:sp>
        <p:nvSpPr>
          <p:cNvPr id="27" name="Shape 25"/>
          <p:cNvSpPr/>
          <p:nvPr/>
        </p:nvSpPr>
        <p:spPr>
          <a:xfrm>
            <a:off x="4242816" y="3557016"/>
            <a:ext cx="804672" cy="310896"/>
          </a:xfrm>
          <a:prstGeom prst="rect">
            <a:avLst/>
          </a:prstGeom>
          <a:solidFill>
            <a:srgbClr val="D44B52"/>
          </a:solidFill>
          <a:ln w="12700">
            <a:solidFill>
              <a:srgbClr val="333333"/>
            </a:solidFill>
            <a:prstDash val="solid"/>
          </a:ln>
        </p:spPr>
      </p:sp>
      <p:sp>
        <p:nvSpPr>
          <p:cNvPr id="28" name="Shape 26"/>
          <p:cNvSpPr/>
          <p:nvPr/>
        </p:nvSpPr>
        <p:spPr>
          <a:xfrm>
            <a:off x="5138928" y="3557016"/>
            <a:ext cx="804672" cy="310896"/>
          </a:xfrm>
          <a:prstGeom prst="rect">
            <a:avLst/>
          </a:prstGeom>
          <a:solidFill>
            <a:srgbClr val="E3EAFD"/>
          </a:solidFill>
          <a:ln w="12700">
            <a:solidFill>
              <a:srgbClr val="333333"/>
            </a:solidFill>
            <a:prstDash val="solid"/>
          </a:ln>
        </p:spPr>
      </p:sp>
      <p:sp>
        <p:nvSpPr>
          <p:cNvPr id="29" name="Text 27"/>
          <p:cNvSpPr/>
          <p:nvPr/>
        </p:nvSpPr>
        <p:spPr>
          <a:xfrm>
            <a:off x="685800" y="4032504"/>
            <a:ext cx="777240" cy="274320"/>
          </a:xfrm>
          <a:prstGeom prst="rect">
            <a:avLst/>
          </a:prstGeom>
          <a:noFill/>
          <a:ln/>
        </p:spPr>
        <p:txBody>
          <a:bodyPr wrap="square" lIns="0" tIns="0" rIns="0" bIns="0" rtlCol="0" anchor="t"/>
          <a:lstStyle/>
          <a:p>
            <a:pPr indent="0" marL="0">
              <a:buNone/>
            </a:pPr>
            <a:r>
              <a:rPr lang="en-US" sz="1400" dirty="0">
                <a:solidFill>
                  <a:srgbClr val="6E6E73"/>
                </a:solidFill>
                <a:latin typeface="Calibri" pitchFamily="34" charset="0"/>
                <a:ea typeface="Calibri" pitchFamily="34" charset="-122"/>
                <a:cs typeface="Calibri" pitchFamily="34" charset="-120"/>
              </a:rPr>
              <a:t>Fold 5</a:t>
            </a:r>
            <a:endParaRPr lang="en-US" sz="1400" dirty="0"/>
          </a:p>
        </p:txBody>
      </p:sp>
      <p:sp>
        <p:nvSpPr>
          <p:cNvPr id="30" name="Shape 28"/>
          <p:cNvSpPr/>
          <p:nvPr/>
        </p:nvSpPr>
        <p:spPr>
          <a:xfrm>
            <a:off x="1554480" y="3995928"/>
            <a:ext cx="804672" cy="310896"/>
          </a:xfrm>
          <a:prstGeom prst="rect">
            <a:avLst/>
          </a:prstGeom>
          <a:solidFill>
            <a:srgbClr val="E3EAFD"/>
          </a:solidFill>
          <a:ln w="12700">
            <a:solidFill>
              <a:srgbClr val="333333"/>
            </a:solidFill>
            <a:prstDash val="solid"/>
          </a:ln>
        </p:spPr>
      </p:sp>
      <p:sp>
        <p:nvSpPr>
          <p:cNvPr id="31" name="Shape 29"/>
          <p:cNvSpPr/>
          <p:nvPr/>
        </p:nvSpPr>
        <p:spPr>
          <a:xfrm>
            <a:off x="2450592" y="3995928"/>
            <a:ext cx="804672" cy="310896"/>
          </a:xfrm>
          <a:prstGeom prst="rect">
            <a:avLst/>
          </a:prstGeom>
          <a:solidFill>
            <a:srgbClr val="E3EAFD"/>
          </a:solidFill>
          <a:ln w="12700">
            <a:solidFill>
              <a:srgbClr val="333333"/>
            </a:solidFill>
            <a:prstDash val="solid"/>
          </a:ln>
        </p:spPr>
      </p:sp>
      <p:sp>
        <p:nvSpPr>
          <p:cNvPr id="32" name="Shape 30"/>
          <p:cNvSpPr/>
          <p:nvPr/>
        </p:nvSpPr>
        <p:spPr>
          <a:xfrm>
            <a:off x="3346704" y="3995928"/>
            <a:ext cx="804672" cy="310896"/>
          </a:xfrm>
          <a:prstGeom prst="rect">
            <a:avLst/>
          </a:prstGeom>
          <a:solidFill>
            <a:srgbClr val="E3EAFD"/>
          </a:solidFill>
          <a:ln w="12700">
            <a:solidFill>
              <a:srgbClr val="333333"/>
            </a:solidFill>
            <a:prstDash val="solid"/>
          </a:ln>
        </p:spPr>
      </p:sp>
      <p:sp>
        <p:nvSpPr>
          <p:cNvPr id="33" name="Shape 31"/>
          <p:cNvSpPr/>
          <p:nvPr/>
        </p:nvSpPr>
        <p:spPr>
          <a:xfrm>
            <a:off x="4242816" y="3995928"/>
            <a:ext cx="804672" cy="310896"/>
          </a:xfrm>
          <a:prstGeom prst="rect">
            <a:avLst/>
          </a:prstGeom>
          <a:solidFill>
            <a:srgbClr val="E3EAFD"/>
          </a:solidFill>
          <a:ln w="12700">
            <a:solidFill>
              <a:srgbClr val="333333"/>
            </a:solidFill>
            <a:prstDash val="solid"/>
          </a:ln>
        </p:spPr>
      </p:sp>
      <p:sp>
        <p:nvSpPr>
          <p:cNvPr id="34" name="Shape 32"/>
          <p:cNvSpPr/>
          <p:nvPr/>
        </p:nvSpPr>
        <p:spPr>
          <a:xfrm>
            <a:off x="5138928" y="3995928"/>
            <a:ext cx="804672" cy="310896"/>
          </a:xfrm>
          <a:prstGeom prst="rect">
            <a:avLst/>
          </a:prstGeom>
          <a:solidFill>
            <a:srgbClr val="D44B52"/>
          </a:solidFill>
          <a:ln w="12700">
            <a:solidFill>
              <a:srgbClr val="333333"/>
            </a:solidFill>
            <a:prstDash val="solid"/>
          </a:ln>
        </p:spPr>
      </p:sp>
      <p:sp>
        <p:nvSpPr>
          <p:cNvPr id="35" name="Shape 33"/>
          <p:cNvSpPr/>
          <p:nvPr/>
        </p:nvSpPr>
        <p:spPr>
          <a:xfrm>
            <a:off x="1554480" y="4553712"/>
            <a:ext cx="164592" cy="164592"/>
          </a:xfrm>
          <a:prstGeom prst="rect">
            <a:avLst/>
          </a:prstGeom>
          <a:solidFill>
            <a:srgbClr val="D44B52"/>
          </a:solidFill>
          <a:ln w="12700">
            <a:solidFill>
              <a:srgbClr val="333333"/>
            </a:solidFill>
            <a:prstDash val="solid"/>
          </a:ln>
        </p:spPr>
      </p:sp>
      <p:sp>
        <p:nvSpPr>
          <p:cNvPr id="36" name="Text 34"/>
          <p:cNvSpPr/>
          <p:nvPr/>
        </p:nvSpPr>
        <p:spPr>
          <a:xfrm>
            <a:off x="1792224" y="4526280"/>
            <a:ext cx="1554480" cy="256032"/>
          </a:xfrm>
          <a:prstGeom prst="rect">
            <a:avLst/>
          </a:prstGeom>
          <a:noFill/>
          <a:ln/>
        </p:spPr>
        <p:txBody>
          <a:bodyPr wrap="square" lIns="0" tIns="0" rIns="0" bIns="0" rtlCol="0" anchor="t"/>
          <a:lstStyle/>
          <a:p>
            <a:pPr indent="0" marL="0">
              <a:buNone/>
            </a:pPr>
            <a:r>
              <a:rPr lang="en-US" sz="1200" dirty="0">
                <a:solidFill>
                  <a:srgbClr val="6E6E73"/>
                </a:solidFill>
                <a:latin typeface="Calibri" pitchFamily="34" charset="0"/>
                <a:ea typeface="Calibri" pitchFamily="34" charset="-122"/>
                <a:cs typeface="Calibri" pitchFamily="34" charset="-120"/>
              </a:rPr>
              <a:t>validation matches</a:t>
            </a:r>
            <a:endParaRPr lang="en-US" sz="1200" dirty="0"/>
          </a:p>
        </p:txBody>
      </p:sp>
      <p:sp>
        <p:nvSpPr>
          <p:cNvPr id="37" name="Shape 35"/>
          <p:cNvSpPr/>
          <p:nvPr/>
        </p:nvSpPr>
        <p:spPr>
          <a:xfrm>
            <a:off x="3429000" y="4553712"/>
            <a:ext cx="164592" cy="164592"/>
          </a:xfrm>
          <a:prstGeom prst="rect">
            <a:avLst/>
          </a:prstGeom>
          <a:solidFill>
            <a:srgbClr val="E3EAFD"/>
          </a:solidFill>
          <a:ln w="12700">
            <a:solidFill>
              <a:srgbClr val="333333"/>
            </a:solidFill>
            <a:prstDash val="solid"/>
          </a:ln>
        </p:spPr>
      </p:sp>
      <p:sp>
        <p:nvSpPr>
          <p:cNvPr id="38" name="Text 36"/>
          <p:cNvSpPr/>
          <p:nvPr/>
        </p:nvSpPr>
        <p:spPr>
          <a:xfrm>
            <a:off x="3666744" y="4526280"/>
            <a:ext cx="1554480" cy="256032"/>
          </a:xfrm>
          <a:prstGeom prst="rect">
            <a:avLst/>
          </a:prstGeom>
          <a:noFill/>
          <a:ln/>
        </p:spPr>
        <p:txBody>
          <a:bodyPr wrap="square" lIns="0" tIns="0" rIns="0" bIns="0" rtlCol="0" anchor="t"/>
          <a:lstStyle/>
          <a:p>
            <a:pPr indent="0" marL="0">
              <a:buNone/>
            </a:pPr>
            <a:r>
              <a:rPr lang="en-US" sz="1200" dirty="0">
                <a:solidFill>
                  <a:srgbClr val="6E6E73"/>
                </a:solidFill>
                <a:latin typeface="Calibri" pitchFamily="34" charset="0"/>
                <a:ea typeface="Calibri" pitchFamily="34" charset="-122"/>
                <a:cs typeface="Calibri" pitchFamily="34" charset="-120"/>
              </a:rPr>
              <a:t>training matches</a:t>
            </a:r>
            <a:endParaRPr lang="en-US" sz="1200" dirty="0"/>
          </a:p>
        </p:txBody>
      </p:sp>
      <p:sp>
        <p:nvSpPr>
          <p:cNvPr id="39" name="Text 37"/>
          <p:cNvSpPr/>
          <p:nvPr/>
        </p:nvSpPr>
        <p:spPr>
          <a:xfrm>
            <a:off x="6446520" y="1874520"/>
            <a:ext cx="5056632" cy="384048"/>
          </a:xfrm>
          <a:prstGeom prst="rect">
            <a:avLst/>
          </a:prstGeom>
          <a:noFill/>
          <a:ln/>
        </p:spPr>
        <p:txBody>
          <a:bodyPr wrap="square" lIns="0" tIns="0" rIns="0" bIns="0" rtlCol="0" anchor="t"/>
          <a:lstStyle/>
          <a:p>
            <a:pPr indent="0" marL="0">
              <a:buNone/>
            </a:pPr>
            <a:r>
              <a:rPr lang="en-US" sz="2200" b="1" dirty="0">
                <a:solidFill>
                  <a:srgbClr val="161617"/>
                </a:solidFill>
                <a:latin typeface="Calibri" pitchFamily="34" charset="0"/>
                <a:ea typeface="Calibri" pitchFamily="34" charset="-122"/>
                <a:cs typeface="Calibri" pitchFamily="34" charset="-120"/>
              </a:rPr>
              <a:t>Rules of the split</a:t>
            </a:r>
            <a:endParaRPr lang="en-US" sz="2200" dirty="0"/>
          </a:p>
        </p:txBody>
      </p:sp>
      <p:sp>
        <p:nvSpPr>
          <p:cNvPr id="40" name="Text 38"/>
          <p:cNvSpPr/>
          <p:nvPr/>
        </p:nvSpPr>
        <p:spPr>
          <a:xfrm>
            <a:off x="6446520" y="2395728"/>
            <a:ext cx="5056632" cy="914400"/>
          </a:xfrm>
          <a:prstGeom prst="rect">
            <a:avLst/>
          </a:prstGeom>
          <a:noFill/>
          <a:ln/>
        </p:spPr>
        <p:txBody>
          <a:bodyPr wrap="square" lIns="0" tIns="0" rIns="0" bIns="0" rtlCol="0" anchor="t"/>
          <a:lstStyle/>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Imputation, scaling and encoding fitted inside training folds</a:t>
            </a:r>
            <a:endParaRPr lang="en-US" sz="1600" dirty="0"/>
          </a:p>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Player-performance profiles exclude the validation match</a:t>
            </a:r>
            <a:endParaRPr lang="en-US" sz="1600" dirty="0"/>
          </a:p>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Team and player identities are never predictive features</a:t>
            </a:r>
            <a:endParaRPr lang="en-US" sz="1600" dirty="0"/>
          </a:p>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Confidence intervals resample complete matches</a:t>
            </a:r>
            <a:endParaRPr lang="en-US" sz="1600" dirty="0"/>
          </a:p>
          <a:p>
            <a:pPr marL="177800" indent="-177800">
              <a:lnSpc>
                <a:spcPts val="1952"/>
              </a:lnSpc>
              <a:spcAft>
                <a:spcPts val="700"/>
              </a:spcAft>
              <a:buSzPct val="100000"/>
              <a:buChar char="•"/>
            </a:pPr>
            <a:r>
              <a:rPr lang="en-US" sz="1600" dirty="0">
                <a:solidFill>
                  <a:srgbClr val="161617"/>
                </a:solidFill>
                <a:latin typeface="Calibri" pitchFamily="34" charset="0"/>
                <a:ea typeface="Calibri" pitchFamily="34" charset="-122"/>
                <a:cs typeface="Calibri" pitchFamily="34" charset="-120"/>
              </a:rPr>
              <a:t>Selection uses 5,000 match-cluster bootstrap replicates and a simplicity-aware tie rule</a:t>
            </a:r>
            <a:endParaRPr lang="en-US" sz="1600" dirty="0"/>
          </a:p>
        </p:txBody>
      </p:sp>
      <p:sp>
        <p:nvSpPr>
          <p:cNvPr id="41" name="Text 39"/>
          <p:cNvSpPr/>
          <p:nvPr/>
        </p:nvSpPr>
        <p:spPr>
          <a:xfrm>
            <a:off x="685800" y="4937760"/>
            <a:ext cx="10817352" cy="274320"/>
          </a:xfrm>
          <a:prstGeom prst="rect">
            <a:avLst/>
          </a:prstGeom>
          <a:noFill/>
          <a:ln/>
        </p:spPr>
        <p:txBody>
          <a:bodyPr wrap="square" lIns="0" tIns="0" rIns="0" bIns="0" rtlCol="0" anchor="t"/>
          <a:lstStyle/>
          <a:p>
            <a:pPr indent="0" marL="0">
              <a:buNone/>
            </a:pPr>
            <a:r>
              <a:rPr lang="en-US" sz="1600" i="1" dirty="0">
                <a:solidFill>
                  <a:srgbClr val="6E6E73"/>
                </a:solidFill>
                <a:latin typeface="Calibri" pitchFamily="34" charset="0"/>
                <a:ea typeface="Calibri" pitchFamily="34" charset="-122"/>
                <a:cs typeface="Calibri" pitchFamily="34" charset="-120"/>
              </a:rPr>
              <a:t>Row-random splitting would be unsafe: possessions from one match share teams, lineups, tactics and context.</a:t>
            </a:r>
            <a:endParaRPr lang="en-US" sz="1600" dirty="0"/>
          </a:p>
        </p:txBody>
      </p:sp>
      <p:sp>
        <p:nvSpPr>
          <p:cNvPr id="42" name="Shape 40"/>
          <p:cNvSpPr/>
          <p:nvPr/>
        </p:nvSpPr>
        <p:spPr>
          <a:xfrm>
            <a:off x="685800" y="5349240"/>
            <a:ext cx="10817352" cy="1051560"/>
          </a:xfrm>
          <a:prstGeom prst="roundRect">
            <a:avLst>
              <a:gd name="adj" fmla="val 5217"/>
            </a:avLst>
          </a:prstGeom>
          <a:solidFill>
            <a:srgbClr val="F9E7E8"/>
          </a:solidFill>
          <a:ln w="9525">
            <a:solidFill>
              <a:srgbClr val="F9E7E8"/>
            </a:solidFill>
            <a:prstDash val="solid"/>
          </a:ln>
        </p:spPr>
      </p:sp>
      <p:sp>
        <p:nvSpPr>
          <p:cNvPr id="43" name="Text 41"/>
          <p:cNvSpPr/>
          <p:nvPr/>
        </p:nvSpPr>
        <p:spPr>
          <a:xfrm>
            <a:off x="960120" y="5550408"/>
            <a:ext cx="10268712" cy="237744"/>
          </a:xfrm>
          <a:prstGeom prst="rect">
            <a:avLst/>
          </a:prstGeom>
          <a:noFill/>
          <a:ln/>
        </p:spPr>
        <p:txBody>
          <a:bodyPr wrap="square" lIns="0" tIns="0" rIns="0" bIns="0" rtlCol="0" anchor="t"/>
          <a:lstStyle/>
          <a:p>
            <a:pPr indent="0" marL="0">
              <a:buNone/>
            </a:pPr>
            <a:r>
              <a:rPr lang="en-US" sz="1200" b="1" spc="140" kern="0" dirty="0">
                <a:solidFill>
                  <a:srgbClr val="D44B52"/>
                </a:solidFill>
                <a:latin typeface="Calibri" pitchFamily="34" charset="0"/>
                <a:ea typeface="Calibri" pitchFamily="34" charset="-122"/>
                <a:cs typeface="Calibri" pitchFamily="34" charset="-120"/>
              </a:rPr>
              <a:t>CURRENT ACCEPTANCE STATUS</a:t>
            </a:r>
            <a:endParaRPr lang="en-US" sz="1200" dirty="0"/>
          </a:p>
        </p:txBody>
      </p:sp>
      <p:sp>
        <p:nvSpPr>
          <p:cNvPr id="44" name="Text 42"/>
          <p:cNvSpPr/>
          <p:nvPr/>
        </p:nvSpPr>
        <p:spPr>
          <a:xfrm>
            <a:off x="960120" y="5879592"/>
            <a:ext cx="10268712" cy="384048"/>
          </a:xfrm>
          <a:prstGeom prst="rect">
            <a:avLst/>
          </a:prstGeom>
          <a:noFill/>
          <a:ln/>
        </p:spPr>
        <p:txBody>
          <a:bodyPr wrap="square" lIns="0" tIns="0" rIns="0" bIns="0" rtlCol="0" anchor="t"/>
          <a:lstStyle/>
          <a:p>
            <a:pPr indent="0" marL="0">
              <a:lnSpc>
                <a:spcPts val="2000"/>
              </a:lnSpc>
              <a:buNone/>
            </a:pPr>
            <a:r>
              <a:rPr lang="en-US" sz="1600" dirty="0">
                <a:solidFill>
                  <a:srgbClr val="161617"/>
                </a:solidFill>
                <a:latin typeface="Calibri" pitchFamily="34" charset="0"/>
                <a:ea typeface="Calibri" pitchFamily="34" charset="-122"/>
                <a:cs typeface="Calibri" pitchFamily="34" charset="-120"/>
              </a:rPr>
              <a:t>The consolidated V4 suite passes 15 of 16 gates. The failing gate is locked_classifier_preserved: the saved bundle expects play_pattern while the generated table provides first_play_pattern.</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17 / 28 · INFORMATION BOUNDARY</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Strong retrospective performance does not equal live forecasting</a:t>
            </a:r>
            <a:endParaRPr lang="en-US" sz="3500" dirty="0"/>
          </a:p>
        </p:txBody>
      </p:sp>
      <p:sp>
        <p:nvSpPr>
          <p:cNvPr id="4" name="Shape 2"/>
          <p:cNvSpPr/>
          <p:nvPr/>
        </p:nvSpPr>
        <p:spPr>
          <a:xfrm>
            <a:off x="685800" y="1874520"/>
            <a:ext cx="5257800" cy="2743200"/>
          </a:xfrm>
          <a:prstGeom prst="roundRect">
            <a:avLst>
              <a:gd name="adj" fmla="val 2000"/>
            </a:avLst>
          </a:prstGeom>
          <a:solidFill>
            <a:srgbClr val="E1EDE8"/>
          </a:solidFill>
          <a:ln w="9525">
            <a:solidFill>
              <a:srgbClr val="E1EDE8"/>
            </a:solidFill>
            <a:prstDash val="solid"/>
          </a:ln>
        </p:spPr>
      </p:sp>
      <p:sp>
        <p:nvSpPr>
          <p:cNvPr id="5" name="Text 3"/>
          <p:cNvSpPr/>
          <p:nvPr/>
        </p:nvSpPr>
        <p:spPr>
          <a:xfrm>
            <a:off x="960120" y="2084832"/>
            <a:ext cx="4709160" cy="384048"/>
          </a:xfrm>
          <a:prstGeom prst="rect">
            <a:avLst/>
          </a:prstGeom>
          <a:noFill/>
          <a:ln/>
        </p:spPr>
        <p:txBody>
          <a:bodyPr wrap="square" lIns="0" tIns="0" rIns="0" bIns="0" rtlCol="0" anchor="t"/>
          <a:lstStyle/>
          <a:p>
            <a:pPr indent="0" marL="0">
              <a:buNone/>
            </a:pPr>
            <a:r>
              <a:rPr lang="en-US" sz="2000" b="1" dirty="0">
                <a:solidFill>
                  <a:srgbClr val="24775B"/>
                </a:solidFill>
                <a:latin typeface="Calibri" pitchFamily="34" charset="0"/>
                <a:ea typeface="Calibri" pitchFamily="34" charset="-122"/>
                <a:cs typeface="Calibri" pitchFamily="34" charset="-120"/>
              </a:rPr>
              <a:t>Available at possession start</a:t>
            </a:r>
            <a:endParaRPr lang="en-US" sz="2000" dirty="0"/>
          </a:p>
        </p:txBody>
      </p:sp>
      <p:sp>
        <p:nvSpPr>
          <p:cNvPr id="6" name="Text 4"/>
          <p:cNvSpPr/>
          <p:nvPr/>
        </p:nvSpPr>
        <p:spPr>
          <a:xfrm>
            <a:off x="960120" y="2633472"/>
            <a:ext cx="4709160" cy="914400"/>
          </a:xfrm>
          <a:prstGeom prst="rect">
            <a:avLst/>
          </a:prstGeom>
          <a:noFill/>
          <a:ln/>
        </p:spPr>
        <p:txBody>
          <a:bodyPr wrap="square" lIns="0" tIns="0" rIns="0" bIns="0" rtlCol="0" anchor="t"/>
          <a:lstStyle/>
          <a:p>
            <a:pPr marL="177800" indent="-177800">
              <a:lnSpc>
                <a:spcPts val="1952"/>
              </a:lnSpc>
              <a:spcAft>
                <a:spcPts val="400"/>
              </a:spcAft>
              <a:buSzPct val="100000"/>
              <a:buChar char="•"/>
            </a:pPr>
            <a:r>
              <a:rPr lang="en-US" sz="1600" dirty="0">
                <a:solidFill>
                  <a:srgbClr val="161617"/>
                </a:solidFill>
                <a:latin typeface="Calibri" pitchFamily="34" charset="0"/>
                <a:ea typeface="Calibri" pitchFamily="34" charset="-122"/>
                <a:cs typeface="Calibri" pitchFamily="34" charset="-120"/>
              </a:rPr>
              <a:t>Period and start minute</a:t>
            </a:r>
            <a:endParaRPr lang="en-US" sz="1600" dirty="0"/>
          </a:p>
          <a:p>
            <a:pPr marL="177800" indent="-177800">
              <a:lnSpc>
                <a:spcPts val="1952"/>
              </a:lnSpc>
              <a:spcAft>
                <a:spcPts val="400"/>
              </a:spcAft>
              <a:buSzPct val="100000"/>
              <a:buChar char="•"/>
            </a:pPr>
            <a:r>
              <a:rPr lang="en-US" sz="1600" dirty="0">
                <a:solidFill>
                  <a:srgbClr val="161617"/>
                </a:solidFill>
                <a:latin typeface="Calibri" pitchFamily="34" charset="0"/>
                <a:ea typeface="Calibri" pitchFamily="34" charset="-122"/>
                <a:cs typeface="Calibri" pitchFamily="34" charset="-120"/>
              </a:rPr>
              <a:t>Start coordinates</a:t>
            </a:r>
            <a:endParaRPr lang="en-US" sz="1600" dirty="0"/>
          </a:p>
          <a:p>
            <a:pPr marL="177800" indent="-177800">
              <a:lnSpc>
                <a:spcPts val="1952"/>
              </a:lnSpc>
              <a:spcAft>
                <a:spcPts val="400"/>
              </a:spcAft>
              <a:buSzPct val="100000"/>
              <a:buChar char="•"/>
            </a:pPr>
            <a:r>
              <a:rPr lang="en-US" sz="1600" dirty="0">
                <a:solidFill>
                  <a:srgbClr val="161617"/>
                </a:solidFill>
                <a:latin typeface="Calibri" pitchFamily="34" charset="0"/>
                <a:ea typeface="Calibri" pitchFamily="34" charset="-122"/>
                <a:cs typeface="Calibri" pitchFamily="34" charset="-120"/>
              </a:rPr>
              <a:t>Competition stage</a:t>
            </a:r>
            <a:endParaRPr lang="en-US" sz="1600" dirty="0"/>
          </a:p>
          <a:p>
            <a:pPr marL="177800" indent="-177800">
              <a:lnSpc>
                <a:spcPts val="1952"/>
              </a:lnSpc>
              <a:spcAft>
                <a:spcPts val="400"/>
              </a:spcAft>
              <a:buSzPct val="100000"/>
              <a:buChar char="•"/>
            </a:pPr>
            <a:r>
              <a:rPr lang="en-US" sz="1600" dirty="0">
                <a:solidFill>
                  <a:srgbClr val="161617"/>
                </a:solidFill>
                <a:latin typeface="Calibri" pitchFamily="34" charset="0"/>
                <a:ea typeface="Calibri" pitchFamily="34" charset="-122"/>
                <a:cs typeface="Calibri" pitchFamily="34" charset="-120"/>
              </a:rPr>
              <a:t>First-event play pattern</a:t>
            </a:r>
            <a:endParaRPr lang="en-US" sz="1600" dirty="0"/>
          </a:p>
          <a:p>
            <a:pPr marL="177800" indent="-177800">
              <a:lnSpc>
                <a:spcPts val="1952"/>
              </a:lnSpc>
              <a:spcAft>
                <a:spcPts val="400"/>
              </a:spcAft>
              <a:buSzPct val="100000"/>
              <a:buChar char="•"/>
            </a:pPr>
            <a:r>
              <a:rPr lang="en-US" sz="1600" dirty="0">
                <a:solidFill>
                  <a:srgbClr val="161617"/>
                </a:solidFill>
                <a:latin typeface="Calibri" pitchFamily="34" charset="0"/>
                <a:ea typeface="Calibri" pitchFamily="34" charset="-122"/>
                <a:cs typeface="Calibri" pitchFamily="34" charset="-120"/>
              </a:rPr>
              <a:t>Current lineup</a:t>
            </a:r>
            <a:endParaRPr lang="en-US" sz="1600" dirty="0"/>
          </a:p>
          <a:p>
            <a:pPr marL="177800" indent="-177800">
              <a:lnSpc>
                <a:spcPts val="1952"/>
              </a:lnSpc>
              <a:spcAft>
                <a:spcPts val="400"/>
              </a:spcAft>
              <a:buSzPct val="100000"/>
              <a:buChar char="•"/>
            </a:pPr>
            <a:r>
              <a:rPr lang="en-US" sz="1600" dirty="0">
                <a:solidFill>
                  <a:srgbClr val="161617"/>
                </a:solidFill>
                <a:latin typeface="Calibri" pitchFamily="34" charset="0"/>
                <a:ea typeface="Calibri" pitchFamily="34" charset="-122"/>
                <a:cs typeface="Calibri" pitchFamily="34" charset="-120"/>
              </a:rPr>
              <a:t>Historical player and team profiles built without the evaluation match</a:t>
            </a:r>
            <a:endParaRPr lang="en-US" sz="1600" dirty="0"/>
          </a:p>
        </p:txBody>
      </p:sp>
      <p:sp>
        <p:nvSpPr>
          <p:cNvPr id="7" name="Shape 5"/>
          <p:cNvSpPr/>
          <p:nvPr/>
        </p:nvSpPr>
        <p:spPr>
          <a:xfrm>
            <a:off x="6245352" y="1874520"/>
            <a:ext cx="5257800" cy="2743200"/>
          </a:xfrm>
          <a:prstGeom prst="roundRect">
            <a:avLst>
              <a:gd name="adj" fmla="val 2000"/>
            </a:avLst>
          </a:prstGeom>
          <a:solidFill>
            <a:srgbClr val="F9E7E8"/>
          </a:solidFill>
          <a:ln w="9525">
            <a:solidFill>
              <a:srgbClr val="F9E7E8"/>
            </a:solidFill>
            <a:prstDash val="solid"/>
          </a:ln>
        </p:spPr>
      </p:sp>
      <p:sp>
        <p:nvSpPr>
          <p:cNvPr id="8" name="Text 6"/>
          <p:cNvSpPr/>
          <p:nvPr/>
        </p:nvSpPr>
        <p:spPr>
          <a:xfrm>
            <a:off x="6519672" y="2084832"/>
            <a:ext cx="4709160" cy="384048"/>
          </a:xfrm>
          <a:prstGeom prst="rect">
            <a:avLst/>
          </a:prstGeom>
          <a:noFill/>
          <a:ln/>
        </p:spPr>
        <p:txBody>
          <a:bodyPr wrap="square" lIns="0" tIns="0" rIns="0" bIns="0" rtlCol="0" anchor="t"/>
          <a:lstStyle/>
          <a:p>
            <a:pPr indent="0" marL="0">
              <a:buNone/>
            </a:pPr>
            <a:r>
              <a:rPr lang="en-US" sz="2000" b="1" dirty="0">
                <a:solidFill>
                  <a:srgbClr val="D44B52"/>
                </a:solidFill>
                <a:latin typeface="Calibri" pitchFamily="34" charset="0"/>
                <a:ea typeface="Calibri" pitchFamily="34" charset="-122"/>
                <a:cs typeface="Calibri" pitchFamily="34" charset="-120"/>
              </a:rPr>
              <a:t>Known only after or during</a:t>
            </a:r>
            <a:endParaRPr lang="en-US" sz="2000" dirty="0"/>
          </a:p>
        </p:txBody>
      </p:sp>
      <p:sp>
        <p:nvSpPr>
          <p:cNvPr id="9" name="Text 7"/>
          <p:cNvSpPr/>
          <p:nvPr/>
        </p:nvSpPr>
        <p:spPr>
          <a:xfrm>
            <a:off x="6519672" y="2633472"/>
            <a:ext cx="4709160" cy="914400"/>
          </a:xfrm>
          <a:prstGeom prst="rect">
            <a:avLst/>
          </a:prstGeom>
          <a:noFill/>
          <a:ln/>
        </p:spPr>
        <p:txBody>
          <a:bodyPr wrap="square" lIns="0" tIns="0" rIns="0" bIns="0" rtlCol="0" anchor="t"/>
          <a:lstStyle/>
          <a:p>
            <a:pPr marL="177800" indent="-177800">
              <a:lnSpc>
                <a:spcPts val="1952"/>
              </a:lnSpc>
              <a:spcAft>
                <a:spcPts val="400"/>
              </a:spcAft>
              <a:buSzPct val="100000"/>
              <a:buChar char="•"/>
            </a:pPr>
            <a:r>
              <a:rPr lang="en-US" sz="1600" dirty="0">
                <a:solidFill>
                  <a:srgbClr val="161617"/>
                </a:solidFill>
                <a:latin typeface="Calibri" pitchFamily="34" charset="0"/>
                <a:ea typeface="Calibri" pitchFamily="34" charset="-122"/>
                <a:cs typeface="Calibri" pitchFamily="34" charset="-120"/>
              </a:rPr>
              <a:t>Completed-possession attacking style</a:t>
            </a:r>
            <a:endParaRPr lang="en-US" sz="1600" dirty="0"/>
          </a:p>
          <a:p>
            <a:pPr marL="177800" indent="-177800">
              <a:lnSpc>
                <a:spcPts val="1952"/>
              </a:lnSpc>
              <a:spcAft>
                <a:spcPts val="400"/>
              </a:spcAft>
              <a:buSzPct val="100000"/>
              <a:buChar char="•"/>
            </a:pPr>
            <a:r>
              <a:rPr lang="en-US" sz="1600" dirty="0">
                <a:solidFill>
                  <a:srgbClr val="161617"/>
                </a:solidFill>
                <a:latin typeface="Calibri" pitchFamily="34" charset="0"/>
                <a:ea typeface="Calibri" pitchFamily="34" charset="-122"/>
                <a:cs typeface="Calibri" pitchFamily="34" charset="-120"/>
              </a:rPr>
              <a:t>Completed-possession defensive style</a:t>
            </a:r>
            <a:endParaRPr lang="en-US" sz="1600" dirty="0"/>
          </a:p>
          <a:p>
            <a:pPr marL="177800" indent="-177800">
              <a:lnSpc>
                <a:spcPts val="1952"/>
              </a:lnSpc>
              <a:spcAft>
                <a:spcPts val="400"/>
              </a:spcAft>
              <a:buSzPct val="100000"/>
              <a:buChar char="•"/>
            </a:pPr>
            <a:r>
              <a:rPr lang="en-US" sz="1600" dirty="0">
                <a:solidFill>
                  <a:srgbClr val="161617"/>
                </a:solidFill>
                <a:latin typeface="Calibri" pitchFamily="34" charset="0"/>
                <a:ea typeface="Calibri" pitchFamily="34" charset="-122"/>
                <a:cs typeface="Calibri" pitchFamily="34" charset="-120"/>
              </a:rPr>
              <a:t>Full-possession shape averages</a:t>
            </a:r>
            <a:endParaRPr lang="en-US" sz="1600" dirty="0"/>
          </a:p>
          <a:p>
            <a:pPr marL="177800" indent="-177800">
              <a:lnSpc>
                <a:spcPts val="1952"/>
              </a:lnSpc>
              <a:spcAft>
                <a:spcPts val="400"/>
              </a:spcAft>
              <a:buSzPct val="100000"/>
              <a:buChar char="•"/>
            </a:pPr>
            <a:r>
              <a:rPr lang="en-US" sz="1600" dirty="0">
                <a:solidFill>
                  <a:srgbClr val="161617"/>
                </a:solidFill>
                <a:latin typeface="Calibri" pitchFamily="34" charset="0"/>
                <a:ea typeface="Calibri" pitchFamily="34" charset="-122"/>
                <a:cs typeface="Calibri" pitchFamily="34" charset="-120"/>
              </a:rPr>
              <a:t>End location, duration, action counts</a:t>
            </a:r>
            <a:endParaRPr lang="en-US" sz="1600" dirty="0"/>
          </a:p>
          <a:p>
            <a:pPr marL="177800" indent="-177800">
              <a:lnSpc>
                <a:spcPts val="1952"/>
              </a:lnSpc>
              <a:spcAft>
                <a:spcPts val="400"/>
              </a:spcAft>
              <a:buSzPct val="100000"/>
              <a:buChar char="•"/>
            </a:pPr>
            <a:r>
              <a:rPr lang="en-US" sz="1600" dirty="0">
                <a:solidFill>
                  <a:srgbClr val="161617"/>
                </a:solidFill>
                <a:latin typeface="Calibri" pitchFamily="34" charset="0"/>
                <a:ea typeface="Calibri" pitchFamily="34" charset="-122"/>
                <a:cs typeface="Calibri" pitchFamily="34" charset="-120"/>
              </a:rPr>
              <a:t>Outcome-proximal freeze frames</a:t>
            </a:r>
            <a:endParaRPr lang="en-US" sz="1600" dirty="0"/>
          </a:p>
        </p:txBody>
      </p:sp>
      <p:sp>
        <p:nvSpPr>
          <p:cNvPr id="10" name="Text 8"/>
          <p:cNvSpPr/>
          <p:nvPr/>
        </p:nvSpPr>
        <p:spPr>
          <a:xfrm>
            <a:off x="685800" y="4800600"/>
            <a:ext cx="4206240" cy="566928"/>
          </a:xfrm>
          <a:prstGeom prst="rect">
            <a:avLst/>
          </a:prstGeom>
          <a:noFill/>
          <a:ln/>
        </p:spPr>
        <p:txBody>
          <a:bodyPr wrap="square" lIns="0" tIns="0" rIns="0" bIns="0" rtlCol="0" anchor="t"/>
          <a:lstStyle/>
          <a:p>
            <a:pPr indent="0" marL="0">
              <a:buNone/>
            </a:pPr>
            <a:r>
              <a:rPr lang="en-US" sz="2600" b="1" dirty="0">
                <a:solidFill>
                  <a:srgbClr val="161617"/>
                </a:solidFill>
                <a:latin typeface="Calibri" pitchFamily="34" charset="0"/>
                <a:ea typeface="Calibri" pitchFamily="34" charset="-122"/>
                <a:cs typeface="Calibri" pitchFamily="34" charset="-120"/>
              </a:rPr>
              <a:t>1,175 of 1,207</a:t>
            </a:r>
            <a:endParaRPr lang="en-US" sz="2600" dirty="0"/>
          </a:p>
        </p:txBody>
      </p:sp>
      <p:sp>
        <p:nvSpPr>
          <p:cNvPr id="11" name="Text 9"/>
          <p:cNvSpPr/>
          <p:nvPr/>
        </p:nvSpPr>
        <p:spPr>
          <a:xfrm>
            <a:off x="685800" y="5257800"/>
            <a:ext cx="4206240" cy="82296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shot-positive modeled possessions include the shot frame itself in their spatial averages</a:t>
            </a:r>
            <a:endParaRPr lang="en-US" sz="1400" dirty="0"/>
          </a:p>
        </p:txBody>
      </p:sp>
      <p:sp>
        <p:nvSpPr>
          <p:cNvPr id="12" name="Shape 10"/>
          <p:cNvSpPr/>
          <p:nvPr/>
        </p:nvSpPr>
        <p:spPr>
          <a:xfrm>
            <a:off x="5257800" y="4800600"/>
            <a:ext cx="6245352" cy="1371600"/>
          </a:xfrm>
          <a:prstGeom prst="roundRect">
            <a:avLst>
              <a:gd name="adj" fmla="val 4000"/>
            </a:avLst>
          </a:prstGeom>
          <a:solidFill>
            <a:srgbClr val="161617"/>
          </a:solidFill>
          <a:ln w="9525">
            <a:solidFill>
              <a:srgbClr val="161617"/>
            </a:solidFill>
            <a:prstDash val="solid"/>
          </a:ln>
        </p:spPr>
      </p:sp>
      <p:sp>
        <p:nvSpPr>
          <p:cNvPr id="13" name="Text 11"/>
          <p:cNvSpPr/>
          <p:nvPr/>
        </p:nvSpPr>
        <p:spPr>
          <a:xfrm>
            <a:off x="5532120" y="5001768"/>
            <a:ext cx="5696712" cy="1033272"/>
          </a:xfrm>
          <a:prstGeom prst="rect">
            <a:avLst/>
          </a:prstGeom>
          <a:noFill/>
          <a:ln/>
        </p:spPr>
        <p:txBody>
          <a:bodyPr wrap="square" lIns="0" tIns="0" rIns="0" bIns="0" rtlCol="0" anchor="t"/>
          <a:lstStyle/>
          <a:p>
            <a:pPr indent="0" marL="0">
              <a:lnSpc>
                <a:spcPts val="2375"/>
              </a:lnSpc>
              <a:buNone/>
            </a:pPr>
            <a:r>
              <a:rPr lang="en-US" sz="1900" b="1" dirty="0">
                <a:solidFill>
                  <a:srgbClr val="FFFFFF"/>
                </a:solidFill>
                <a:latin typeface="Calibri" pitchFamily="34" charset="0"/>
                <a:ea typeface="Calibri" pitchFamily="34" charset="-122"/>
                <a:cs typeface="Calibri" pitchFamily="34" charset="-120"/>
              </a:rPr>
              <a:t>The current headline models are retrospective classifiers. They are not valid evidence of start-of-possession forecasting.</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18 / 28 · PROVISIONAL BENCHMARKS</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Current retrospective benchmarks are provisional snapshots</a:t>
            </a:r>
            <a:endParaRPr lang="en-US" sz="3500" dirty="0"/>
          </a:p>
        </p:txBody>
      </p:sp>
      <p:graphicFrame>
        <p:nvGraphicFramePr>
          <p:cNvPr id="4" name="Chart 0" descr=""/>
          <p:cNvGraphicFramePr/>
          <p:nvPr/>
        </p:nvGraphicFramePr>
        <p:xfrm>
          <a:off x="548640" y="1828800"/>
          <a:ext cx="5669280" cy="27432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85800" y="4617720"/>
            <a:ext cx="5486400" cy="274320"/>
          </a:xfrm>
          <a:prstGeom prst="rect">
            <a:avLst/>
          </a:prstGeom>
          <a:noFill/>
          <a:ln/>
        </p:spPr>
        <p:txBody>
          <a:bodyPr wrap="square" lIns="0" tIns="0" rIns="0" bIns="0" rtlCol="0" anchor="t"/>
          <a:lstStyle/>
          <a:p>
            <a:pPr indent="0" marL="0">
              <a:buNone/>
            </a:pPr>
            <a:r>
              <a:rPr lang="en-US" sz="1400" i="1" dirty="0">
                <a:solidFill>
                  <a:srgbClr val="6E6E73"/>
                </a:solidFill>
                <a:latin typeface="Calibri" pitchFamily="34" charset="0"/>
                <a:ea typeface="Calibri" pitchFamily="34" charset="-122"/>
                <a:cs typeface="Calibri" pitchFamily="34" charset="-120"/>
              </a:rPr>
              <a:t>Current snapshot — modeling in progress.</a:t>
            </a:r>
            <a:endParaRPr lang="en-US" sz="1400" dirty="0"/>
          </a:p>
        </p:txBody>
      </p:sp>
      <p:sp>
        <p:nvSpPr>
          <p:cNvPr id="6" name="Shape 3"/>
          <p:cNvSpPr/>
          <p:nvPr/>
        </p:nvSpPr>
        <p:spPr>
          <a:xfrm>
            <a:off x="6446520" y="1874520"/>
            <a:ext cx="5056632" cy="1143000"/>
          </a:xfrm>
          <a:prstGeom prst="roundRect">
            <a:avLst>
              <a:gd name="adj" fmla="val 4800"/>
            </a:avLst>
          </a:prstGeom>
          <a:solidFill>
            <a:srgbClr val="FFFFFF"/>
          </a:solidFill>
          <a:ln w="9525">
            <a:solidFill>
              <a:srgbClr val="FFFFFF"/>
            </a:solidFill>
            <a:prstDash val="solid"/>
          </a:ln>
        </p:spPr>
      </p:sp>
      <p:sp>
        <p:nvSpPr>
          <p:cNvPr id="7" name="Text 4"/>
          <p:cNvSpPr/>
          <p:nvPr/>
        </p:nvSpPr>
        <p:spPr>
          <a:xfrm>
            <a:off x="6702552" y="2039112"/>
            <a:ext cx="4544568" cy="274320"/>
          </a:xfrm>
          <a:prstGeom prst="rect">
            <a:avLst/>
          </a:prstGeom>
          <a:noFill/>
          <a:ln/>
        </p:spPr>
        <p:txBody>
          <a:bodyPr wrap="square" lIns="0" tIns="0" rIns="0" bIns="0" rtlCol="0" anchor="t"/>
          <a:lstStyle/>
          <a:p>
            <a:pPr indent="0" marL="0">
              <a:buNone/>
            </a:pPr>
            <a:r>
              <a:rPr lang="en-US" sz="1700" b="1" dirty="0">
                <a:solidFill>
                  <a:srgbClr val="161617"/>
                </a:solidFill>
                <a:latin typeface="Calibri" pitchFamily="34" charset="0"/>
                <a:ea typeface="Calibri" pitchFamily="34" charset="-122"/>
                <a:cs typeface="Calibri" pitchFamily="34" charset="-120"/>
              </a:rPr>
              <a:t>Shot target</a:t>
            </a:r>
            <a:endParaRPr lang="en-US" sz="1700" dirty="0"/>
          </a:p>
        </p:txBody>
      </p:sp>
      <p:sp>
        <p:nvSpPr>
          <p:cNvPr id="8" name="Text 5"/>
          <p:cNvSpPr/>
          <p:nvPr/>
        </p:nvSpPr>
        <p:spPr>
          <a:xfrm>
            <a:off x="6702552" y="2350008"/>
            <a:ext cx="4544568" cy="274320"/>
          </a:xfrm>
          <a:prstGeom prst="rect">
            <a:avLst/>
          </a:prstGeom>
          <a:noFill/>
          <a:ln/>
        </p:spPr>
        <p:txBody>
          <a:bodyPr wrap="square" lIns="0" tIns="0" rIns="0" bIns="0" rtlCol="0" anchor="t"/>
          <a:lstStyle/>
          <a:p>
            <a:pPr indent="0" marL="0">
              <a:buNone/>
            </a:pPr>
            <a:r>
              <a:rPr lang="en-US" sz="1500" dirty="0">
                <a:solidFill>
                  <a:srgbClr val="6E6E73"/>
                </a:solidFill>
                <a:latin typeface="Calibri" pitchFamily="34" charset="0"/>
                <a:ea typeface="Calibri" pitchFamily="34" charset="-122"/>
                <a:cs typeface="Calibri" pitchFamily="34" charset="-120"/>
              </a:rPr>
              <a:t>XGBoost · Tactical + Shape</a:t>
            </a:r>
            <a:endParaRPr lang="en-US" sz="1500" dirty="0"/>
          </a:p>
        </p:txBody>
      </p:sp>
      <p:sp>
        <p:nvSpPr>
          <p:cNvPr id="9" name="Text 6"/>
          <p:cNvSpPr/>
          <p:nvPr/>
        </p:nvSpPr>
        <p:spPr>
          <a:xfrm>
            <a:off x="6702552" y="2642616"/>
            <a:ext cx="4544568" cy="274320"/>
          </a:xfrm>
          <a:prstGeom prst="rect">
            <a:avLst/>
          </a:prstGeom>
          <a:noFill/>
          <a:ln/>
        </p:spPr>
        <p:txBody>
          <a:bodyPr wrap="square" lIns="0" tIns="0" rIns="0" bIns="0" rtlCol="0" anchor="t"/>
          <a:lstStyle/>
          <a:p>
            <a:pPr indent="0" marL="0">
              <a:buNone/>
            </a:pPr>
            <a:r>
              <a:rPr lang="en-US" sz="1500" b="1" dirty="0">
                <a:solidFill>
                  <a:srgbClr val="3568F0"/>
                </a:solidFill>
                <a:latin typeface="Calibri" pitchFamily="34" charset="0"/>
                <a:ea typeface="Calibri" pitchFamily="34" charset="-122"/>
                <a:cs typeface="Calibri" pitchFamily="34" charset="-120"/>
              </a:rPr>
              <a:t>Log loss 0.2486</a:t>
            </a:r>
            <a:endParaRPr lang="en-US" sz="1500" dirty="0"/>
          </a:p>
        </p:txBody>
      </p:sp>
      <p:sp>
        <p:nvSpPr>
          <p:cNvPr id="10" name="Shape 7"/>
          <p:cNvSpPr/>
          <p:nvPr/>
        </p:nvSpPr>
        <p:spPr>
          <a:xfrm>
            <a:off x="6446520" y="3200400"/>
            <a:ext cx="5056632" cy="1143000"/>
          </a:xfrm>
          <a:prstGeom prst="roundRect">
            <a:avLst>
              <a:gd name="adj" fmla="val 4800"/>
            </a:avLst>
          </a:prstGeom>
          <a:solidFill>
            <a:srgbClr val="FFFFFF"/>
          </a:solidFill>
          <a:ln w="9525">
            <a:solidFill>
              <a:srgbClr val="FFFFFF"/>
            </a:solidFill>
            <a:prstDash val="solid"/>
          </a:ln>
        </p:spPr>
      </p:sp>
      <p:sp>
        <p:nvSpPr>
          <p:cNvPr id="11" name="Text 8"/>
          <p:cNvSpPr/>
          <p:nvPr/>
        </p:nvSpPr>
        <p:spPr>
          <a:xfrm>
            <a:off x="6702552" y="3364992"/>
            <a:ext cx="4544568" cy="274320"/>
          </a:xfrm>
          <a:prstGeom prst="rect">
            <a:avLst/>
          </a:prstGeom>
          <a:noFill/>
          <a:ln/>
        </p:spPr>
        <p:txBody>
          <a:bodyPr wrap="square" lIns="0" tIns="0" rIns="0" bIns="0" rtlCol="0" anchor="t"/>
          <a:lstStyle/>
          <a:p>
            <a:pPr indent="0" marL="0">
              <a:buNone/>
            </a:pPr>
            <a:r>
              <a:rPr lang="en-US" sz="1700" b="1" dirty="0">
                <a:solidFill>
                  <a:srgbClr val="161617"/>
                </a:solidFill>
                <a:latin typeface="Calibri" pitchFamily="34" charset="0"/>
                <a:ea typeface="Calibri" pitchFamily="34" charset="-122"/>
                <a:cs typeface="Calibri" pitchFamily="34" charset="-120"/>
              </a:rPr>
              <a:t>Penalty-area entry</a:t>
            </a:r>
            <a:endParaRPr lang="en-US" sz="1700" dirty="0"/>
          </a:p>
        </p:txBody>
      </p:sp>
      <p:sp>
        <p:nvSpPr>
          <p:cNvPr id="12" name="Text 9"/>
          <p:cNvSpPr/>
          <p:nvPr/>
        </p:nvSpPr>
        <p:spPr>
          <a:xfrm>
            <a:off x="6702552" y="3675888"/>
            <a:ext cx="4544568" cy="274320"/>
          </a:xfrm>
          <a:prstGeom prst="rect">
            <a:avLst/>
          </a:prstGeom>
          <a:noFill/>
          <a:ln/>
        </p:spPr>
        <p:txBody>
          <a:bodyPr wrap="square" lIns="0" tIns="0" rIns="0" bIns="0" rtlCol="0" anchor="t"/>
          <a:lstStyle/>
          <a:p>
            <a:pPr indent="0" marL="0">
              <a:buNone/>
            </a:pPr>
            <a:r>
              <a:rPr lang="en-US" sz="1500" dirty="0">
                <a:solidFill>
                  <a:srgbClr val="6E6E73"/>
                </a:solidFill>
                <a:latin typeface="Calibri" pitchFamily="34" charset="0"/>
                <a:ea typeface="Calibri" pitchFamily="34" charset="-122"/>
                <a:cs typeface="Calibri" pitchFamily="34" charset="-120"/>
              </a:rPr>
              <a:t>Histogram Gradient Boosting · Tactical + Shape</a:t>
            </a:r>
            <a:endParaRPr lang="en-US" sz="1500" dirty="0"/>
          </a:p>
        </p:txBody>
      </p:sp>
      <p:sp>
        <p:nvSpPr>
          <p:cNvPr id="13" name="Text 10"/>
          <p:cNvSpPr/>
          <p:nvPr/>
        </p:nvSpPr>
        <p:spPr>
          <a:xfrm>
            <a:off x="6702552" y="3968496"/>
            <a:ext cx="4544568" cy="274320"/>
          </a:xfrm>
          <a:prstGeom prst="rect">
            <a:avLst/>
          </a:prstGeom>
          <a:noFill/>
          <a:ln/>
        </p:spPr>
        <p:txBody>
          <a:bodyPr wrap="square" lIns="0" tIns="0" rIns="0" bIns="0" rtlCol="0" anchor="t"/>
          <a:lstStyle/>
          <a:p>
            <a:pPr indent="0" marL="0">
              <a:buNone/>
            </a:pPr>
            <a:r>
              <a:rPr lang="en-US" sz="1500" b="1" dirty="0">
                <a:solidFill>
                  <a:srgbClr val="3568F0"/>
                </a:solidFill>
                <a:latin typeface="Calibri" pitchFamily="34" charset="0"/>
                <a:ea typeface="Calibri" pitchFamily="34" charset="-122"/>
                <a:cs typeface="Calibri" pitchFamily="34" charset="-120"/>
              </a:rPr>
              <a:t>Log loss 0.3556</a:t>
            </a:r>
            <a:endParaRPr lang="en-US" sz="1500" dirty="0"/>
          </a:p>
        </p:txBody>
      </p:sp>
      <p:sp>
        <p:nvSpPr>
          <p:cNvPr id="14" name="Shape 11"/>
          <p:cNvSpPr/>
          <p:nvPr/>
        </p:nvSpPr>
        <p:spPr>
          <a:xfrm>
            <a:off x="6446520" y="4526280"/>
            <a:ext cx="5056632" cy="1554480"/>
          </a:xfrm>
          <a:prstGeom prst="roundRect">
            <a:avLst>
              <a:gd name="adj" fmla="val 3529"/>
            </a:avLst>
          </a:prstGeom>
          <a:solidFill>
            <a:srgbClr val="F3EDE0"/>
          </a:solidFill>
          <a:ln w="9525">
            <a:solidFill>
              <a:srgbClr val="F3EDE0"/>
            </a:solidFill>
            <a:prstDash val="solid"/>
          </a:ln>
        </p:spPr>
      </p:sp>
      <p:sp>
        <p:nvSpPr>
          <p:cNvPr id="15" name="Text 12"/>
          <p:cNvSpPr/>
          <p:nvPr/>
        </p:nvSpPr>
        <p:spPr>
          <a:xfrm>
            <a:off x="6720840" y="4727448"/>
            <a:ext cx="4507992" cy="237744"/>
          </a:xfrm>
          <a:prstGeom prst="rect">
            <a:avLst/>
          </a:prstGeom>
          <a:noFill/>
          <a:ln/>
        </p:spPr>
        <p:txBody>
          <a:bodyPr wrap="square" lIns="0" tIns="0" rIns="0" bIns="0" rtlCol="0" anchor="t"/>
          <a:lstStyle/>
          <a:p>
            <a:pPr indent="0" marL="0">
              <a:buNone/>
            </a:pPr>
            <a:r>
              <a:rPr lang="en-US" sz="1200" b="1" spc="140" kern="0" dirty="0">
                <a:solidFill>
                  <a:srgbClr val="A9741A"/>
                </a:solidFill>
                <a:latin typeface="Calibri" pitchFamily="34" charset="0"/>
                <a:ea typeface="Calibri" pitchFamily="34" charset="-122"/>
                <a:cs typeface="Calibri" pitchFamily="34" charset="-120"/>
              </a:rPr>
              <a:t>EXPLANATION SNAPSHOT</a:t>
            </a:r>
            <a:endParaRPr lang="en-US" sz="1200" dirty="0"/>
          </a:p>
        </p:txBody>
      </p:sp>
      <p:sp>
        <p:nvSpPr>
          <p:cNvPr id="16" name="Text 13"/>
          <p:cNvSpPr/>
          <p:nvPr/>
        </p:nvSpPr>
        <p:spPr>
          <a:xfrm>
            <a:off x="6720840" y="5056632"/>
            <a:ext cx="4507992" cy="886968"/>
          </a:xfrm>
          <a:prstGeom prst="rect">
            <a:avLst/>
          </a:prstGeom>
          <a:noFill/>
          <a:ln/>
        </p:spPr>
        <p:txBody>
          <a:bodyPr wrap="square" lIns="0" tIns="0" rIns="0" bIns="0" rtlCol="0" anchor="t"/>
          <a:lstStyle/>
          <a:p>
            <a:pPr indent="0" marL="0">
              <a:lnSpc>
                <a:spcPts val="2000"/>
              </a:lnSpc>
              <a:buNone/>
            </a:pPr>
            <a:r>
              <a:rPr lang="en-US" sz="1600" dirty="0">
                <a:solidFill>
                  <a:srgbClr val="161617"/>
                </a:solidFill>
                <a:latin typeface="Calibri" pitchFamily="34" charset="0"/>
                <a:ea typeface="Calibri" pitchFamily="34" charset="-122"/>
                <a:cs typeface="Calibri" pitchFamily="34" charset="-120"/>
              </a:rPr>
              <a:t>Defensive shape is the strongest feature group for both targets; back-line height leads under held-out, within-match permutation.</a:t>
            </a:r>
            <a:endParaRPr lang="en-US" sz="1600" dirty="0"/>
          </a:p>
        </p:txBody>
      </p:sp>
      <p:sp>
        <p:nvSpPr>
          <p:cNvPr id="17" name="Text 14"/>
          <p:cNvSpPr/>
          <p:nvPr/>
        </p:nvSpPr>
        <p:spPr>
          <a:xfrm>
            <a:off x="685800" y="4983480"/>
            <a:ext cx="5486400" cy="914400"/>
          </a:xfrm>
          <a:prstGeom prst="rect">
            <a:avLst/>
          </a:prstGeom>
          <a:noFill/>
          <a:ln/>
        </p:spPr>
        <p:txBody>
          <a:bodyPr wrap="square" lIns="0" tIns="0" rIns="0" bIns="0" rtlCol="0" anchor="t"/>
          <a:lstStyle/>
          <a:p>
            <a:pPr marL="177800" indent="-177800">
              <a:lnSpc>
                <a:spcPts val="1830"/>
              </a:lnSpc>
              <a:spcAft>
                <a:spcPts val="300"/>
              </a:spcAft>
              <a:buSzPct val="100000"/>
              <a:buChar char="•"/>
            </a:pPr>
            <a:r>
              <a:rPr lang="en-US" sz="1500" dirty="0">
                <a:solidFill>
                  <a:srgbClr val="6E6E73"/>
                </a:solidFill>
                <a:latin typeface="Calibri" pitchFamily="34" charset="0"/>
                <a:ea typeface="Calibri" pitchFamily="34" charset="-122"/>
                <a:cs typeface="Calibri" pitchFamily="34" charset="-120"/>
              </a:rPr>
              <a:t>Completed-possession information boosts performance</a:t>
            </a:r>
            <a:endParaRPr lang="en-US" sz="1500" dirty="0"/>
          </a:p>
          <a:p>
            <a:pPr marL="177800" indent="-177800">
              <a:lnSpc>
                <a:spcPts val="1830"/>
              </a:lnSpc>
              <a:spcAft>
                <a:spcPts val="300"/>
              </a:spcAft>
              <a:buSzPct val="100000"/>
              <a:buChar char="•"/>
            </a:pPr>
            <a:r>
              <a:rPr lang="en-US" sz="1500" dirty="0">
                <a:solidFill>
                  <a:srgbClr val="6E6E73"/>
                </a:solidFill>
                <a:latin typeface="Calibri" pitchFamily="34" charset="0"/>
                <a:ea typeface="Calibri" pitchFamily="34" charset="-122"/>
                <a:cs typeface="Calibri" pitchFamily="34" charset="-120"/>
              </a:rPr>
              <a:t>Tournament-wide clustering makes this transductive</a:t>
            </a:r>
            <a:endParaRPr lang="en-US" sz="1500" dirty="0"/>
          </a:p>
          <a:p>
            <a:pPr marL="177800" indent="-177800">
              <a:lnSpc>
                <a:spcPts val="1830"/>
              </a:lnSpc>
              <a:spcAft>
                <a:spcPts val="300"/>
              </a:spcAft>
              <a:buSzPct val="100000"/>
              <a:buChar char="•"/>
            </a:pPr>
            <a:r>
              <a:rPr lang="en-US" sz="1500" dirty="0">
                <a:solidFill>
                  <a:srgbClr val="6E6E73"/>
                </a:solidFill>
                <a:latin typeface="Calibri" pitchFamily="34" charset="0"/>
                <a:ea typeface="Calibri" pitchFamily="34" charset="-122"/>
                <a:cs typeface="Calibri" pitchFamily="34" charset="-120"/>
              </a:rPr>
              <a:t>Selection and evaluation share one CV exercise</a:t>
            </a:r>
            <a:endParaRPr lang="en-US" sz="1500" dirty="0"/>
          </a:p>
          <a:p>
            <a:pPr marL="177800" indent="-177800">
              <a:lnSpc>
                <a:spcPts val="1830"/>
              </a:lnSpc>
              <a:spcAft>
                <a:spcPts val="300"/>
              </a:spcAft>
              <a:buSzPct val="100000"/>
              <a:buChar char="•"/>
            </a:pPr>
            <a:r>
              <a:rPr lang="en-US" sz="1500" dirty="0">
                <a:solidFill>
                  <a:srgbClr val="6E6E73"/>
                </a:solidFill>
                <a:latin typeface="Calibri" pitchFamily="34" charset="0"/>
                <a:ea typeface="Calibri" pitchFamily="34" charset="-122"/>
                <a:cs typeface="Calibri" pitchFamily="34" charset="-120"/>
              </a:rPr>
              <a:t>Nested or external evaluation is still needed</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19 / 28 · PROSPECTIVE BRANCH</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A separate pipeline asks what can be known before the decision</a:t>
            </a:r>
            <a:endParaRPr lang="en-US" sz="3500" dirty="0"/>
          </a:p>
        </p:txBody>
      </p:sp>
      <p:sp>
        <p:nvSpPr>
          <p:cNvPr id="4" name="Shape 2"/>
          <p:cNvSpPr/>
          <p:nvPr/>
        </p:nvSpPr>
        <p:spPr>
          <a:xfrm>
            <a:off x="685800" y="1874520"/>
            <a:ext cx="5257800" cy="2286000"/>
          </a:xfrm>
          <a:prstGeom prst="roundRect">
            <a:avLst>
              <a:gd name="adj" fmla="val 2400"/>
            </a:avLst>
          </a:prstGeom>
          <a:solidFill>
            <a:srgbClr val="E1EDE8"/>
          </a:solidFill>
          <a:ln w="9525">
            <a:solidFill>
              <a:srgbClr val="E1EDE8"/>
            </a:solidFill>
            <a:prstDash val="solid"/>
          </a:ln>
        </p:spPr>
      </p:sp>
      <p:sp>
        <p:nvSpPr>
          <p:cNvPr id="5" name="Text 3"/>
          <p:cNvSpPr/>
          <p:nvPr/>
        </p:nvSpPr>
        <p:spPr>
          <a:xfrm>
            <a:off x="960120" y="2084832"/>
            <a:ext cx="4709160" cy="384048"/>
          </a:xfrm>
          <a:prstGeom prst="rect">
            <a:avLst/>
          </a:prstGeom>
          <a:noFill/>
          <a:ln/>
        </p:spPr>
        <p:txBody>
          <a:bodyPr wrap="square" lIns="0" tIns="0" rIns="0" bIns="0" rtlCol="0" anchor="t"/>
          <a:lstStyle/>
          <a:p>
            <a:pPr indent="0" marL="0">
              <a:buNone/>
            </a:pPr>
            <a:r>
              <a:rPr lang="en-US" sz="2000" b="1" dirty="0">
                <a:solidFill>
                  <a:srgbClr val="24775B"/>
                </a:solidFill>
                <a:latin typeface="Calibri" pitchFamily="34" charset="0"/>
                <a:ea typeface="Calibri" pitchFamily="34" charset="-122"/>
                <a:cs typeface="Calibri" pitchFamily="34" charset="-120"/>
              </a:rPr>
              <a:t>Pre-decision inputs</a:t>
            </a:r>
            <a:endParaRPr lang="en-US" sz="2000" dirty="0"/>
          </a:p>
        </p:txBody>
      </p:sp>
      <p:sp>
        <p:nvSpPr>
          <p:cNvPr id="6" name="Text 4"/>
          <p:cNvSpPr/>
          <p:nvPr/>
        </p:nvSpPr>
        <p:spPr>
          <a:xfrm>
            <a:off x="960120" y="2633472"/>
            <a:ext cx="4709160" cy="914400"/>
          </a:xfrm>
          <a:prstGeom prst="rect">
            <a:avLst/>
          </a:prstGeom>
          <a:noFill/>
          <a:ln/>
        </p:spPr>
        <p:txBody>
          <a:bodyPr wrap="square" lIns="0" tIns="0" rIns="0" bIns="0" rtlCol="0" anchor="t"/>
          <a:lstStyle/>
          <a:p>
            <a:pPr marL="177800" indent="-177800">
              <a:lnSpc>
                <a:spcPts val="1952"/>
              </a:lnSpc>
              <a:spcAft>
                <a:spcPts val="500"/>
              </a:spcAft>
              <a:buSzPct val="100000"/>
              <a:buChar char="•"/>
            </a:pPr>
            <a:r>
              <a:rPr lang="en-US" sz="1600" dirty="0">
                <a:solidFill>
                  <a:srgbClr val="161617"/>
                </a:solidFill>
                <a:latin typeface="Calibri" pitchFamily="34" charset="0"/>
                <a:ea typeface="Calibri" pitchFamily="34" charset="-122"/>
                <a:cs typeface="Calibri" pitchFamily="34" charset="-120"/>
              </a:rPr>
              <a:t>Match context</a:t>
            </a:r>
            <a:endParaRPr lang="en-US" sz="1600" dirty="0"/>
          </a:p>
          <a:p>
            <a:pPr marL="177800" indent="-177800">
              <a:lnSpc>
                <a:spcPts val="1952"/>
              </a:lnSpc>
              <a:spcAft>
                <a:spcPts val="500"/>
              </a:spcAft>
              <a:buSzPct val="100000"/>
              <a:buChar char="•"/>
            </a:pPr>
            <a:r>
              <a:rPr lang="en-US" sz="1600" dirty="0">
                <a:solidFill>
                  <a:srgbClr val="161617"/>
                </a:solidFill>
                <a:latin typeface="Calibri" pitchFamily="34" charset="0"/>
                <a:ea typeface="Calibri" pitchFamily="34" charset="-122"/>
                <a:cs typeface="Calibri" pitchFamily="34" charset="-120"/>
              </a:rPr>
              <a:t>Strictly prior team history</a:t>
            </a:r>
            <a:endParaRPr lang="en-US" sz="1600" dirty="0"/>
          </a:p>
          <a:p>
            <a:pPr marL="177800" indent="-177800">
              <a:lnSpc>
                <a:spcPts val="1952"/>
              </a:lnSpc>
              <a:spcAft>
                <a:spcPts val="500"/>
              </a:spcAft>
              <a:buSzPct val="100000"/>
              <a:buChar char="•"/>
            </a:pPr>
            <a:r>
              <a:rPr lang="en-US" sz="1600" dirty="0">
                <a:solidFill>
                  <a:srgbClr val="161617"/>
                </a:solidFill>
                <a:latin typeface="Calibri" pitchFamily="34" charset="0"/>
                <a:ea typeface="Calibri" pitchFamily="34" charset="-122"/>
                <a:cs typeface="Calibri" pitchFamily="34" charset="-120"/>
              </a:rPr>
              <a:t>Strictly prior player history</a:t>
            </a:r>
            <a:endParaRPr lang="en-US" sz="1600" dirty="0"/>
          </a:p>
          <a:p>
            <a:pPr marL="177800" indent="-177800">
              <a:lnSpc>
                <a:spcPts val="1952"/>
              </a:lnSpc>
              <a:spcAft>
                <a:spcPts val="500"/>
              </a:spcAft>
              <a:buSzPct val="100000"/>
              <a:buChar char="•"/>
            </a:pPr>
            <a:r>
              <a:rPr lang="en-US" sz="1600" dirty="0">
                <a:solidFill>
                  <a:srgbClr val="161617"/>
                </a:solidFill>
                <a:latin typeface="Calibri" pitchFamily="34" charset="0"/>
                <a:ea typeface="Calibri" pitchFamily="34" charset="-122"/>
                <a:cs typeface="Calibri" pitchFamily="34" charset="-120"/>
              </a:rPr>
              <a:t>Current lineup and role summaries</a:t>
            </a:r>
            <a:endParaRPr lang="en-US" sz="1600" dirty="0"/>
          </a:p>
        </p:txBody>
      </p:sp>
      <p:sp>
        <p:nvSpPr>
          <p:cNvPr id="7" name="Shape 5"/>
          <p:cNvSpPr/>
          <p:nvPr/>
        </p:nvSpPr>
        <p:spPr>
          <a:xfrm>
            <a:off x="6245352" y="1874520"/>
            <a:ext cx="5257800" cy="2286000"/>
          </a:xfrm>
          <a:prstGeom prst="roundRect">
            <a:avLst>
              <a:gd name="adj" fmla="val 2400"/>
            </a:avLst>
          </a:prstGeom>
          <a:solidFill>
            <a:srgbClr val="F9E7E8"/>
          </a:solidFill>
          <a:ln w="9525">
            <a:solidFill>
              <a:srgbClr val="F9E7E8"/>
            </a:solidFill>
            <a:prstDash val="solid"/>
          </a:ln>
        </p:spPr>
      </p:sp>
      <p:sp>
        <p:nvSpPr>
          <p:cNvPr id="8" name="Text 6"/>
          <p:cNvSpPr/>
          <p:nvPr/>
        </p:nvSpPr>
        <p:spPr>
          <a:xfrm>
            <a:off x="6519672" y="2084832"/>
            <a:ext cx="4709160" cy="384048"/>
          </a:xfrm>
          <a:prstGeom prst="rect">
            <a:avLst/>
          </a:prstGeom>
          <a:noFill/>
          <a:ln/>
        </p:spPr>
        <p:txBody>
          <a:bodyPr wrap="square" lIns="0" tIns="0" rIns="0" bIns="0" rtlCol="0" anchor="t"/>
          <a:lstStyle/>
          <a:p>
            <a:pPr indent="0" marL="0">
              <a:buNone/>
            </a:pPr>
            <a:r>
              <a:rPr lang="en-US" sz="2000" b="1" dirty="0">
                <a:solidFill>
                  <a:srgbClr val="D44B52"/>
                </a:solidFill>
                <a:latin typeface="Calibri" pitchFamily="34" charset="0"/>
                <a:ea typeface="Calibri" pitchFamily="34" charset="-122"/>
                <a:cs typeface="Calibri" pitchFamily="34" charset="-120"/>
              </a:rPr>
              <a:t>Deliberately excluded</a:t>
            </a:r>
            <a:endParaRPr lang="en-US" sz="2000" dirty="0"/>
          </a:p>
        </p:txBody>
      </p:sp>
      <p:sp>
        <p:nvSpPr>
          <p:cNvPr id="9" name="Text 7"/>
          <p:cNvSpPr/>
          <p:nvPr/>
        </p:nvSpPr>
        <p:spPr>
          <a:xfrm>
            <a:off x="6519672" y="2633472"/>
            <a:ext cx="4709160" cy="914400"/>
          </a:xfrm>
          <a:prstGeom prst="rect">
            <a:avLst/>
          </a:prstGeom>
          <a:noFill/>
          <a:ln/>
        </p:spPr>
        <p:txBody>
          <a:bodyPr wrap="square" lIns="0" tIns="0" rIns="0" bIns="0" rtlCol="0" anchor="t"/>
          <a:lstStyle/>
          <a:p>
            <a:pPr marL="177800" indent="-177800">
              <a:lnSpc>
                <a:spcPts val="1952"/>
              </a:lnSpc>
              <a:spcAft>
                <a:spcPts val="500"/>
              </a:spcAft>
              <a:buSzPct val="100000"/>
              <a:buChar char="•"/>
            </a:pPr>
            <a:r>
              <a:rPr lang="en-US" sz="1600" dirty="0">
                <a:solidFill>
                  <a:srgbClr val="161617"/>
                </a:solidFill>
                <a:latin typeface="Calibri" pitchFamily="34" charset="0"/>
                <a:ea typeface="Calibri" pitchFamily="34" charset="-122"/>
                <a:cs typeface="Calibri" pitchFamily="34" charset="-120"/>
              </a:rPr>
              <a:t>Exact current-possession defensive shape</a:t>
            </a:r>
            <a:endParaRPr lang="en-US" sz="1600" dirty="0"/>
          </a:p>
          <a:p>
            <a:pPr marL="177800" indent="-177800">
              <a:lnSpc>
                <a:spcPts val="1952"/>
              </a:lnSpc>
              <a:spcAft>
                <a:spcPts val="500"/>
              </a:spcAft>
              <a:buSzPct val="100000"/>
              <a:buChar char="•"/>
            </a:pPr>
            <a:r>
              <a:rPr lang="en-US" sz="1600" dirty="0">
                <a:solidFill>
                  <a:srgbClr val="161617"/>
                </a:solidFill>
                <a:latin typeface="Calibri" pitchFamily="34" charset="0"/>
                <a:ea typeface="Calibri" pitchFamily="34" charset="-122"/>
                <a:cs typeface="Calibri" pitchFamily="34" charset="-120"/>
              </a:rPr>
              <a:t>Any current-possession outcome column</a:t>
            </a:r>
            <a:endParaRPr lang="en-US" sz="1600" dirty="0"/>
          </a:p>
          <a:p>
            <a:pPr marL="177800" indent="-177800">
              <a:lnSpc>
                <a:spcPts val="1952"/>
              </a:lnSpc>
              <a:spcAft>
                <a:spcPts val="500"/>
              </a:spcAft>
              <a:buSzPct val="100000"/>
              <a:buChar char="•"/>
            </a:pPr>
            <a:r>
              <a:rPr lang="en-US" sz="1600" dirty="0">
                <a:solidFill>
                  <a:srgbClr val="161617"/>
                </a:solidFill>
                <a:latin typeface="Calibri" pitchFamily="34" charset="0"/>
                <a:ea typeface="Calibri" pitchFamily="34" charset="-122"/>
                <a:cs typeface="Calibri" pitchFamily="34" charset="-120"/>
              </a:rPr>
              <a:t>Anything measured after the possession begins</a:t>
            </a:r>
            <a:endParaRPr lang="en-US" sz="1600" dirty="0"/>
          </a:p>
        </p:txBody>
      </p:sp>
      <p:sp>
        <p:nvSpPr>
          <p:cNvPr id="10" name="Text 8"/>
          <p:cNvSpPr/>
          <p:nvPr/>
        </p:nvSpPr>
        <p:spPr>
          <a:xfrm>
            <a:off x="685800" y="4297680"/>
            <a:ext cx="2514600" cy="566928"/>
          </a:xfrm>
          <a:prstGeom prst="rect">
            <a:avLst/>
          </a:prstGeom>
          <a:noFill/>
          <a:ln/>
        </p:spPr>
        <p:txBody>
          <a:bodyPr wrap="square" lIns="0" tIns="0" rIns="0" bIns="0" rtlCol="0" anchor="t"/>
          <a:lstStyle/>
          <a:p>
            <a:pPr indent="0" marL="0">
              <a:buNone/>
            </a:pPr>
            <a:r>
              <a:rPr lang="en-US" sz="2600" b="1" dirty="0">
                <a:solidFill>
                  <a:srgbClr val="161617"/>
                </a:solidFill>
                <a:latin typeface="Calibri" pitchFamily="34" charset="0"/>
                <a:ea typeface="Calibri" pitchFamily="34" charset="-122"/>
                <a:cs typeface="Calibri" pitchFamily="34" charset="-120"/>
              </a:rPr>
              <a:t>9,685</a:t>
            </a:r>
            <a:endParaRPr lang="en-US" sz="2600" dirty="0"/>
          </a:p>
        </p:txBody>
      </p:sp>
      <p:sp>
        <p:nvSpPr>
          <p:cNvPr id="11" name="Text 9"/>
          <p:cNvSpPr/>
          <p:nvPr/>
        </p:nvSpPr>
        <p:spPr>
          <a:xfrm>
            <a:off x="685800" y="4736592"/>
            <a:ext cx="2514600" cy="54864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eligible possessions</a:t>
            </a:r>
            <a:endParaRPr lang="en-US" sz="1400" dirty="0"/>
          </a:p>
        </p:txBody>
      </p:sp>
      <p:sp>
        <p:nvSpPr>
          <p:cNvPr id="12" name="Text 10"/>
          <p:cNvSpPr/>
          <p:nvPr/>
        </p:nvSpPr>
        <p:spPr>
          <a:xfrm>
            <a:off x="3429000" y="4297680"/>
            <a:ext cx="2514600" cy="566928"/>
          </a:xfrm>
          <a:prstGeom prst="rect">
            <a:avLst/>
          </a:prstGeom>
          <a:noFill/>
          <a:ln/>
        </p:spPr>
        <p:txBody>
          <a:bodyPr wrap="square" lIns="0" tIns="0" rIns="0" bIns="0" rtlCol="0" anchor="t"/>
          <a:lstStyle/>
          <a:p>
            <a:pPr indent="0" marL="0">
              <a:buNone/>
            </a:pPr>
            <a:r>
              <a:rPr lang="en-US" sz="2600" b="1" dirty="0">
                <a:solidFill>
                  <a:srgbClr val="161617"/>
                </a:solidFill>
                <a:latin typeface="Calibri" pitchFamily="34" charset="0"/>
                <a:ea typeface="Calibri" pitchFamily="34" charset="-122"/>
                <a:cs typeface="Calibri" pitchFamily="34" charset="-120"/>
              </a:rPr>
              <a:t>58</a:t>
            </a:r>
            <a:endParaRPr lang="en-US" sz="2600" dirty="0"/>
          </a:p>
        </p:txBody>
      </p:sp>
      <p:sp>
        <p:nvSpPr>
          <p:cNvPr id="13" name="Text 11"/>
          <p:cNvSpPr/>
          <p:nvPr/>
        </p:nvSpPr>
        <p:spPr>
          <a:xfrm>
            <a:off x="3429000" y="4736592"/>
            <a:ext cx="2514600" cy="54864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history features</a:t>
            </a:r>
            <a:endParaRPr lang="en-US" sz="1400" dirty="0"/>
          </a:p>
        </p:txBody>
      </p:sp>
      <p:sp>
        <p:nvSpPr>
          <p:cNvPr id="14" name="Text 12"/>
          <p:cNvSpPr/>
          <p:nvPr/>
        </p:nvSpPr>
        <p:spPr>
          <a:xfrm>
            <a:off x="6172200" y="4297680"/>
            <a:ext cx="2514600" cy="566928"/>
          </a:xfrm>
          <a:prstGeom prst="rect">
            <a:avLst/>
          </a:prstGeom>
          <a:noFill/>
          <a:ln/>
        </p:spPr>
        <p:txBody>
          <a:bodyPr wrap="square" lIns="0" tIns="0" rIns="0" bIns="0" rtlCol="0" anchor="t"/>
          <a:lstStyle/>
          <a:p>
            <a:pPr indent="0" marL="0">
              <a:buNone/>
            </a:pPr>
            <a:r>
              <a:rPr lang="en-US" sz="2600" b="1" dirty="0">
                <a:solidFill>
                  <a:srgbClr val="161617"/>
                </a:solidFill>
                <a:latin typeface="Calibri" pitchFamily="34" charset="0"/>
                <a:ea typeface="Calibri" pitchFamily="34" charset="-122"/>
                <a:cs typeface="Calibri" pitchFamily="34" charset="-120"/>
              </a:rPr>
              <a:t>126</a:t>
            </a:r>
            <a:endParaRPr lang="en-US" sz="2600" dirty="0"/>
          </a:p>
        </p:txBody>
      </p:sp>
      <p:sp>
        <p:nvSpPr>
          <p:cNvPr id="15" name="Text 13"/>
          <p:cNvSpPr/>
          <p:nvPr/>
        </p:nvSpPr>
        <p:spPr>
          <a:xfrm>
            <a:off x="6172200" y="4736592"/>
            <a:ext cx="2514600" cy="54864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player and matchup features</a:t>
            </a:r>
            <a:endParaRPr lang="en-US" sz="1400" dirty="0"/>
          </a:p>
        </p:txBody>
      </p:sp>
      <p:sp>
        <p:nvSpPr>
          <p:cNvPr id="16" name="Text 14"/>
          <p:cNvSpPr/>
          <p:nvPr/>
        </p:nvSpPr>
        <p:spPr>
          <a:xfrm>
            <a:off x="8915400" y="4297680"/>
            <a:ext cx="2514600" cy="566928"/>
          </a:xfrm>
          <a:prstGeom prst="rect">
            <a:avLst/>
          </a:prstGeom>
          <a:noFill/>
          <a:ln/>
        </p:spPr>
        <p:txBody>
          <a:bodyPr wrap="square" lIns="0" tIns="0" rIns="0" bIns="0" rtlCol="0" anchor="t"/>
          <a:lstStyle/>
          <a:p>
            <a:pPr indent="0" marL="0">
              <a:buNone/>
            </a:pPr>
            <a:r>
              <a:rPr lang="en-US" sz="2600" b="1" dirty="0">
                <a:solidFill>
                  <a:srgbClr val="161617"/>
                </a:solidFill>
                <a:latin typeface="Calibri" pitchFamily="34" charset="0"/>
                <a:ea typeface="Calibri" pitchFamily="34" charset="-122"/>
                <a:cs typeface="Calibri" pitchFamily="34" charset="-120"/>
              </a:rPr>
              <a:t>5</a:t>
            </a:r>
            <a:endParaRPr lang="en-US" sz="2600" dirty="0"/>
          </a:p>
        </p:txBody>
      </p:sp>
      <p:sp>
        <p:nvSpPr>
          <p:cNvPr id="17" name="Text 15"/>
          <p:cNvSpPr/>
          <p:nvPr/>
        </p:nvSpPr>
        <p:spPr>
          <a:xfrm>
            <a:off x="8915400" y="4736592"/>
            <a:ext cx="2514600" cy="54864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match-held-out folds, fold-specific history</a:t>
            </a:r>
            <a:endParaRPr lang="en-US" sz="1400" dirty="0"/>
          </a:p>
        </p:txBody>
      </p:sp>
      <p:sp>
        <p:nvSpPr>
          <p:cNvPr id="18" name="Shape 16"/>
          <p:cNvSpPr/>
          <p:nvPr/>
        </p:nvSpPr>
        <p:spPr>
          <a:xfrm>
            <a:off x="685800" y="5349240"/>
            <a:ext cx="10817352" cy="1051560"/>
          </a:xfrm>
          <a:prstGeom prst="roundRect">
            <a:avLst>
              <a:gd name="adj" fmla="val 5217"/>
            </a:avLst>
          </a:prstGeom>
          <a:solidFill>
            <a:srgbClr val="F9E7E8"/>
          </a:solidFill>
          <a:ln w="9525">
            <a:solidFill>
              <a:srgbClr val="F9E7E8"/>
            </a:solidFill>
            <a:prstDash val="solid"/>
          </a:ln>
        </p:spPr>
      </p:sp>
      <p:sp>
        <p:nvSpPr>
          <p:cNvPr id="19" name="Text 17"/>
          <p:cNvSpPr/>
          <p:nvPr/>
        </p:nvSpPr>
        <p:spPr>
          <a:xfrm>
            <a:off x="960120" y="5550408"/>
            <a:ext cx="10268712" cy="237744"/>
          </a:xfrm>
          <a:prstGeom prst="rect">
            <a:avLst/>
          </a:prstGeom>
          <a:noFill/>
          <a:ln/>
        </p:spPr>
        <p:txBody>
          <a:bodyPr wrap="square" lIns="0" tIns="0" rIns="0" bIns="0" rtlCol="0" anchor="t"/>
          <a:lstStyle/>
          <a:p>
            <a:pPr indent="0" marL="0">
              <a:buNone/>
            </a:pPr>
            <a:r>
              <a:rPr lang="en-US" sz="1200" b="1" spc="140" kern="0" dirty="0">
                <a:solidFill>
                  <a:srgbClr val="D44B52"/>
                </a:solidFill>
                <a:latin typeface="Calibri" pitchFamily="34" charset="0"/>
                <a:ea typeface="Calibri" pitchFamily="34" charset="-122"/>
                <a:cs typeface="Calibri" pitchFamily="34" charset="-120"/>
              </a:rPr>
              <a:t>CONTRACT REPAIR — DO IT IN THIS DIRECTION</a:t>
            </a:r>
            <a:endParaRPr lang="en-US" sz="1200" dirty="0"/>
          </a:p>
        </p:txBody>
      </p:sp>
      <p:sp>
        <p:nvSpPr>
          <p:cNvPr id="20" name="Text 18"/>
          <p:cNvSpPr/>
          <p:nvPr/>
        </p:nvSpPr>
        <p:spPr>
          <a:xfrm>
            <a:off x="960120" y="5879592"/>
            <a:ext cx="10268712" cy="384048"/>
          </a:xfrm>
          <a:prstGeom prst="rect">
            <a:avLst/>
          </a:prstGeom>
          <a:noFill/>
          <a:ln/>
        </p:spPr>
        <p:txBody>
          <a:bodyPr wrap="square" lIns="0" tIns="0" rIns="0" bIns="0" rtlCol="0" anchor="t"/>
          <a:lstStyle/>
          <a:p>
            <a:pPr indent="0" marL="0">
              <a:lnSpc>
                <a:spcPts val="2000"/>
              </a:lnSpc>
              <a:buNone/>
            </a:pPr>
            <a:r>
              <a:rPr lang="en-US" sz="1600" dirty="0">
                <a:solidFill>
                  <a:srgbClr val="161617"/>
                </a:solidFill>
                <a:latin typeface="Calibri" pitchFamily="34" charset="0"/>
                <a:ea typeface="Calibri" pitchFamily="34" charset="-122"/>
                <a:cs typeface="Calibri" pitchFamily="34" charset="-120"/>
              </a:rPr>
              <a:t>first_play_pattern is the correct cutoff-safe field. Update the classifier contract and retrain the bundle; do not restore the modal completed-possession play_pattern.</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20 / 28 · TRANSITION RISK</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Transition risk is a rare-event ranking problem</a:t>
            </a:r>
            <a:endParaRPr lang="en-US" sz="3500" dirty="0"/>
          </a:p>
        </p:txBody>
      </p:sp>
      <p:sp>
        <p:nvSpPr>
          <p:cNvPr id="4" name="Shape 2"/>
          <p:cNvSpPr/>
          <p:nvPr/>
        </p:nvSpPr>
        <p:spPr>
          <a:xfrm>
            <a:off x="685800" y="1874520"/>
            <a:ext cx="6035040" cy="1051560"/>
          </a:xfrm>
          <a:prstGeom prst="roundRect">
            <a:avLst>
              <a:gd name="adj" fmla="val 5217"/>
            </a:avLst>
          </a:prstGeom>
          <a:solidFill>
            <a:srgbClr val="FFFFFF"/>
          </a:solidFill>
          <a:ln w="9525">
            <a:solidFill>
              <a:srgbClr val="FFFFFF"/>
            </a:solidFill>
            <a:prstDash val="solid"/>
          </a:ln>
        </p:spPr>
      </p:sp>
      <p:sp>
        <p:nvSpPr>
          <p:cNvPr id="5" name="Text 3"/>
          <p:cNvSpPr/>
          <p:nvPr/>
        </p:nvSpPr>
        <p:spPr>
          <a:xfrm>
            <a:off x="960120" y="2057400"/>
            <a:ext cx="3291840" cy="685800"/>
          </a:xfrm>
          <a:prstGeom prst="rect">
            <a:avLst/>
          </a:prstGeom>
          <a:noFill/>
          <a:ln/>
        </p:spPr>
        <p:txBody>
          <a:bodyPr wrap="square" lIns="0" tIns="0" rIns="0" bIns="0" rtlCol="0" anchor="t"/>
          <a:lstStyle/>
          <a:p>
            <a:pPr indent="0" marL="0">
              <a:lnSpc>
                <a:spcPts val="2000"/>
              </a:lnSpc>
              <a:buNone/>
            </a:pPr>
            <a:r>
              <a:rPr lang="en-US" sz="1600" dirty="0">
                <a:solidFill>
                  <a:srgbClr val="161617"/>
                </a:solidFill>
                <a:latin typeface="Calibri" pitchFamily="34" charset="0"/>
                <a:ea typeface="Calibri" pitchFamily="34" charset="-122"/>
                <a:cs typeface="Calibri" pitchFamily="34" charset="-120"/>
              </a:rPr>
              <a:t>Opponent reaches the final third within 15 seconds</a:t>
            </a:r>
            <a:endParaRPr lang="en-US" sz="1600" dirty="0"/>
          </a:p>
        </p:txBody>
      </p:sp>
      <p:sp>
        <p:nvSpPr>
          <p:cNvPr id="6" name="Text 4"/>
          <p:cNvSpPr/>
          <p:nvPr/>
        </p:nvSpPr>
        <p:spPr>
          <a:xfrm>
            <a:off x="4434840" y="2130552"/>
            <a:ext cx="1188720" cy="457200"/>
          </a:xfrm>
          <a:prstGeom prst="rect">
            <a:avLst/>
          </a:prstGeom>
          <a:noFill/>
          <a:ln/>
        </p:spPr>
        <p:txBody>
          <a:bodyPr wrap="square" lIns="0" tIns="0" rIns="0" bIns="0" rtlCol="0" anchor="t"/>
          <a:lstStyle/>
          <a:p>
            <a:pPr indent="0" marL="0">
              <a:buNone/>
            </a:pPr>
            <a:r>
              <a:rPr lang="en-US" sz="2600" b="1" dirty="0">
                <a:solidFill>
                  <a:srgbClr val="161617"/>
                </a:solidFill>
                <a:latin typeface="Calibri" pitchFamily="34" charset="0"/>
                <a:ea typeface="Calibri" pitchFamily="34" charset="-122"/>
                <a:cs typeface="Calibri" pitchFamily="34" charset="-120"/>
              </a:rPr>
              <a:t>740</a:t>
            </a:r>
            <a:endParaRPr lang="en-US" sz="2600" dirty="0"/>
          </a:p>
        </p:txBody>
      </p:sp>
      <p:sp>
        <p:nvSpPr>
          <p:cNvPr id="7" name="Text 5"/>
          <p:cNvSpPr/>
          <p:nvPr/>
        </p:nvSpPr>
        <p:spPr>
          <a:xfrm>
            <a:off x="5623560" y="2203704"/>
            <a:ext cx="914400" cy="365760"/>
          </a:xfrm>
          <a:prstGeom prst="rect">
            <a:avLst/>
          </a:prstGeom>
          <a:noFill/>
          <a:ln/>
        </p:spPr>
        <p:txBody>
          <a:bodyPr wrap="square" lIns="0" tIns="0" rIns="0" bIns="0" rtlCol="0" anchor="t"/>
          <a:lstStyle/>
          <a:p>
            <a:pPr indent="0" marL="0">
              <a:buNone/>
            </a:pPr>
            <a:r>
              <a:rPr lang="en-US" sz="1800" b="1" dirty="0">
                <a:solidFill>
                  <a:srgbClr val="3568F0"/>
                </a:solidFill>
                <a:latin typeface="Calibri" pitchFamily="34" charset="0"/>
                <a:ea typeface="Calibri" pitchFamily="34" charset="-122"/>
                <a:cs typeface="Calibri" pitchFamily="34" charset="-120"/>
              </a:rPr>
              <a:t>7.64%</a:t>
            </a:r>
            <a:endParaRPr lang="en-US" sz="1800" dirty="0"/>
          </a:p>
        </p:txBody>
      </p:sp>
      <p:sp>
        <p:nvSpPr>
          <p:cNvPr id="8" name="Shape 6"/>
          <p:cNvSpPr/>
          <p:nvPr/>
        </p:nvSpPr>
        <p:spPr>
          <a:xfrm>
            <a:off x="685800" y="3108960"/>
            <a:ext cx="6035040" cy="1051560"/>
          </a:xfrm>
          <a:prstGeom prst="roundRect">
            <a:avLst>
              <a:gd name="adj" fmla="val 5217"/>
            </a:avLst>
          </a:prstGeom>
          <a:solidFill>
            <a:srgbClr val="FFFFFF"/>
          </a:solidFill>
          <a:ln w="9525">
            <a:solidFill>
              <a:srgbClr val="FFFFFF"/>
            </a:solidFill>
            <a:prstDash val="solid"/>
          </a:ln>
        </p:spPr>
      </p:sp>
      <p:sp>
        <p:nvSpPr>
          <p:cNvPr id="9" name="Text 7"/>
          <p:cNvSpPr/>
          <p:nvPr/>
        </p:nvSpPr>
        <p:spPr>
          <a:xfrm>
            <a:off x="960120" y="3291840"/>
            <a:ext cx="3291840" cy="685800"/>
          </a:xfrm>
          <a:prstGeom prst="rect">
            <a:avLst/>
          </a:prstGeom>
          <a:noFill/>
          <a:ln/>
        </p:spPr>
        <p:txBody>
          <a:bodyPr wrap="square" lIns="0" tIns="0" rIns="0" bIns="0" rtlCol="0" anchor="t"/>
          <a:lstStyle/>
          <a:p>
            <a:pPr indent="0" marL="0">
              <a:lnSpc>
                <a:spcPts val="2000"/>
              </a:lnSpc>
              <a:buNone/>
            </a:pPr>
            <a:r>
              <a:rPr lang="en-US" sz="1600" dirty="0">
                <a:solidFill>
                  <a:srgbClr val="161617"/>
                </a:solidFill>
                <a:latin typeface="Calibri" pitchFamily="34" charset="0"/>
                <a:ea typeface="Calibri" pitchFamily="34" charset="-122"/>
                <a:cs typeface="Calibri" pitchFamily="34" charset="-120"/>
              </a:rPr>
              <a:t>Opponent reaches the penalty area within 15 seconds</a:t>
            </a:r>
            <a:endParaRPr lang="en-US" sz="1600" dirty="0"/>
          </a:p>
        </p:txBody>
      </p:sp>
      <p:sp>
        <p:nvSpPr>
          <p:cNvPr id="10" name="Text 8"/>
          <p:cNvSpPr/>
          <p:nvPr/>
        </p:nvSpPr>
        <p:spPr>
          <a:xfrm>
            <a:off x="4434840" y="3364992"/>
            <a:ext cx="1188720" cy="457200"/>
          </a:xfrm>
          <a:prstGeom prst="rect">
            <a:avLst/>
          </a:prstGeom>
          <a:noFill/>
          <a:ln/>
        </p:spPr>
        <p:txBody>
          <a:bodyPr wrap="square" lIns="0" tIns="0" rIns="0" bIns="0" rtlCol="0" anchor="t"/>
          <a:lstStyle/>
          <a:p>
            <a:pPr indent="0" marL="0">
              <a:buNone/>
            </a:pPr>
            <a:r>
              <a:rPr lang="en-US" sz="2600" b="1" dirty="0">
                <a:solidFill>
                  <a:srgbClr val="161617"/>
                </a:solidFill>
                <a:latin typeface="Calibri" pitchFamily="34" charset="0"/>
                <a:ea typeface="Calibri" pitchFamily="34" charset="-122"/>
                <a:cs typeface="Calibri" pitchFamily="34" charset="-120"/>
              </a:rPr>
              <a:t>259</a:t>
            </a:r>
            <a:endParaRPr lang="en-US" sz="2600" dirty="0"/>
          </a:p>
        </p:txBody>
      </p:sp>
      <p:sp>
        <p:nvSpPr>
          <p:cNvPr id="11" name="Text 9"/>
          <p:cNvSpPr/>
          <p:nvPr/>
        </p:nvSpPr>
        <p:spPr>
          <a:xfrm>
            <a:off x="5623560" y="3438144"/>
            <a:ext cx="914400" cy="365760"/>
          </a:xfrm>
          <a:prstGeom prst="rect">
            <a:avLst/>
          </a:prstGeom>
          <a:noFill/>
          <a:ln/>
        </p:spPr>
        <p:txBody>
          <a:bodyPr wrap="square" lIns="0" tIns="0" rIns="0" bIns="0" rtlCol="0" anchor="t"/>
          <a:lstStyle/>
          <a:p>
            <a:pPr indent="0" marL="0">
              <a:buNone/>
            </a:pPr>
            <a:r>
              <a:rPr lang="en-US" sz="1800" b="1" dirty="0">
                <a:solidFill>
                  <a:srgbClr val="3568F0"/>
                </a:solidFill>
                <a:latin typeface="Calibri" pitchFamily="34" charset="0"/>
                <a:ea typeface="Calibri" pitchFamily="34" charset="-122"/>
                <a:cs typeface="Calibri" pitchFamily="34" charset="-120"/>
              </a:rPr>
              <a:t>2.67%</a:t>
            </a:r>
            <a:endParaRPr lang="en-US" sz="1800" dirty="0"/>
          </a:p>
        </p:txBody>
      </p:sp>
      <p:sp>
        <p:nvSpPr>
          <p:cNvPr id="12" name="Text 10"/>
          <p:cNvSpPr/>
          <p:nvPr/>
        </p:nvSpPr>
        <p:spPr>
          <a:xfrm>
            <a:off x="7086600" y="1874520"/>
            <a:ext cx="4416552" cy="384048"/>
          </a:xfrm>
          <a:prstGeom prst="rect">
            <a:avLst/>
          </a:prstGeom>
          <a:noFill/>
          <a:ln/>
        </p:spPr>
        <p:txBody>
          <a:bodyPr wrap="square" lIns="0" tIns="0" rIns="0" bIns="0" rtlCol="0" anchor="t"/>
          <a:lstStyle/>
          <a:p>
            <a:pPr indent="0" marL="0">
              <a:buNone/>
            </a:pPr>
            <a:r>
              <a:rPr lang="en-US" sz="2200" b="1" dirty="0">
                <a:solidFill>
                  <a:srgbClr val="161617"/>
                </a:solidFill>
                <a:latin typeface="Calibri" pitchFamily="34" charset="0"/>
                <a:ea typeface="Calibri" pitchFamily="34" charset="-122"/>
                <a:cs typeface="Calibri" pitchFamily="34" charset="-120"/>
              </a:rPr>
              <a:t>Evaluation emphasis</a:t>
            </a:r>
            <a:endParaRPr lang="en-US" sz="2200" dirty="0"/>
          </a:p>
        </p:txBody>
      </p:sp>
      <p:sp>
        <p:nvSpPr>
          <p:cNvPr id="13" name="Text 11"/>
          <p:cNvSpPr/>
          <p:nvPr/>
        </p:nvSpPr>
        <p:spPr>
          <a:xfrm>
            <a:off x="7086600" y="2423160"/>
            <a:ext cx="4416552" cy="914400"/>
          </a:xfrm>
          <a:prstGeom prst="rect">
            <a:avLst/>
          </a:prstGeom>
          <a:noFill/>
          <a:ln/>
        </p:spPr>
        <p:txBody>
          <a:bodyPr wrap="square" lIns="0" tIns="0" rIns="0" bIns="0" rtlCol="0" anchor="t"/>
          <a:lstStyle/>
          <a:p>
            <a:pPr marL="177800" indent="-177800">
              <a:lnSpc>
                <a:spcPts val="1952"/>
              </a:lnSpc>
              <a:spcAft>
                <a:spcPts val="600"/>
              </a:spcAft>
              <a:buSzPct val="100000"/>
              <a:buChar char="•"/>
            </a:pPr>
            <a:r>
              <a:rPr lang="en-US" sz="1600" dirty="0">
                <a:solidFill>
                  <a:srgbClr val="161617"/>
                </a:solidFill>
                <a:latin typeface="Calibri" pitchFamily="34" charset="0"/>
                <a:ea typeface="Calibri" pitchFamily="34" charset="-122"/>
                <a:cs typeface="Calibri" pitchFamily="34" charset="-120"/>
              </a:rPr>
              <a:t>PR-AUC and lift over prevalence</a:t>
            </a:r>
            <a:endParaRPr lang="en-US" sz="1600" dirty="0"/>
          </a:p>
          <a:p>
            <a:pPr marL="177800" indent="-177800">
              <a:lnSpc>
                <a:spcPts val="1952"/>
              </a:lnSpc>
              <a:spcAft>
                <a:spcPts val="600"/>
              </a:spcAft>
              <a:buSzPct val="100000"/>
              <a:buChar char="•"/>
            </a:pPr>
            <a:r>
              <a:rPr lang="en-US" sz="1600" dirty="0">
                <a:solidFill>
                  <a:srgbClr val="161617"/>
                </a:solidFill>
                <a:latin typeface="Calibri" pitchFamily="34" charset="0"/>
                <a:ea typeface="Calibri" pitchFamily="34" charset="-122"/>
                <a:cs typeface="Calibri" pitchFamily="34" charset="-120"/>
              </a:rPr>
              <a:t>Recall in the highest-risk 10%</a:t>
            </a:r>
            <a:endParaRPr lang="en-US" sz="1600" dirty="0"/>
          </a:p>
          <a:p>
            <a:pPr marL="177800" indent="-177800">
              <a:lnSpc>
                <a:spcPts val="1952"/>
              </a:lnSpc>
              <a:spcAft>
                <a:spcPts val="600"/>
              </a:spcAft>
              <a:buSzPct val="100000"/>
              <a:buChar char="•"/>
            </a:pPr>
            <a:r>
              <a:rPr lang="en-US" sz="1600" dirty="0">
                <a:solidFill>
                  <a:srgbClr val="161617"/>
                </a:solidFill>
                <a:latin typeface="Calibri" pitchFamily="34" charset="0"/>
                <a:ea typeface="Calibri" pitchFamily="34" charset="-122"/>
                <a:cs typeface="Calibri" pitchFamily="34" charset="-120"/>
              </a:rPr>
              <a:t>Calibration and log loss</a:t>
            </a:r>
            <a:endParaRPr lang="en-US" sz="1600" dirty="0"/>
          </a:p>
          <a:p>
            <a:pPr marL="177800" indent="-177800">
              <a:lnSpc>
                <a:spcPts val="1952"/>
              </a:lnSpc>
              <a:spcAft>
                <a:spcPts val="600"/>
              </a:spcAft>
              <a:buSzPct val="100000"/>
              <a:buChar char="•"/>
            </a:pPr>
            <a:r>
              <a:rPr lang="en-US" sz="1600" dirty="0">
                <a:solidFill>
                  <a:srgbClr val="161617"/>
                </a:solidFill>
                <a:latin typeface="Calibri" pitchFamily="34" charset="0"/>
                <a:ea typeface="Calibri" pitchFamily="34" charset="-122"/>
                <a:cs typeface="Calibri" pitchFamily="34" charset="-120"/>
              </a:rPr>
              <a:t>Direct versus hierarchical architectures</a:t>
            </a:r>
            <a:endParaRPr lang="en-US" sz="1600" dirty="0"/>
          </a:p>
        </p:txBody>
      </p:sp>
      <p:sp>
        <p:nvSpPr>
          <p:cNvPr id="14" name="Shape 12"/>
          <p:cNvSpPr/>
          <p:nvPr/>
        </p:nvSpPr>
        <p:spPr>
          <a:xfrm>
            <a:off x="685800" y="4434840"/>
            <a:ext cx="6035040" cy="1234440"/>
          </a:xfrm>
          <a:prstGeom prst="roundRect">
            <a:avLst>
              <a:gd name="adj" fmla="val 4444"/>
            </a:avLst>
          </a:prstGeom>
          <a:solidFill>
            <a:srgbClr val="F9E7E8"/>
          </a:solidFill>
          <a:ln w="9525">
            <a:solidFill>
              <a:srgbClr val="F9E7E8"/>
            </a:solidFill>
            <a:prstDash val="solid"/>
          </a:ln>
        </p:spPr>
      </p:sp>
      <p:sp>
        <p:nvSpPr>
          <p:cNvPr id="15" name="Text 13"/>
          <p:cNvSpPr/>
          <p:nvPr/>
        </p:nvSpPr>
        <p:spPr>
          <a:xfrm>
            <a:off x="960120" y="4636008"/>
            <a:ext cx="5486400" cy="237744"/>
          </a:xfrm>
          <a:prstGeom prst="rect">
            <a:avLst/>
          </a:prstGeom>
          <a:noFill/>
          <a:ln/>
        </p:spPr>
        <p:txBody>
          <a:bodyPr wrap="square" lIns="0" tIns="0" rIns="0" bIns="0" rtlCol="0" anchor="t"/>
          <a:lstStyle/>
          <a:p>
            <a:pPr indent="0" marL="0">
              <a:buNone/>
            </a:pPr>
            <a:r>
              <a:rPr lang="en-US" sz="1200" b="1" spc="140" kern="0" dirty="0">
                <a:solidFill>
                  <a:srgbClr val="D44B52"/>
                </a:solidFill>
                <a:latin typeface="Calibri" pitchFamily="34" charset="0"/>
                <a:ea typeface="Calibri" pitchFamily="34" charset="-122"/>
                <a:cs typeface="Calibri" pitchFamily="34" charset="-120"/>
              </a:rPr>
              <a:t>REJECTED LEGACY TARGET</a:t>
            </a:r>
            <a:endParaRPr lang="en-US" sz="1200" dirty="0"/>
          </a:p>
        </p:txBody>
      </p:sp>
      <p:sp>
        <p:nvSpPr>
          <p:cNvPr id="16" name="Text 14"/>
          <p:cNvSpPr/>
          <p:nvPr/>
        </p:nvSpPr>
        <p:spPr>
          <a:xfrm>
            <a:off x="960120" y="4965192"/>
            <a:ext cx="5486400" cy="566928"/>
          </a:xfrm>
          <a:prstGeom prst="rect">
            <a:avLst/>
          </a:prstGeom>
          <a:noFill/>
          <a:ln/>
        </p:spPr>
        <p:txBody>
          <a:bodyPr wrap="square" lIns="0" tIns="0" rIns="0" bIns="0" rtlCol="0" anchor="t"/>
          <a:lstStyle/>
          <a:p>
            <a:pPr indent="0" marL="0">
              <a:lnSpc>
                <a:spcPts val="2000"/>
              </a:lnSpc>
              <a:buNone/>
            </a:pPr>
            <a:r>
              <a:rPr lang="en-US" sz="1600" dirty="0">
                <a:solidFill>
                  <a:srgbClr val="161617"/>
                </a:solidFill>
                <a:latin typeface="Calibri" pitchFamily="34" charset="0"/>
                <a:ea typeface="Calibri" pitchFamily="34" charset="-122"/>
                <a:cs typeface="Calibri" pitchFamily="34" charset="-120"/>
              </a:rPr>
              <a:t>The opponent-transition-shot target had 13 positives. It was rejected from the primary benchmark and must not be presented as useful.</a:t>
            </a:r>
            <a:endParaRPr lang="en-US" sz="1600" dirty="0"/>
          </a:p>
        </p:txBody>
      </p:sp>
      <p:sp>
        <p:nvSpPr>
          <p:cNvPr id="17" name="Shape 15"/>
          <p:cNvSpPr/>
          <p:nvPr/>
        </p:nvSpPr>
        <p:spPr>
          <a:xfrm>
            <a:off x="7086600" y="4434840"/>
            <a:ext cx="4416552" cy="1234440"/>
          </a:xfrm>
          <a:prstGeom prst="roundRect">
            <a:avLst>
              <a:gd name="adj" fmla="val 4444"/>
            </a:avLst>
          </a:prstGeom>
          <a:solidFill>
            <a:srgbClr val="ECECF0"/>
          </a:solidFill>
          <a:ln w="9525">
            <a:solidFill>
              <a:srgbClr val="ECECF0"/>
            </a:solidFill>
            <a:prstDash val="solid"/>
          </a:ln>
        </p:spPr>
      </p:sp>
      <p:sp>
        <p:nvSpPr>
          <p:cNvPr id="18" name="Text 16"/>
          <p:cNvSpPr/>
          <p:nvPr/>
        </p:nvSpPr>
        <p:spPr>
          <a:xfrm>
            <a:off x="7360920" y="4636008"/>
            <a:ext cx="3867912" cy="896112"/>
          </a:xfrm>
          <a:prstGeom prst="rect">
            <a:avLst/>
          </a:prstGeom>
          <a:noFill/>
          <a:ln/>
        </p:spPr>
        <p:txBody>
          <a:bodyPr wrap="square" lIns="0" tIns="0" rIns="0" bIns="0" rtlCol="0" anchor="t"/>
          <a:lstStyle/>
          <a:p>
            <a:pPr indent="0" marL="0">
              <a:lnSpc>
                <a:spcPts val="2125"/>
              </a:lnSpc>
              <a:buNone/>
            </a:pPr>
            <a:r>
              <a:rPr lang="en-US" sz="1700" b="1" dirty="0">
                <a:solidFill>
                  <a:srgbClr val="161617"/>
                </a:solidFill>
                <a:latin typeface="Calibri" pitchFamily="34" charset="0"/>
                <a:ea typeface="Calibri" pitchFamily="34" charset="-122"/>
                <a:cs typeface="Calibri" pitchFamily="34" charset="-120"/>
              </a:rPr>
              <a:t>Never use ROC-AUC alone to claim usefulness on a rare event.</a:t>
            </a:r>
            <a:endParaRPr lang="en-US" sz="1700" dirty="0"/>
          </a:p>
        </p:txBody>
      </p:sp>
      <p:sp>
        <p:nvSpPr>
          <p:cNvPr id="19" name="Text 17"/>
          <p:cNvSpPr/>
          <p:nvPr/>
        </p:nvSpPr>
        <p:spPr>
          <a:xfrm>
            <a:off x="685800" y="5852160"/>
            <a:ext cx="10817352" cy="274320"/>
          </a:xfrm>
          <a:prstGeom prst="rect">
            <a:avLst/>
          </a:prstGeom>
          <a:noFill/>
          <a:ln/>
        </p:spPr>
        <p:txBody>
          <a:bodyPr wrap="square" lIns="0" tIns="0" rIns="0" bIns="0" rtlCol="0" anchor="t"/>
          <a:lstStyle/>
          <a:p>
            <a:pPr indent="0" marL="0">
              <a:buNone/>
            </a:pPr>
            <a:r>
              <a:rPr lang="en-US" sz="1500" i="1" dirty="0">
                <a:solidFill>
                  <a:srgbClr val="6E6E73"/>
                </a:solidFill>
                <a:latin typeface="Calibri" pitchFamily="34" charset="0"/>
                <a:ea typeface="Calibri" pitchFamily="34" charset="-122"/>
                <a:cs typeface="Calibri" pitchFamily="34" charset="-120"/>
              </a:rPr>
              <a:t>Prevalence figures are shares of the 9,685 eligible possessions.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21 / 28 · PLAYER LAYER</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Player and lineup features are historical, role-aware inputs</a:t>
            </a:r>
            <a:endParaRPr lang="en-US" sz="3500" dirty="0"/>
          </a:p>
        </p:txBody>
      </p:sp>
      <p:sp>
        <p:nvSpPr>
          <p:cNvPr id="4" name="Text 2"/>
          <p:cNvSpPr/>
          <p:nvPr/>
        </p:nvSpPr>
        <p:spPr>
          <a:xfrm>
            <a:off x="685800" y="1874520"/>
            <a:ext cx="2514600" cy="566928"/>
          </a:xfrm>
          <a:prstGeom prst="rect">
            <a:avLst/>
          </a:prstGeom>
          <a:noFill/>
          <a:ln/>
        </p:spPr>
        <p:txBody>
          <a:bodyPr wrap="square" lIns="0" tIns="0" rIns="0" bIns="0" rtlCol="0" anchor="t"/>
          <a:lstStyle/>
          <a:p>
            <a:pPr indent="0" marL="0">
              <a:buNone/>
            </a:pPr>
            <a:r>
              <a:rPr lang="en-US" sz="2800" b="1" dirty="0">
                <a:solidFill>
                  <a:srgbClr val="161617"/>
                </a:solidFill>
                <a:latin typeface="Calibri" pitchFamily="34" charset="0"/>
                <a:ea typeface="Calibri" pitchFamily="34" charset="-122"/>
                <a:cs typeface="Calibri" pitchFamily="34" charset="-120"/>
              </a:rPr>
              <a:t>680</a:t>
            </a:r>
            <a:endParaRPr lang="en-US" sz="2800" dirty="0"/>
          </a:p>
        </p:txBody>
      </p:sp>
      <p:sp>
        <p:nvSpPr>
          <p:cNvPr id="5" name="Text 3"/>
          <p:cNvSpPr/>
          <p:nvPr/>
        </p:nvSpPr>
        <p:spPr>
          <a:xfrm>
            <a:off x="685800" y="2331720"/>
            <a:ext cx="2514600" cy="64008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unique players</a:t>
            </a:r>
            <a:endParaRPr lang="en-US" sz="1400" dirty="0"/>
          </a:p>
        </p:txBody>
      </p:sp>
      <p:sp>
        <p:nvSpPr>
          <p:cNvPr id="6" name="Text 4"/>
          <p:cNvSpPr/>
          <p:nvPr/>
        </p:nvSpPr>
        <p:spPr>
          <a:xfrm>
            <a:off x="3429000" y="1874520"/>
            <a:ext cx="2514600" cy="566928"/>
          </a:xfrm>
          <a:prstGeom prst="rect">
            <a:avLst/>
          </a:prstGeom>
          <a:noFill/>
          <a:ln/>
        </p:spPr>
        <p:txBody>
          <a:bodyPr wrap="square" lIns="0" tIns="0" rIns="0" bIns="0" rtlCol="0" anchor="t"/>
          <a:lstStyle/>
          <a:p>
            <a:pPr indent="0" marL="0">
              <a:buNone/>
            </a:pPr>
            <a:r>
              <a:rPr lang="en-US" sz="2800" b="1" dirty="0">
                <a:solidFill>
                  <a:srgbClr val="161617"/>
                </a:solidFill>
                <a:latin typeface="Calibri" pitchFamily="34" charset="0"/>
                <a:ea typeface="Calibri" pitchFamily="34" charset="-122"/>
                <a:cs typeface="Calibri" pitchFamily="34" charset="-120"/>
              </a:rPr>
              <a:t>1,996</a:t>
            </a:r>
            <a:endParaRPr lang="en-US" sz="2800" dirty="0"/>
          </a:p>
        </p:txBody>
      </p:sp>
      <p:sp>
        <p:nvSpPr>
          <p:cNvPr id="7" name="Text 5"/>
          <p:cNvSpPr/>
          <p:nvPr/>
        </p:nvSpPr>
        <p:spPr>
          <a:xfrm>
            <a:off x="3429000" y="2331720"/>
            <a:ext cx="2514600" cy="64008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player-match component rows</a:t>
            </a:r>
            <a:endParaRPr lang="en-US" sz="1400" dirty="0"/>
          </a:p>
        </p:txBody>
      </p:sp>
      <p:sp>
        <p:nvSpPr>
          <p:cNvPr id="8" name="Text 6"/>
          <p:cNvSpPr/>
          <p:nvPr/>
        </p:nvSpPr>
        <p:spPr>
          <a:xfrm>
            <a:off x="6172200" y="1874520"/>
            <a:ext cx="2514600" cy="566928"/>
          </a:xfrm>
          <a:prstGeom prst="rect">
            <a:avLst/>
          </a:prstGeom>
          <a:noFill/>
          <a:ln/>
        </p:spPr>
        <p:txBody>
          <a:bodyPr wrap="square" lIns="0" tIns="0" rIns="0" bIns="0" rtlCol="0" anchor="t"/>
          <a:lstStyle/>
          <a:p>
            <a:pPr indent="0" marL="0">
              <a:buNone/>
            </a:pPr>
            <a:r>
              <a:rPr lang="en-US" sz="2800" b="1" dirty="0">
                <a:solidFill>
                  <a:srgbClr val="161617"/>
                </a:solidFill>
                <a:latin typeface="Calibri" pitchFamily="34" charset="0"/>
                <a:ea typeface="Calibri" pitchFamily="34" charset="-122"/>
                <a:cs typeface="Calibri" pitchFamily="34" charset="-120"/>
              </a:rPr>
              <a:t>1,995</a:t>
            </a:r>
            <a:endParaRPr lang="en-US" sz="2800" dirty="0"/>
          </a:p>
        </p:txBody>
      </p:sp>
      <p:sp>
        <p:nvSpPr>
          <p:cNvPr id="9" name="Text 7"/>
          <p:cNvSpPr/>
          <p:nvPr/>
        </p:nvSpPr>
        <p:spPr>
          <a:xfrm>
            <a:off x="6172200" y="2331720"/>
            <a:ext cx="2514600" cy="64008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lineup intervals</a:t>
            </a:r>
            <a:endParaRPr lang="en-US" sz="1400" dirty="0"/>
          </a:p>
        </p:txBody>
      </p:sp>
      <p:sp>
        <p:nvSpPr>
          <p:cNvPr id="10" name="Text 8"/>
          <p:cNvSpPr/>
          <p:nvPr/>
        </p:nvSpPr>
        <p:spPr>
          <a:xfrm>
            <a:off x="8915400" y="1874520"/>
            <a:ext cx="2514600" cy="566928"/>
          </a:xfrm>
          <a:prstGeom prst="rect">
            <a:avLst/>
          </a:prstGeom>
          <a:noFill/>
          <a:ln/>
        </p:spPr>
        <p:txBody>
          <a:bodyPr wrap="square" lIns="0" tIns="0" rIns="0" bIns="0" rtlCol="0" anchor="t"/>
          <a:lstStyle/>
          <a:p>
            <a:pPr indent="0" marL="0">
              <a:buNone/>
            </a:pPr>
            <a:r>
              <a:rPr lang="en-US" sz="2800" b="1" dirty="0">
                <a:solidFill>
                  <a:srgbClr val="24775B"/>
                </a:solidFill>
                <a:latin typeface="Calibri" pitchFamily="34" charset="0"/>
                <a:ea typeface="Calibri" pitchFamily="34" charset="-122"/>
                <a:cs typeface="Calibri" pitchFamily="34" charset="-120"/>
              </a:rPr>
              <a:t>100%</a:t>
            </a:r>
            <a:endParaRPr lang="en-US" sz="2800" dirty="0"/>
          </a:p>
        </p:txBody>
      </p:sp>
      <p:sp>
        <p:nvSpPr>
          <p:cNvPr id="11" name="Text 9"/>
          <p:cNvSpPr/>
          <p:nvPr/>
        </p:nvSpPr>
        <p:spPr>
          <a:xfrm>
            <a:off x="8915400" y="2331720"/>
            <a:ext cx="2514600" cy="64008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of possessions with 11 attackers and 11 defenders</a:t>
            </a:r>
            <a:endParaRPr lang="en-US" sz="1400" dirty="0"/>
          </a:p>
        </p:txBody>
      </p:sp>
      <p:sp>
        <p:nvSpPr>
          <p:cNvPr id="12" name="Text 10"/>
          <p:cNvSpPr/>
          <p:nvPr/>
        </p:nvSpPr>
        <p:spPr>
          <a:xfrm>
            <a:off x="685800" y="3063240"/>
            <a:ext cx="5257800" cy="384048"/>
          </a:xfrm>
          <a:prstGeom prst="rect">
            <a:avLst/>
          </a:prstGeom>
          <a:noFill/>
          <a:ln/>
        </p:spPr>
        <p:txBody>
          <a:bodyPr wrap="square" lIns="0" tIns="0" rIns="0" bIns="0" rtlCol="0" anchor="t"/>
          <a:lstStyle/>
          <a:p>
            <a:pPr indent="0" marL="0">
              <a:buNone/>
            </a:pPr>
            <a:r>
              <a:rPr lang="en-US" sz="2200" b="1" dirty="0">
                <a:solidFill>
                  <a:srgbClr val="161617"/>
                </a:solidFill>
                <a:latin typeface="Calibri" pitchFamily="34" charset="0"/>
                <a:ea typeface="Calibri" pitchFamily="34" charset="-122"/>
                <a:cs typeface="Calibri" pitchFamily="34" charset="-120"/>
              </a:rPr>
              <a:t>Method</a:t>
            </a:r>
            <a:endParaRPr lang="en-US" sz="2200" dirty="0"/>
          </a:p>
        </p:txBody>
      </p:sp>
      <p:sp>
        <p:nvSpPr>
          <p:cNvPr id="13" name="Text 11"/>
          <p:cNvSpPr/>
          <p:nvPr/>
        </p:nvSpPr>
        <p:spPr>
          <a:xfrm>
            <a:off x="685800" y="3611880"/>
            <a:ext cx="5257800" cy="914400"/>
          </a:xfrm>
          <a:prstGeom prst="rect">
            <a:avLst/>
          </a:prstGeom>
          <a:noFill/>
          <a:ln/>
        </p:spPr>
        <p:txBody>
          <a:bodyPr wrap="square" lIns="0" tIns="0" rIns="0" bIns="0" rtlCol="0" anchor="t"/>
          <a:lstStyle/>
          <a:p>
            <a:pPr marL="177800" indent="-177800">
              <a:lnSpc>
                <a:spcPts val="1952"/>
              </a:lnSpc>
              <a:spcAft>
                <a:spcPts val="600"/>
              </a:spcAft>
              <a:buSzPct val="100000"/>
              <a:buChar char="•"/>
            </a:pPr>
            <a:r>
              <a:rPr lang="en-US" sz="1600" dirty="0">
                <a:solidFill>
                  <a:srgbClr val="161617"/>
                </a:solidFill>
                <a:latin typeface="Calibri" pitchFamily="34" charset="0"/>
                <a:ea typeface="Calibri" pitchFamily="34" charset="-122"/>
                <a:cs typeface="Calibri" pitchFamily="34" charset="-120"/>
              </a:rPr>
              <a:t>Build player-match skill components</a:t>
            </a:r>
            <a:endParaRPr lang="en-US" sz="1600" dirty="0"/>
          </a:p>
          <a:p>
            <a:pPr marL="177800" indent="-177800">
              <a:lnSpc>
                <a:spcPts val="1952"/>
              </a:lnSpc>
              <a:spcAft>
                <a:spcPts val="600"/>
              </a:spcAft>
              <a:buSzPct val="100000"/>
              <a:buChar char="•"/>
            </a:pPr>
            <a:r>
              <a:rPr lang="en-US" sz="1600" dirty="0">
                <a:solidFill>
                  <a:srgbClr val="161617"/>
                </a:solidFill>
                <a:latin typeface="Calibri" pitchFamily="34" charset="0"/>
                <a:ea typeface="Calibri" pitchFamily="34" charset="-122"/>
                <a:cs typeface="Calibri" pitchFamily="34" charset="-120"/>
              </a:rPr>
              <a:t>Shrink small samples toward position priors</a:t>
            </a:r>
            <a:endParaRPr lang="en-US" sz="1600" dirty="0"/>
          </a:p>
          <a:p>
            <a:pPr marL="177800" indent="-177800">
              <a:lnSpc>
                <a:spcPts val="1952"/>
              </a:lnSpc>
              <a:spcAft>
                <a:spcPts val="600"/>
              </a:spcAft>
              <a:buSzPct val="100000"/>
              <a:buChar char="•"/>
            </a:pPr>
            <a:r>
              <a:rPr lang="en-US" sz="1600" dirty="0">
                <a:solidFill>
                  <a:srgbClr val="161617"/>
                </a:solidFill>
                <a:latin typeface="Calibri" pitchFamily="34" charset="0"/>
                <a:ea typeface="Calibri" pitchFamily="34" charset="-122"/>
                <a:cs typeface="Calibri" pitchFamily="34" charset="-120"/>
              </a:rPr>
              <a:t>Exclude the validation match from performance profiles</a:t>
            </a:r>
            <a:endParaRPr lang="en-US" sz="1600" dirty="0"/>
          </a:p>
          <a:p>
            <a:pPr marL="177800" indent="-177800">
              <a:lnSpc>
                <a:spcPts val="1952"/>
              </a:lnSpc>
              <a:spcAft>
                <a:spcPts val="600"/>
              </a:spcAft>
              <a:buSzPct val="100000"/>
              <a:buChar char="•"/>
            </a:pPr>
            <a:r>
              <a:rPr lang="en-US" sz="1600" dirty="0">
                <a:solidFill>
                  <a:srgbClr val="161617"/>
                </a:solidFill>
                <a:latin typeface="Calibri" pitchFamily="34" charset="0"/>
                <a:ea typeface="Calibri" pitchFamily="34" charset="-122"/>
                <a:cs typeface="Calibri" pitchFamily="34" charset="-120"/>
              </a:rPr>
              <a:t>Names and IDs are join keys only, never predictive inputs</a:t>
            </a:r>
            <a:endParaRPr lang="en-US" sz="1600" dirty="0"/>
          </a:p>
          <a:p>
            <a:pPr marL="177800" indent="-177800">
              <a:lnSpc>
                <a:spcPts val="1952"/>
              </a:lnSpc>
              <a:spcAft>
                <a:spcPts val="600"/>
              </a:spcAft>
              <a:buSzPct val="100000"/>
              <a:buChar char="•"/>
            </a:pPr>
            <a:r>
              <a:rPr lang="en-US" sz="1600" dirty="0">
                <a:solidFill>
                  <a:srgbClr val="161617"/>
                </a:solidFill>
                <a:latin typeface="Calibri" pitchFamily="34" charset="0"/>
                <a:ea typeface="Calibri" pitchFamily="34" charset="-122"/>
                <a:cs typeface="Calibri" pitchFamily="34" charset="-120"/>
              </a:rPr>
              <a:t>Aggregate active lineups into possession-level features</a:t>
            </a:r>
            <a:endParaRPr lang="en-US" sz="1600" dirty="0"/>
          </a:p>
        </p:txBody>
      </p:sp>
      <p:sp>
        <p:nvSpPr>
          <p:cNvPr id="14" name="Shape 12"/>
          <p:cNvSpPr/>
          <p:nvPr/>
        </p:nvSpPr>
        <p:spPr>
          <a:xfrm>
            <a:off x="6245352" y="3063240"/>
            <a:ext cx="5257800" cy="1965960"/>
          </a:xfrm>
          <a:prstGeom prst="roundRect">
            <a:avLst>
              <a:gd name="adj" fmla="val 2791"/>
            </a:avLst>
          </a:prstGeom>
          <a:solidFill>
            <a:srgbClr val="F3EDE0"/>
          </a:solidFill>
          <a:ln w="9525">
            <a:solidFill>
              <a:srgbClr val="F3EDE0"/>
            </a:solidFill>
            <a:prstDash val="solid"/>
          </a:ln>
        </p:spPr>
      </p:sp>
      <p:sp>
        <p:nvSpPr>
          <p:cNvPr id="15" name="Text 13"/>
          <p:cNvSpPr/>
          <p:nvPr/>
        </p:nvSpPr>
        <p:spPr>
          <a:xfrm>
            <a:off x="6519672" y="3246120"/>
            <a:ext cx="4709160" cy="384048"/>
          </a:xfrm>
          <a:prstGeom prst="rect">
            <a:avLst/>
          </a:prstGeom>
          <a:noFill/>
          <a:ln/>
        </p:spPr>
        <p:txBody>
          <a:bodyPr wrap="square" lIns="0" tIns="0" rIns="0" bIns="0" rtlCol="0" anchor="t"/>
          <a:lstStyle/>
          <a:p>
            <a:pPr indent="0" marL="0">
              <a:buNone/>
            </a:pPr>
            <a:r>
              <a:rPr lang="en-US" sz="2000" b="1" dirty="0">
                <a:solidFill>
                  <a:srgbClr val="A9741A"/>
                </a:solidFill>
                <a:latin typeface="Calibri" pitchFamily="34" charset="0"/>
                <a:ea typeface="Calibri" pitchFamily="34" charset="-122"/>
                <a:cs typeface="Calibri" pitchFamily="34" charset="-120"/>
              </a:rPr>
              <a:t>V4 snapshot</a:t>
            </a:r>
            <a:endParaRPr lang="en-US" sz="2000" dirty="0"/>
          </a:p>
        </p:txBody>
      </p:sp>
      <p:sp>
        <p:nvSpPr>
          <p:cNvPr id="16" name="Text 14"/>
          <p:cNvSpPr/>
          <p:nvPr/>
        </p:nvSpPr>
        <p:spPr>
          <a:xfrm>
            <a:off x="6519672" y="3749040"/>
            <a:ext cx="4709160" cy="914400"/>
          </a:xfrm>
          <a:prstGeom prst="rect">
            <a:avLst/>
          </a:prstGeom>
          <a:noFill/>
          <a:ln/>
        </p:spPr>
        <p:txBody>
          <a:bodyPr wrap="square" lIns="0" tIns="0" rIns="0" bIns="0" rtlCol="0" anchor="t"/>
          <a:lstStyle/>
          <a:p>
            <a:pPr marL="177800" indent="-177800">
              <a:lnSpc>
                <a:spcPts val="1952"/>
              </a:lnSpc>
              <a:spcAft>
                <a:spcPts val="400"/>
              </a:spcAft>
              <a:buSzPct val="100000"/>
              <a:buChar char="•"/>
            </a:pPr>
            <a:r>
              <a:rPr lang="en-US" sz="1600" dirty="0">
                <a:solidFill>
                  <a:srgbClr val="161617"/>
                </a:solidFill>
                <a:latin typeface="Calibri" pitchFamily="34" charset="0"/>
                <a:ea typeface="Calibri" pitchFamily="34" charset="-122"/>
                <a:cs typeface="Calibri" pitchFamily="34" charset="-120"/>
              </a:rPr>
              <a:t>Players below 300 tournament minutes excluded from rankings</a:t>
            </a:r>
            <a:endParaRPr lang="en-US" sz="1600" dirty="0"/>
          </a:p>
          <a:p>
            <a:pPr marL="177800" indent="-177800">
              <a:lnSpc>
                <a:spcPts val="1952"/>
              </a:lnSpc>
              <a:spcAft>
                <a:spcPts val="400"/>
              </a:spcAft>
              <a:buSzPct val="100000"/>
              <a:buChar char="•"/>
            </a:pPr>
            <a:r>
              <a:rPr lang="en-US" sz="1600" dirty="0">
                <a:solidFill>
                  <a:srgbClr val="161617"/>
                </a:solidFill>
                <a:latin typeface="Calibri" pitchFamily="34" charset="0"/>
                <a:ea typeface="Calibri" pitchFamily="34" charset="-122"/>
                <a:cs typeface="Calibri" pitchFamily="34" charset="-120"/>
              </a:rPr>
              <a:t>142 players remain eligible</a:t>
            </a:r>
            <a:endParaRPr lang="en-US" sz="1600" dirty="0"/>
          </a:p>
          <a:p>
            <a:pPr marL="177800" indent="-177800">
              <a:lnSpc>
                <a:spcPts val="1952"/>
              </a:lnSpc>
              <a:spcAft>
                <a:spcPts val="400"/>
              </a:spcAft>
              <a:buSzPct val="100000"/>
              <a:buChar char="•"/>
            </a:pPr>
            <a:r>
              <a:rPr lang="en-US" sz="1600" dirty="0">
                <a:solidFill>
                  <a:srgbClr val="161617"/>
                </a:solidFill>
                <a:latin typeface="Calibri" pitchFamily="34" charset="0"/>
                <a:ea typeface="Calibri" pitchFamily="34" charset="-122"/>
                <a:cs typeface="Calibri" pitchFamily="34" charset="-120"/>
              </a:rPr>
              <a:t>Role-relative scores standardize within functional roles</a:t>
            </a:r>
            <a:endParaRPr lang="en-US" sz="1600" dirty="0"/>
          </a:p>
        </p:txBody>
      </p:sp>
      <p:sp>
        <p:nvSpPr>
          <p:cNvPr id="17" name="Shape 15"/>
          <p:cNvSpPr/>
          <p:nvPr/>
        </p:nvSpPr>
        <p:spPr>
          <a:xfrm>
            <a:off x="6245352" y="5166360"/>
            <a:ext cx="5257800" cy="1143000"/>
          </a:xfrm>
          <a:prstGeom prst="roundRect">
            <a:avLst>
              <a:gd name="adj" fmla="val 4800"/>
            </a:avLst>
          </a:prstGeom>
          <a:solidFill>
            <a:srgbClr val="F9E7E8"/>
          </a:solidFill>
          <a:ln w="9525">
            <a:solidFill>
              <a:srgbClr val="F9E7E8"/>
            </a:solidFill>
            <a:prstDash val="solid"/>
          </a:ln>
        </p:spPr>
      </p:sp>
      <p:sp>
        <p:nvSpPr>
          <p:cNvPr id="18" name="Text 16"/>
          <p:cNvSpPr/>
          <p:nvPr/>
        </p:nvSpPr>
        <p:spPr>
          <a:xfrm>
            <a:off x="6519672" y="5367528"/>
            <a:ext cx="4709160" cy="804672"/>
          </a:xfrm>
          <a:prstGeom prst="rect">
            <a:avLst/>
          </a:prstGeom>
          <a:noFill/>
          <a:ln/>
        </p:spPr>
        <p:txBody>
          <a:bodyPr wrap="square" lIns="0" tIns="0" rIns="0" bIns="0" rtlCol="0" anchor="t"/>
          <a:lstStyle/>
          <a:p>
            <a:pPr indent="0" marL="0">
              <a:lnSpc>
                <a:spcPts val="2000"/>
              </a:lnSpc>
              <a:buNone/>
            </a:pPr>
            <a:r>
              <a:rPr lang="en-US" sz="1600" b="1" dirty="0">
                <a:solidFill>
                  <a:srgbClr val="161617"/>
                </a:solidFill>
                <a:latin typeface="Calibri" pitchFamily="34" charset="0"/>
                <a:ea typeface="Calibri" pitchFamily="34" charset="-122"/>
                <a:cs typeface="Calibri" pitchFamily="34" charset="-120"/>
              </a:rPr>
              <a:t>Pitch value uses an open-event fallback. It must never be described as licensed proprietary StatsBomb OBV.</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22 / 28 · EXPERIMENTAL LAYER</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Simulation and reporting are experimental decision-support layers</a:t>
            </a:r>
            <a:endParaRPr lang="en-US" sz="3500" dirty="0"/>
          </a:p>
        </p:txBody>
      </p:sp>
      <p:sp>
        <p:nvSpPr>
          <p:cNvPr id="4" name="Shape 2"/>
          <p:cNvSpPr/>
          <p:nvPr/>
        </p:nvSpPr>
        <p:spPr>
          <a:xfrm>
            <a:off x="685800" y="1874520"/>
            <a:ext cx="2880360" cy="548640"/>
          </a:xfrm>
          <a:prstGeom prst="roundRect">
            <a:avLst>
              <a:gd name="adj" fmla="val 10000"/>
            </a:avLst>
          </a:prstGeom>
          <a:solidFill>
            <a:srgbClr val="F5F5F7"/>
          </a:solidFill>
          <a:ln w="12700">
            <a:solidFill>
              <a:srgbClr val="D44B52"/>
            </a:solidFill>
            <a:prstDash val="solid"/>
          </a:ln>
        </p:spPr>
      </p:sp>
      <p:sp>
        <p:nvSpPr>
          <p:cNvPr id="5" name="Text 3"/>
          <p:cNvSpPr/>
          <p:nvPr/>
        </p:nvSpPr>
        <p:spPr>
          <a:xfrm>
            <a:off x="850392" y="1965960"/>
            <a:ext cx="2560320" cy="384048"/>
          </a:xfrm>
          <a:prstGeom prst="rect">
            <a:avLst/>
          </a:prstGeom>
          <a:noFill/>
          <a:ln/>
        </p:spPr>
        <p:txBody>
          <a:bodyPr wrap="square" lIns="0" tIns="0" rIns="0" bIns="0" rtlCol="0" anchor="t"/>
          <a:lstStyle/>
          <a:p>
            <a:pPr indent="0" marL="0">
              <a:lnSpc>
                <a:spcPts val="1600"/>
              </a:lnSpc>
              <a:buNone/>
            </a:pPr>
            <a:r>
              <a:rPr lang="en-US" sz="1300" dirty="0">
                <a:solidFill>
                  <a:srgbClr val="161617"/>
                </a:solidFill>
                <a:latin typeface="Calibri" pitchFamily="34" charset="0"/>
                <a:ea typeface="Calibri" pitchFamily="34" charset="-122"/>
                <a:cs typeface="Calibri" pitchFamily="34" charset="-120"/>
              </a:rPr>
              <a:t>Candidate-style simulation</a:t>
            </a:r>
            <a:endParaRPr lang="en-US" sz="1300" dirty="0"/>
          </a:p>
        </p:txBody>
      </p:sp>
      <p:sp>
        <p:nvSpPr>
          <p:cNvPr id="6" name="Shape 4"/>
          <p:cNvSpPr/>
          <p:nvPr/>
        </p:nvSpPr>
        <p:spPr>
          <a:xfrm>
            <a:off x="3749040" y="1874520"/>
            <a:ext cx="2880360" cy="548640"/>
          </a:xfrm>
          <a:prstGeom prst="roundRect">
            <a:avLst>
              <a:gd name="adj" fmla="val 10000"/>
            </a:avLst>
          </a:prstGeom>
          <a:solidFill>
            <a:srgbClr val="F5F5F7"/>
          </a:solidFill>
          <a:ln w="12700">
            <a:solidFill>
              <a:srgbClr val="D44B52"/>
            </a:solidFill>
            <a:prstDash val="solid"/>
          </a:ln>
        </p:spPr>
      </p:sp>
      <p:sp>
        <p:nvSpPr>
          <p:cNvPr id="7" name="Text 5"/>
          <p:cNvSpPr/>
          <p:nvPr/>
        </p:nvSpPr>
        <p:spPr>
          <a:xfrm>
            <a:off x="3913632" y="1965960"/>
            <a:ext cx="2560320" cy="384048"/>
          </a:xfrm>
          <a:prstGeom prst="rect">
            <a:avLst/>
          </a:prstGeom>
          <a:noFill/>
          <a:ln/>
        </p:spPr>
        <p:txBody>
          <a:bodyPr wrap="square" lIns="0" tIns="0" rIns="0" bIns="0" rtlCol="0" anchor="t"/>
          <a:lstStyle/>
          <a:p>
            <a:pPr indent="0" marL="0">
              <a:lnSpc>
                <a:spcPts val="1600"/>
              </a:lnSpc>
              <a:buNone/>
            </a:pPr>
            <a:r>
              <a:rPr lang="en-US" sz="1300" dirty="0">
                <a:solidFill>
                  <a:srgbClr val="161617"/>
                </a:solidFill>
                <a:latin typeface="Calibri" pitchFamily="34" charset="0"/>
                <a:ea typeface="Calibri" pitchFamily="34" charset="-122"/>
                <a:cs typeface="Calibri" pitchFamily="34" charset="-120"/>
              </a:rPr>
              <a:t>Observational off-policy evaluation</a:t>
            </a:r>
            <a:endParaRPr lang="en-US" sz="1300" dirty="0"/>
          </a:p>
        </p:txBody>
      </p:sp>
      <p:sp>
        <p:nvSpPr>
          <p:cNvPr id="8" name="Shape 6"/>
          <p:cNvSpPr/>
          <p:nvPr/>
        </p:nvSpPr>
        <p:spPr>
          <a:xfrm>
            <a:off x="685800" y="2532888"/>
            <a:ext cx="2880360" cy="548640"/>
          </a:xfrm>
          <a:prstGeom prst="roundRect">
            <a:avLst>
              <a:gd name="adj" fmla="val 10000"/>
            </a:avLst>
          </a:prstGeom>
          <a:solidFill>
            <a:srgbClr val="F5F5F7"/>
          </a:solidFill>
          <a:ln w="12700">
            <a:solidFill>
              <a:srgbClr val="D44B52"/>
            </a:solidFill>
            <a:prstDash val="solid"/>
          </a:ln>
        </p:spPr>
      </p:sp>
      <p:sp>
        <p:nvSpPr>
          <p:cNvPr id="9" name="Text 7"/>
          <p:cNvSpPr/>
          <p:nvPr/>
        </p:nvSpPr>
        <p:spPr>
          <a:xfrm>
            <a:off x="850392" y="2624328"/>
            <a:ext cx="2560320" cy="384048"/>
          </a:xfrm>
          <a:prstGeom prst="rect">
            <a:avLst/>
          </a:prstGeom>
          <a:noFill/>
          <a:ln/>
        </p:spPr>
        <p:txBody>
          <a:bodyPr wrap="square" lIns="0" tIns="0" rIns="0" bIns="0" rtlCol="0" anchor="t"/>
          <a:lstStyle/>
          <a:p>
            <a:pPr indent="0" marL="0">
              <a:lnSpc>
                <a:spcPts val="1600"/>
              </a:lnSpc>
              <a:buNone/>
            </a:pPr>
            <a:r>
              <a:rPr lang="en-US" sz="1300" dirty="0">
                <a:solidFill>
                  <a:srgbClr val="161617"/>
                </a:solidFill>
                <a:latin typeface="Calibri" pitchFamily="34" charset="0"/>
                <a:ea typeface="Calibri" pitchFamily="34" charset="-122"/>
                <a:cs typeface="Calibri" pitchFamily="34" charset="-120"/>
              </a:rPr>
              <a:t>Leave-one-team-out checks</a:t>
            </a:r>
            <a:endParaRPr lang="en-US" sz="1300" dirty="0"/>
          </a:p>
        </p:txBody>
      </p:sp>
      <p:sp>
        <p:nvSpPr>
          <p:cNvPr id="10" name="Shape 8"/>
          <p:cNvSpPr/>
          <p:nvPr/>
        </p:nvSpPr>
        <p:spPr>
          <a:xfrm>
            <a:off x="3749040" y="2532888"/>
            <a:ext cx="2880360" cy="548640"/>
          </a:xfrm>
          <a:prstGeom prst="roundRect">
            <a:avLst>
              <a:gd name="adj" fmla="val 10000"/>
            </a:avLst>
          </a:prstGeom>
          <a:solidFill>
            <a:srgbClr val="F5F5F7"/>
          </a:solidFill>
          <a:ln w="12700">
            <a:solidFill>
              <a:srgbClr val="D44B52"/>
            </a:solidFill>
            <a:prstDash val="solid"/>
          </a:ln>
        </p:spPr>
      </p:sp>
      <p:sp>
        <p:nvSpPr>
          <p:cNvPr id="11" name="Text 9"/>
          <p:cNvSpPr/>
          <p:nvPr/>
        </p:nvSpPr>
        <p:spPr>
          <a:xfrm>
            <a:off x="3913632" y="2624328"/>
            <a:ext cx="2560320" cy="384048"/>
          </a:xfrm>
          <a:prstGeom prst="rect">
            <a:avLst/>
          </a:prstGeom>
          <a:noFill/>
          <a:ln/>
        </p:spPr>
        <p:txBody>
          <a:bodyPr wrap="square" lIns="0" tIns="0" rIns="0" bIns="0" rtlCol="0" anchor="t"/>
          <a:lstStyle/>
          <a:p>
            <a:pPr indent="0" marL="0">
              <a:lnSpc>
                <a:spcPts val="1600"/>
              </a:lnSpc>
              <a:buNone/>
            </a:pPr>
            <a:r>
              <a:rPr lang="en-US" sz="1300" dirty="0">
                <a:solidFill>
                  <a:srgbClr val="161617"/>
                </a:solidFill>
                <a:latin typeface="Calibri" pitchFamily="34" charset="0"/>
                <a:ea typeface="Calibri" pitchFamily="34" charset="-122"/>
                <a:cs typeface="Calibri" pitchFamily="34" charset="-120"/>
              </a:rPr>
              <a:t>Transition-risk penalties</a:t>
            </a:r>
            <a:endParaRPr lang="en-US" sz="1300" dirty="0"/>
          </a:p>
        </p:txBody>
      </p:sp>
      <p:sp>
        <p:nvSpPr>
          <p:cNvPr id="12" name="Shape 10"/>
          <p:cNvSpPr/>
          <p:nvPr/>
        </p:nvSpPr>
        <p:spPr>
          <a:xfrm>
            <a:off x="685800" y="3191256"/>
            <a:ext cx="2880360" cy="548640"/>
          </a:xfrm>
          <a:prstGeom prst="roundRect">
            <a:avLst>
              <a:gd name="adj" fmla="val 10000"/>
            </a:avLst>
          </a:prstGeom>
          <a:solidFill>
            <a:srgbClr val="F5F5F7"/>
          </a:solidFill>
          <a:ln w="12700">
            <a:solidFill>
              <a:srgbClr val="D44B52"/>
            </a:solidFill>
            <a:prstDash val="solid"/>
          </a:ln>
        </p:spPr>
      </p:sp>
      <p:sp>
        <p:nvSpPr>
          <p:cNvPr id="13" name="Text 11"/>
          <p:cNvSpPr/>
          <p:nvPr/>
        </p:nvSpPr>
        <p:spPr>
          <a:xfrm>
            <a:off x="850392" y="3282696"/>
            <a:ext cx="2560320" cy="384048"/>
          </a:xfrm>
          <a:prstGeom prst="rect">
            <a:avLst/>
          </a:prstGeom>
          <a:noFill/>
          <a:ln/>
        </p:spPr>
        <p:txBody>
          <a:bodyPr wrap="square" lIns="0" tIns="0" rIns="0" bIns="0" rtlCol="0" anchor="t"/>
          <a:lstStyle/>
          <a:p>
            <a:pPr indent="0" marL="0">
              <a:lnSpc>
                <a:spcPts val="1600"/>
              </a:lnSpc>
              <a:buNone/>
            </a:pPr>
            <a:r>
              <a:rPr lang="en-US" sz="1300" dirty="0">
                <a:solidFill>
                  <a:srgbClr val="161617"/>
                </a:solidFill>
                <a:latin typeface="Calibri" pitchFamily="34" charset="0"/>
                <a:ea typeface="Calibri" pitchFamily="34" charset="-122"/>
                <a:cs typeface="Calibri" pitchFamily="34" charset="-120"/>
              </a:rPr>
              <a:t>Starting-lineup optimization</a:t>
            </a:r>
            <a:endParaRPr lang="en-US" sz="1300" dirty="0"/>
          </a:p>
        </p:txBody>
      </p:sp>
      <p:sp>
        <p:nvSpPr>
          <p:cNvPr id="14" name="Shape 12"/>
          <p:cNvSpPr/>
          <p:nvPr/>
        </p:nvSpPr>
        <p:spPr>
          <a:xfrm>
            <a:off x="3749040" y="3191256"/>
            <a:ext cx="2880360" cy="548640"/>
          </a:xfrm>
          <a:prstGeom prst="roundRect">
            <a:avLst>
              <a:gd name="adj" fmla="val 10000"/>
            </a:avLst>
          </a:prstGeom>
          <a:solidFill>
            <a:srgbClr val="F5F5F7"/>
          </a:solidFill>
          <a:ln w="12700">
            <a:solidFill>
              <a:srgbClr val="D44B52"/>
            </a:solidFill>
            <a:prstDash val="solid"/>
          </a:ln>
        </p:spPr>
      </p:sp>
      <p:sp>
        <p:nvSpPr>
          <p:cNvPr id="15" name="Text 13"/>
          <p:cNvSpPr/>
          <p:nvPr/>
        </p:nvSpPr>
        <p:spPr>
          <a:xfrm>
            <a:off x="3913632" y="3282696"/>
            <a:ext cx="2560320" cy="384048"/>
          </a:xfrm>
          <a:prstGeom prst="rect">
            <a:avLst/>
          </a:prstGeom>
          <a:noFill/>
          <a:ln/>
        </p:spPr>
        <p:txBody>
          <a:bodyPr wrap="square" lIns="0" tIns="0" rIns="0" bIns="0" rtlCol="0" anchor="t"/>
          <a:lstStyle/>
          <a:p>
            <a:pPr indent="0" marL="0">
              <a:lnSpc>
                <a:spcPts val="1600"/>
              </a:lnSpc>
              <a:buNone/>
            </a:pPr>
            <a:r>
              <a:rPr lang="en-US" sz="1300" dirty="0">
                <a:solidFill>
                  <a:srgbClr val="161617"/>
                </a:solidFill>
                <a:latin typeface="Calibri" pitchFamily="34" charset="0"/>
                <a:ea typeface="Calibri" pitchFamily="34" charset="-122"/>
                <a:cs typeface="Calibri" pitchFamily="34" charset="-120"/>
              </a:rPr>
              <a:t>Substitution compatibility and confidence gates</a:t>
            </a:r>
            <a:endParaRPr lang="en-US" sz="1300" dirty="0"/>
          </a:p>
        </p:txBody>
      </p:sp>
      <p:sp>
        <p:nvSpPr>
          <p:cNvPr id="16" name="Shape 14"/>
          <p:cNvSpPr/>
          <p:nvPr/>
        </p:nvSpPr>
        <p:spPr>
          <a:xfrm>
            <a:off x="685800" y="3849624"/>
            <a:ext cx="2880360" cy="548640"/>
          </a:xfrm>
          <a:prstGeom prst="roundRect">
            <a:avLst>
              <a:gd name="adj" fmla="val 10000"/>
            </a:avLst>
          </a:prstGeom>
          <a:solidFill>
            <a:srgbClr val="F5F5F7"/>
          </a:solidFill>
          <a:ln w="12700">
            <a:solidFill>
              <a:srgbClr val="D44B52"/>
            </a:solidFill>
            <a:prstDash val="solid"/>
          </a:ln>
        </p:spPr>
      </p:sp>
      <p:sp>
        <p:nvSpPr>
          <p:cNvPr id="17" name="Text 15"/>
          <p:cNvSpPr/>
          <p:nvPr/>
        </p:nvSpPr>
        <p:spPr>
          <a:xfrm>
            <a:off x="850392" y="3941064"/>
            <a:ext cx="2560320" cy="384048"/>
          </a:xfrm>
          <a:prstGeom prst="rect">
            <a:avLst/>
          </a:prstGeom>
          <a:noFill/>
          <a:ln/>
        </p:spPr>
        <p:txBody>
          <a:bodyPr wrap="square" lIns="0" tIns="0" rIns="0" bIns="0" rtlCol="0" anchor="t"/>
          <a:lstStyle/>
          <a:p>
            <a:pPr indent="0" marL="0">
              <a:lnSpc>
                <a:spcPts val="1600"/>
              </a:lnSpc>
              <a:buNone/>
            </a:pPr>
            <a:r>
              <a:rPr lang="en-US" sz="1300" dirty="0">
                <a:solidFill>
                  <a:srgbClr val="161617"/>
                </a:solidFill>
                <a:latin typeface="Calibri" pitchFamily="34" charset="0"/>
                <a:ea typeface="Calibri" pitchFamily="34" charset="-122"/>
                <a:cs typeface="Calibri" pitchFamily="34" charset="-120"/>
              </a:rPr>
              <a:t>Team, player, heatmap and tournament reports</a:t>
            </a:r>
            <a:endParaRPr lang="en-US" sz="1300" dirty="0"/>
          </a:p>
        </p:txBody>
      </p:sp>
      <p:sp>
        <p:nvSpPr>
          <p:cNvPr id="18" name="Text 16"/>
          <p:cNvSpPr/>
          <p:nvPr/>
        </p:nvSpPr>
        <p:spPr>
          <a:xfrm>
            <a:off x="685800" y="4617720"/>
            <a:ext cx="5760720" cy="566928"/>
          </a:xfrm>
          <a:prstGeom prst="rect">
            <a:avLst/>
          </a:prstGeom>
          <a:noFill/>
          <a:ln/>
        </p:spPr>
        <p:txBody>
          <a:bodyPr wrap="square" lIns="0" tIns="0" rIns="0" bIns="0" rtlCol="0" anchor="t"/>
          <a:lstStyle/>
          <a:p>
            <a:pPr indent="0" marL="0">
              <a:buNone/>
            </a:pPr>
            <a:r>
              <a:rPr lang="en-US" sz="3200" b="1" dirty="0">
                <a:solidFill>
                  <a:srgbClr val="161617"/>
                </a:solidFill>
                <a:latin typeface="Calibri" pitchFamily="34" charset="0"/>
                <a:ea typeface="Calibri" pitchFamily="34" charset="-122"/>
                <a:cs typeface="Calibri" pitchFamily="34" charset="-120"/>
              </a:rPr>
              <a:t>0 of 3,608</a:t>
            </a:r>
            <a:endParaRPr lang="en-US" sz="3200" dirty="0"/>
          </a:p>
        </p:txBody>
      </p:sp>
      <p:sp>
        <p:nvSpPr>
          <p:cNvPr id="19" name="Text 17"/>
          <p:cNvSpPr/>
          <p:nvPr/>
        </p:nvSpPr>
        <p:spPr>
          <a:xfrm>
            <a:off x="685800" y="5166360"/>
            <a:ext cx="5760720" cy="91440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substitution candidates validated — all suppressed by uncertainty, minutes or positional-compatibility gates</a:t>
            </a:r>
            <a:endParaRPr lang="en-US" sz="1400" dirty="0"/>
          </a:p>
        </p:txBody>
      </p:sp>
      <p:sp>
        <p:nvSpPr>
          <p:cNvPr id="20" name="Shape 18"/>
          <p:cNvSpPr/>
          <p:nvPr/>
        </p:nvSpPr>
        <p:spPr>
          <a:xfrm>
            <a:off x="6720840" y="1874520"/>
            <a:ext cx="4782312" cy="4434840"/>
          </a:xfrm>
          <a:prstGeom prst="roundRect">
            <a:avLst>
              <a:gd name="adj" fmla="val 1237"/>
            </a:avLst>
          </a:prstGeom>
          <a:solidFill>
            <a:srgbClr val="F9E7E8"/>
          </a:solidFill>
          <a:ln w="9525">
            <a:solidFill>
              <a:srgbClr val="F9E7E8"/>
            </a:solidFill>
            <a:prstDash val="solid"/>
          </a:ln>
        </p:spPr>
      </p:sp>
      <p:sp>
        <p:nvSpPr>
          <p:cNvPr id="21" name="Text 19"/>
          <p:cNvSpPr/>
          <p:nvPr/>
        </p:nvSpPr>
        <p:spPr>
          <a:xfrm>
            <a:off x="6995160" y="2084832"/>
            <a:ext cx="4233672" cy="384048"/>
          </a:xfrm>
          <a:prstGeom prst="rect">
            <a:avLst/>
          </a:prstGeom>
          <a:noFill/>
          <a:ln/>
        </p:spPr>
        <p:txBody>
          <a:bodyPr wrap="square" lIns="0" tIns="0" rIns="0" bIns="0" rtlCol="0" anchor="t"/>
          <a:lstStyle/>
          <a:p>
            <a:pPr indent="0" marL="0">
              <a:buNone/>
            </a:pPr>
            <a:r>
              <a:rPr lang="en-US" sz="2000" b="1" dirty="0">
                <a:solidFill>
                  <a:srgbClr val="D44B52"/>
                </a:solidFill>
                <a:latin typeface="Calibri" pitchFamily="34" charset="0"/>
                <a:ea typeface="Calibri" pitchFamily="34" charset="-122"/>
                <a:cs typeface="Calibri" pitchFamily="34" charset="-120"/>
              </a:rPr>
              <a:t>Required interpretation</a:t>
            </a:r>
            <a:endParaRPr lang="en-US" sz="2000" dirty="0"/>
          </a:p>
        </p:txBody>
      </p:sp>
      <p:sp>
        <p:nvSpPr>
          <p:cNvPr id="22" name="Text 20"/>
          <p:cNvSpPr/>
          <p:nvPr/>
        </p:nvSpPr>
        <p:spPr>
          <a:xfrm>
            <a:off x="6995160" y="2697480"/>
            <a:ext cx="4233672" cy="914400"/>
          </a:xfrm>
          <a:prstGeom prst="rect">
            <a:avLst/>
          </a:prstGeom>
          <a:noFill/>
          <a:ln/>
        </p:spPr>
        <p:txBody>
          <a:bodyPr wrap="square" lIns="0" tIns="0" rIns="0" bIns="0" rtlCol="0" anchor="t"/>
          <a:lstStyle/>
          <a:p>
            <a:pPr marL="177800" indent="-177800">
              <a:lnSpc>
                <a:spcPts val="1952"/>
              </a:lnSpc>
              <a:spcAft>
                <a:spcPts val="1000"/>
              </a:spcAft>
              <a:buSzPct val="100000"/>
              <a:buChar char="•"/>
            </a:pPr>
            <a:r>
              <a:rPr lang="en-US" sz="1600" dirty="0">
                <a:solidFill>
                  <a:srgbClr val="161617"/>
                </a:solidFill>
                <a:latin typeface="Calibri" pitchFamily="34" charset="0"/>
                <a:ea typeface="Calibri" pitchFamily="34" charset="-122"/>
                <a:cs typeface="Calibri" pitchFamily="34" charset="-120"/>
              </a:rPr>
              <a:t>Candidate styles hold other inputs constant — that does not identify causal effects</a:t>
            </a:r>
            <a:endParaRPr lang="en-US" sz="1600" dirty="0"/>
          </a:p>
          <a:p>
            <a:pPr marL="177800" indent="-177800">
              <a:lnSpc>
                <a:spcPts val="1952"/>
              </a:lnSpc>
              <a:spcAft>
                <a:spcPts val="1000"/>
              </a:spcAft>
              <a:buSzPct val="100000"/>
              <a:buChar char="•"/>
            </a:pPr>
            <a:r>
              <a:rPr lang="en-US" sz="1600" dirty="0">
                <a:solidFill>
                  <a:srgbClr val="161617"/>
                </a:solidFill>
                <a:latin typeface="Calibri" pitchFamily="34" charset="0"/>
                <a:ea typeface="Calibri" pitchFamily="34" charset="-122"/>
                <a:cs typeface="Calibri" pitchFamily="34" charset="-120"/>
              </a:rPr>
              <a:t>The fallback policy has not demonstrated reliable superiority over a fixed Patient Build-up baseline</a:t>
            </a:r>
            <a:endParaRPr lang="en-US" sz="1600" dirty="0"/>
          </a:p>
          <a:p>
            <a:pPr marL="177800" indent="-177800">
              <a:lnSpc>
                <a:spcPts val="1952"/>
              </a:lnSpc>
              <a:spcAft>
                <a:spcPts val="1000"/>
              </a:spcAft>
              <a:buSzPct val="100000"/>
              <a:buChar char="•"/>
            </a:pPr>
            <a:r>
              <a:rPr lang="en-US" sz="1600" dirty="0">
                <a:solidFill>
                  <a:srgbClr val="161617"/>
                </a:solidFill>
                <a:latin typeface="Calibri" pitchFamily="34" charset="0"/>
                <a:ea typeface="Calibri" pitchFamily="34" charset="-122"/>
                <a:cs typeface="Calibri" pitchFamily="34" charset="-120"/>
              </a:rPr>
              <a:t>Zero validated substitutions is safe abstention, and it also means no actionable recommendations today</a:t>
            </a:r>
            <a:endParaRPr lang="en-US" sz="1600" dirty="0"/>
          </a:p>
          <a:p>
            <a:pPr marL="177800" indent="-177800">
              <a:lnSpc>
                <a:spcPts val="1952"/>
              </a:lnSpc>
              <a:spcAft>
                <a:spcPts val="1000"/>
              </a:spcAft>
              <a:buSzPct val="100000"/>
              <a:buChar char="•"/>
            </a:pPr>
            <a:r>
              <a:rPr lang="en-US" sz="1600" dirty="0">
                <a:solidFill>
                  <a:srgbClr val="161617"/>
                </a:solidFill>
                <a:latin typeface="Calibri" pitchFamily="34" charset="0"/>
                <a:ea typeface="Calibri" pitchFamily="34" charset="-122"/>
                <a:cs typeface="Calibri" pitchFamily="34" charset="-120"/>
              </a:rPr>
              <a:t>Outputs guide hypothesis generation and video review only</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23 / 28 · ARTIFACTS</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Artifacts make each stage reproducible and auditable</a:t>
            </a:r>
            <a:endParaRPr lang="en-US" sz="3500" dirty="0"/>
          </a:p>
        </p:txBody>
      </p:sp>
      <p:sp>
        <p:nvSpPr>
          <p:cNvPr id="4" name="Shape 2"/>
          <p:cNvSpPr/>
          <p:nvPr/>
        </p:nvSpPr>
        <p:spPr>
          <a:xfrm>
            <a:off x="685800" y="1874520"/>
            <a:ext cx="2532888" cy="3703320"/>
          </a:xfrm>
          <a:prstGeom prst="roundRect">
            <a:avLst>
              <a:gd name="adj" fmla="val 2166"/>
            </a:avLst>
          </a:prstGeom>
          <a:solidFill>
            <a:srgbClr val="FFFFFF"/>
          </a:solidFill>
          <a:ln w="9525">
            <a:solidFill>
              <a:srgbClr val="FFFFFF"/>
            </a:solidFill>
            <a:prstDash val="solid"/>
          </a:ln>
        </p:spPr>
      </p:sp>
      <p:sp>
        <p:nvSpPr>
          <p:cNvPr id="5" name="Text 3"/>
          <p:cNvSpPr/>
          <p:nvPr/>
        </p:nvSpPr>
        <p:spPr>
          <a:xfrm>
            <a:off x="914400" y="2084832"/>
            <a:ext cx="2075688" cy="594360"/>
          </a:xfrm>
          <a:prstGeom prst="rect">
            <a:avLst/>
          </a:prstGeom>
          <a:noFill/>
          <a:ln/>
        </p:spPr>
        <p:txBody>
          <a:bodyPr wrap="square" lIns="0" tIns="0" rIns="0" bIns="0" rtlCol="0" anchor="t"/>
          <a:lstStyle/>
          <a:p>
            <a:pPr indent="0" marL="0">
              <a:lnSpc>
                <a:spcPts val="2300"/>
              </a:lnSpc>
              <a:buNone/>
            </a:pPr>
            <a:r>
              <a:rPr lang="en-US" sz="1900" b="1" dirty="0">
                <a:solidFill>
                  <a:srgbClr val="3568F0"/>
                </a:solidFill>
                <a:latin typeface="Calibri" pitchFamily="34" charset="0"/>
                <a:ea typeface="Calibri" pitchFamily="34" charset="-122"/>
                <a:cs typeface="Calibri" pitchFamily="34" charset="-120"/>
              </a:rPr>
              <a:t>Raw inputs</a:t>
            </a:r>
            <a:endParaRPr lang="en-US" sz="1900" dirty="0"/>
          </a:p>
        </p:txBody>
      </p:sp>
      <p:sp>
        <p:nvSpPr>
          <p:cNvPr id="6" name="Text 4"/>
          <p:cNvSpPr/>
          <p:nvPr/>
        </p:nvSpPr>
        <p:spPr>
          <a:xfrm>
            <a:off x="914400" y="2743200"/>
            <a:ext cx="2075688" cy="914400"/>
          </a:xfrm>
          <a:prstGeom prst="rect">
            <a:avLst/>
          </a:prstGeom>
          <a:noFill/>
          <a:ln/>
        </p:spPr>
        <p:txBody>
          <a:bodyPr wrap="square" lIns="0" tIns="0" rIns="0" bIns="0" rtlCol="0" anchor="t"/>
          <a:lstStyle/>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Tournament match manifest</a:t>
            </a:r>
            <a:endParaRPr lang="en-US" sz="1500" dirty="0"/>
          </a:p>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Flattened events</a:t>
            </a:r>
            <a:endParaRPr lang="en-US" sz="1500" dirty="0"/>
          </a:p>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Cached 360 JSON by match</a:t>
            </a:r>
            <a:endParaRPr lang="en-US" sz="1500" dirty="0"/>
          </a:p>
        </p:txBody>
      </p:sp>
      <p:sp>
        <p:nvSpPr>
          <p:cNvPr id="7" name="Shape 5"/>
          <p:cNvSpPr/>
          <p:nvPr/>
        </p:nvSpPr>
        <p:spPr>
          <a:xfrm>
            <a:off x="3429000" y="1874520"/>
            <a:ext cx="2532888" cy="3703320"/>
          </a:xfrm>
          <a:prstGeom prst="roundRect">
            <a:avLst>
              <a:gd name="adj" fmla="val 2166"/>
            </a:avLst>
          </a:prstGeom>
          <a:solidFill>
            <a:srgbClr val="FFFFFF"/>
          </a:solidFill>
          <a:ln w="9525">
            <a:solidFill>
              <a:srgbClr val="FFFFFF"/>
            </a:solidFill>
            <a:prstDash val="solid"/>
          </a:ln>
        </p:spPr>
      </p:sp>
      <p:sp>
        <p:nvSpPr>
          <p:cNvPr id="8" name="Text 6"/>
          <p:cNvSpPr/>
          <p:nvPr/>
        </p:nvSpPr>
        <p:spPr>
          <a:xfrm>
            <a:off x="3657600" y="2084832"/>
            <a:ext cx="2075688" cy="594360"/>
          </a:xfrm>
          <a:prstGeom prst="rect">
            <a:avLst/>
          </a:prstGeom>
          <a:noFill/>
          <a:ln/>
        </p:spPr>
        <p:txBody>
          <a:bodyPr wrap="square" lIns="0" tIns="0" rIns="0" bIns="0" rtlCol="0" anchor="t"/>
          <a:lstStyle/>
          <a:p>
            <a:pPr indent="0" marL="0">
              <a:lnSpc>
                <a:spcPts val="2300"/>
              </a:lnSpc>
              <a:buNone/>
            </a:pPr>
            <a:r>
              <a:rPr lang="en-US" sz="1900" b="1" dirty="0">
                <a:solidFill>
                  <a:srgbClr val="3568F0"/>
                </a:solidFill>
                <a:latin typeface="Calibri" pitchFamily="34" charset="0"/>
                <a:ea typeface="Calibri" pitchFamily="34" charset="-122"/>
                <a:cs typeface="Calibri" pitchFamily="34" charset="-120"/>
              </a:rPr>
              <a:t>Interim and processed</a:t>
            </a:r>
            <a:endParaRPr lang="en-US" sz="1900" dirty="0"/>
          </a:p>
        </p:txBody>
      </p:sp>
      <p:sp>
        <p:nvSpPr>
          <p:cNvPr id="9" name="Text 7"/>
          <p:cNvSpPr/>
          <p:nvPr/>
        </p:nvSpPr>
        <p:spPr>
          <a:xfrm>
            <a:off x="3657600" y="2743200"/>
            <a:ext cx="2075688" cy="914400"/>
          </a:xfrm>
          <a:prstGeom prst="rect">
            <a:avLst/>
          </a:prstGeom>
          <a:noFill/>
          <a:ln/>
        </p:spPr>
        <p:txBody>
          <a:bodyPr wrap="square" lIns="0" tIns="0" rIns="0" bIns="0" rtlCol="0" anchor="t"/>
          <a:lstStyle/>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Possessions</a:t>
            </a:r>
            <a:endParaRPr lang="en-US" sz="1500" dirty="0"/>
          </a:p>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360 frames and visible areas</a:t>
            </a:r>
            <a:endParaRPr lang="en-US" sz="1500" dirty="0"/>
          </a:p>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Defensive features</a:t>
            </a:r>
            <a:endParaRPr lang="en-US" sz="1500" dirty="0"/>
          </a:p>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Cluster assignments</a:t>
            </a:r>
            <a:endParaRPr lang="en-US" sz="1500" dirty="0"/>
          </a:p>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Player-match components</a:t>
            </a:r>
            <a:endParaRPr lang="en-US" sz="1500" dirty="0"/>
          </a:p>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Fold-specific recommendation features</a:t>
            </a:r>
            <a:endParaRPr lang="en-US" sz="1500" dirty="0"/>
          </a:p>
        </p:txBody>
      </p:sp>
      <p:sp>
        <p:nvSpPr>
          <p:cNvPr id="10" name="Shape 8"/>
          <p:cNvSpPr/>
          <p:nvPr/>
        </p:nvSpPr>
        <p:spPr>
          <a:xfrm>
            <a:off x="6172200" y="1874520"/>
            <a:ext cx="2532888" cy="3703320"/>
          </a:xfrm>
          <a:prstGeom prst="roundRect">
            <a:avLst>
              <a:gd name="adj" fmla="val 2166"/>
            </a:avLst>
          </a:prstGeom>
          <a:solidFill>
            <a:srgbClr val="FFFFFF"/>
          </a:solidFill>
          <a:ln w="9525">
            <a:solidFill>
              <a:srgbClr val="FFFFFF"/>
            </a:solidFill>
            <a:prstDash val="solid"/>
          </a:ln>
        </p:spPr>
      </p:sp>
      <p:sp>
        <p:nvSpPr>
          <p:cNvPr id="11" name="Text 9"/>
          <p:cNvSpPr/>
          <p:nvPr/>
        </p:nvSpPr>
        <p:spPr>
          <a:xfrm>
            <a:off x="6400800" y="2084832"/>
            <a:ext cx="2075688" cy="594360"/>
          </a:xfrm>
          <a:prstGeom prst="rect">
            <a:avLst/>
          </a:prstGeom>
          <a:noFill/>
          <a:ln/>
        </p:spPr>
        <p:txBody>
          <a:bodyPr wrap="square" lIns="0" tIns="0" rIns="0" bIns="0" rtlCol="0" anchor="t"/>
          <a:lstStyle/>
          <a:p>
            <a:pPr indent="0" marL="0">
              <a:lnSpc>
                <a:spcPts val="2300"/>
              </a:lnSpc>
              <a:buNone/>
            </a:pPr>
            <a:r>
              <a:rPr lang="en-US" sz="1900" b="1" dirty="0">
                <a:solidFill>
                  <a:srgbClr val="3568F0"/>
                </a:solidFill>
                <a:latin typeface="Calibri" pitchFamily="34" charset="0"/>
                <a:ea typeface="Calibri" pitchFamily="34" charset="-122"/>
                <a:cs typeface="Calibri" pitchFamily="34" charset="-120"/>
              </a:rPr>
              <a:t>Models</a:t>
            </a:r>
            <a:endParaRPr lang="en-US" sz="1900" dirty="0"/>
          </a:p>
        </p:txBody>
      </p:sp>
      <p:sp>
        <p:nvSpPr>
          <p:cNvPr id="12" name="Text 10"/>
          <p:cNvSpPr/>
          <p:nvPr/>
        </p:nvSpPr>
        <p:spPr>
          <a:xfrm>
            <a:off x="6400800" y="2743200"/>
            <a:ext cx="2075688" cy="914400"/>
          </a:xfrm>
          <a:prstGeom prst="rect">
            <a:avLst/>
          </a:prstGeom>
          <a:noFill/>
          <a:ln/>
        </p:spPr>
        <p:txBody>
          <a:bodyPr wrap="square" lIns="0" tIns="0" rIns="0" bIns="0" rtlCol="0" anchor="t"/>
          <a:lstStyle/>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K-Means bundles</a:t>
            </a:r>
            <a:endParaRPr lang="en-US" sz="1500" dirty="0"/>
          </a:p>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Coaching-model benchmarks</a:t>
            </a:r>
            <a:endParaRPr lang="en-US" sz="1500" dirty="0"/>
          </a:p>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Recommendation simulator bundle</a:t>
            </a:r>
            <a:endParaRPr lang="en-US" sz="1500" dirty="0"/>
          </a:p>
        </p:txBody>
      </p:sp>
      <p:sp>
        <p:nvSpPr>
          <p:cNvPr id="13" name="Shape 11"/>
          <p:cNvSpPr/>
          <p:nvPr/>
        </p:nvSpPr>
        <p:spPr>
          <a:xfrm>
            <a:off x="8915400" y="1874520"/>
            <a:ext cx="2532888" cy="3703320"/>
          </a:xfrm>
          <a:prstGeom prst="roundRect">
            <a:avLst>
              <a:gd name="adj" fmla="val 2166"/>
            </a:avLst>
          </a:prstGeom>
          <a:solidFill>
            <a:srgbClr val="FFFFFF"/>
          </a:solidFill>
          <a:ln w="9525">
            <a:solidFill>
              <a:srgbClr val="FFFFFF"/>
            </a:solidFill>
            <a:prstDash val="solid"/>
          </a:ln>
        </p:spPr>
      </p:sp>
      <p:sp>
        <p:nvSpPr>
          <p:cNvPr id="14" name="Text 12"/>
          <p:cNvSpPr/>
          <p:nvPr/>
        </p:nvSpPr>
        <p:spPr>
          <a:xfrm>
            <a:off x="9144000" y="2084832"/>
            <a:ext cx="2075688" cy="594360"/>
          </a:xfrm>
          <a:prstGeom prst="rect">
            <a:avLst/>
          </a:prstGeom>
          <a:noFill/>
          <a:ln/>
        </p:spPr>
        <p:txBody>
          <a:bodyPr wrap="square" lIns="0" tIns="0" rIns="0" bIns="0" rtlCol="0" anchor="t"/>
          <a:lstStyle/>
          <a:p>
            <a:pPr indent="0" marL="0">
              <a:lnSpc>
                <a:spcPts val="2300"/>
              </a:lnSpc>
              <a:buNone/>
            </a:pPr>
            <a:r>
              <a:rPr lang="en-US" sz="1900" b="1" dirty="0">
                <a:solidFill>
                  <a:srgbClr val="3568F0"/>
                </a:solidFill>
                <a:latin typeface="Calibri" pitchFamily="34" charset="0"/>
                <a:ea typeface="Calibri" pitchFamily="34" charset="-122"/>
                <a:cs typeface="Calibri" pitchFamily="34" charset="-120"/>
              </a:rPr>
              <a:t>Results</a:t>
            </a:r>
            <a:endParaRPr lang="en-US" sz="1900" dirty="0"/>
          </a:p>
        </p:txBody>
      </p:sp>
      <p:sp>
        <p:nvSpPr>
          <p:cNvPr id="15" name="Text 13"/>
          <p:cNvSpPr/>
          <p:nvPr/>
        </p:nvSpPr>
        <p:spPr>
          <a:xfrm>
            <a:off x="9144000" y="2743200"/>
            <a:ext cx="2075688" cy="914400"/>
          </a:xfrm>
          <a:prstGeom prst="rect">
            <a:avLst/>
          </a:prstGeom>
          <a:noFill/>
          <a:ln/>
        </p:spPr>
        <p:txBody>
          <a:bodyPr wrap="square" lIns="0" tIns="0" rIns="0" bIns="0" rtlCol="0" anchor="t"/>
          <a:lstStyle/>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Validation reports</a:t>
            </a:r>
            <a:endParaRPr lang="en-US" sz="1500" dirty="0"/>
          </a:p>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Cluster profiles</a:t>
            </a:r>
            <a:endParaRPr lang="en-US" sz="1500" dirty="0"/>
          </a:p>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Matchup tables</a:t>
            </a:r>
            <a:endParaRPr lang="en-US" sz="1500" dirty="0"/>
          </a:p>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Model leaderboards</a:t>
            </a:r>
            <a:endParaRPr lang="en-US" sz="1500" dirty="0"/>
          </a:p>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Permutation importance</a:t>
            </a:r>
            <a:endParaRPr lang="en-US" sz="1500" dirty="0"/>
          </a:p>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Team and player reports, heatmaps</a:t>
            </a:r>
            <a:endParaRPr lang="en-US" sz="1500" dirty="0"/>
          </a:p>
        </p:txBody>
      </p:sp>
      <p:sp>
        <p:nvSpPr>
          <p:cNvPr id="16" name="Text 14"/>
          <p:cNvSpPr/>
          <p:nvPr/>
        </p:nvSpPr>
        <p:spPr>
          <a:xfrm>
            <a:off x="685800" y="5760720"/>
            <a:ext cx="10817352" cy="274320"/>
          </a:xfrm>
          <a:prstGeom prst="rect">
            <a:avLst/>
          </a:prstGeom>
          <a:noFill/>
          <a:ln/>
        </p:spPr>
        <p:txBody>
          <a:bodyPr wrap="square" lIns="0" tIns="0" rIns="0" bIns="0" rtlCol="0" anchor="t"/>
          <a:lstStyle/>
          <a:p>
            <a:pPr indent="0" marL="0">
              <a:buNone/>
            </a:pPr>
            <a:r>
              <a:rPr lang="en-US" sz="1600" i="1" dirty="0">
                <a:solidFill>
                  <a:srgbClr val="6E6E73"/>
                </a:solidFill>
                <a:latin typeface="Calibri" pitchFamily="34" charset="0"/>
                <a:ea typeface="Calibri" pitchFamily="34" charset="-122"/>
                <a:cs typeface="Calibri" pitchFamily="34" charset="-120"/>
              </a:rPr>
              <a:t>Large intermediate files are Git-ignored and regenerated from scripts. If an artifact cannot be regenerated, treat it as untrusted.</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24 / 28 · REPOSITORY</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The repository separates code, data, models, and results</a:t>
            </a:r>
            <a:endParaRPr lang="en-US" sz="3500" dirty="0"/>
          </a:p>
        </p:txBody>
      </p:sp>
      <p:sp>
        <p:nvSpPr>
          <p:cNvPr id="4" name="Shape 2"/>
          <p:cNvSpPr/>
          <p:nvPr/>
        </p:nvSpPr>
        <p:spPr>
          <a:xfrm>
            <a:off x="685800" y="1874520"/>
            <a:ext cx="6172200" cy="4160520"/>
          </a:xfrm>
          <a:prstGeom prst="roundRect">
            <a:avLst>
              <a:gd name="adj" fmla="val 1319"/>
            </a:avLst>
          </a:prstGeom>
          <a:solidFill>
            <a:srgbClr val="FFFFFF"/>
          </a:solidFill>
          <a:ln w="9525">
            <a:solidFill>
              <a:srgbClr val="FFFFFF"/>
            </a:solidFill>
            <a:prstDash val="solid"/>
          </a:ln>
        </p:spPr>
      </p:sp>
      <p:sp>
        <p:nvSpPr>
          <p:cNvPr id="5" name="Text 3"/>
          <p:cNvSpPr/>
          <p:nvPr/>
        </p:nvSpPr>
        <p:spPr>
          <a:xfrm>
            <a:off x="960120" y="2148840"/>
            <a:ext cx="5669280" cy="914400"/>
          </a:xfrm>
          <a:prstGeom prst="rect">
            <a:avLst/>
          </a:prstGeom>
          <a:noFill/>
          <a:ln/>
        </p:spPr>
        <p:txBody>
          <a:bodyPr wrap="square" lIns="0" tIns="0" rIns="0" bIns="0" rtlCol="0" anchor="t"/>
          <a:lstStyle/>
          <a:p>
            <a:pPr indent="0" marL="0">
              <a:lnSpc>
                <a:spcPts val="1708"/>
              </a:lnSpc>
              <a:spcAft>
                <a:spcPts val="100"/>
              </a:spcAft>
              <a:buNone/>
            </a:pPr>
            <a:r>
              <a:rPr lang="en-US" sz="1400" dirty="0">
                <a:solidFill>
                  <a:srgbClr val="161617"/>
                </a:solidFill>
                <a:latin typeface="Courier New" pitchFamily="34" charset="0"/>
                <a:ea typeface="Courier New" pitchFamily="34" charset="-122"/>
                <a:cs typeface="Courier New" pitchFamily="34" charset="-120"/>
              </a:rPr>
              <a:t>World-Cup-S-Bomb/</a:t>
            </a:r>
            <a:endParaRPr lang="en-US" sz="1400" dirty="0"/>
          </a:p>
          <a:p>
            <a:pPr indent="0" marL="0">
              <a:lnSpc>
                <a:spcPts val="1708"/>
              </a:lnSpc>
              <a:spcAft>
                <a:spcPts val="100"/>
              </a:spcAft>
              <a:buNone/>
            </a:pPr>
            <a:r>
              <a:rPr lang="en-US" sz="1400" dirty="0">
                <a:solidFill>
                  <a:srgbClr val="161617"/>
                </a:solidFill>
                <a:latin typeface="Courier New" pitchFamily="34" charset="0"/>
                <a:ea typeface="Courier New" pitchFamily="34" charset="-122"/>
                <a:cs typeface="Courier New" pitchFamily="34" charset="-120"/>
              </a:rPr>
              <a:t>├── config/      # Input contracts</a:t>
            </a:r>
            <a:endParaRPr lang="en-US" sz="1400" dirty="0"/>
          </a:p>
          <a:p>
            <a:pPr indent="0" marL="0">
              <a:lnSpc>
                <a:spcPts val="1708"/>
              </a:lnSpc>
              <a:spcAft>
                <a:spcPts val="100"/>
              </a:spcAft>
              <a:buNone/>
            </a:pPr>
            <a:r>
              <a:rPr lang="en-US" sz="1400" dirty="0">
                <a:solidFill>
                  <a:srgbClr val="161617"/>
                </a:solidFill>
                <a:latin typeface="Courier New" pitchFamily="34" charset="0"/>
                <a:ea typeface="Courier New" pitchFamily="34" charset="-122"/>
                <a:cs typeface="Courier New" pitchFamily="34" charset="-120"/>
              </a:rPr>
              <a:t>├── data/</a:t>
            </a:r>
            <a:endParaRPr lang="en-US" sz="1400" dirty="0"/>
          </a:p>
          <a:p>
            <a:pPr indent="0" marL="0">
              <a:lnSpc>
                <a:spcPts val="1708"/>
              </a:lnSpc>
              <a:spcAft>
                <a:spcPts val="100"/>
              </a:spcAft>
              <a:buNone/>
            </a:pPr>
            <a:r>
              <a:rPr lang="en-US" sz="1400" dirty="0">
                <a:solidFill>
                  <a:srgbClr val="161617"/>
                </a:solidFill>
                <a:latin typeface="Courier New" pitchFamily="34" charset="0"/>
                <a:ea typeface="Courier New" pitchFamily="34" charset="-122"/>
                <a:cs typeface="Courier New" pitchFamily="34" charset="-120"/>
              </a:rPr>
              <a:t>│   ├── raw/     # Immutable source + proposal</a:t>
            </a:r>
            <a:endParaRPr lang="en-US" sz="1400" dirty="0"/>
          </a:p>
          <a:p>
            <a:pPr indent="0" marL="0">
              <a:lnSpc>
                <a:spcPts val="1708"/>
              </a:lnSpc>
              <a:spcAft>
                <a:spcPts val="100"/>
              </a:spcAft>
              <a:buNone/>
            </a:pPr>
            <a:r>
              <a:rPr lang="en-US" sz="1400" dirty="0">
                <a:solidFill>
                  <a:srgbClr val="161617"/>
                </a:solidFill>
                <a:latin typeface="Courier New" pitchFamily="34" charset="0"/>
                <a:ea typeface="Courier New" pitchFamily="34" charset="-122"/>
                <a:cs typeface="Courier New" pitchFamily="34" charset="-120"/>
              </a:rPr>
              <a:t>│   ├── interim/ # Cached / flattened 360</a:t>
            </a:r>
            <a:endParaRPr lang="en-US" sz="1400" dirty="0"/>
          </a:p>
          <a:p>
            <a:pPr indent="0" marL="0">
              <a:lnSpc>
                <a:spcPts val="1708"/>
              </a:lnSpc>
              <a:spcAft>
                <a:spcPts val="100"/>
              </a:spcAft>
              <a:buNone/>
            </a:pPr>
            <a:r>
              <a:rPr lang="en-US" sz="1400" dirty="0">
                <a:solidFill>
                  <a:srgbClr val="161617"/>
                </a:solidFill>
                <a:latin typeface="Courier New" pitchFamily="34" charset="0"/>
                <a:ea typeface="Courier New" pitchFamily="34" charset="-122"/>
                <a:cs typeface="Courier New" pitchFamily="34" charset="-120"/>
              </a:rPr>
              <a:t>│   └── processed/ # Modeling-ready tables</a:t>
            </a:r>
            <a:endParaRPr lang="en-US" sz="1400" dirty="0"/>
          </a:p>
          <a:p>
            <a:pPr indent="0" marL="0">
              <a:lnSpc>
                <a:spcPts val="1708"/>
              </a:lnSpc>
              <a:spcAft>
                <a:spcPts val="100"/>
              </a:spcAft>
              <a:buNone/>
            </a:pPr>
            <a:r>
              <a:rPr lang="en-US" sz="1400" dirty="0">
                <a:solidFill>
                  <a:srgbClr val="161617"/>
                </a:solidFill>
                <a:latin typeface="Courier New" pitchFamily="34" charset="0"/>
                <a:ea typeface="Courier New" pitchFamily="34" charset="-122"/>
                <a:cs typeface="Courier New" pitchFamily="34" charset="-120"/>
              </a:rPr>
              <a:t>├── notebooks/   # Acquisition, exploration</a:t>
            </a:r>
            <a:endParaRPr lang="en-US" sz="1400" dirty="0"/>
          </a:p>
          <a:p>
            <a:pPr indent="0" marL="0">
              <a:lnSpc>
                <a:spcPts val="1708"/>
              </a:lnSpc>
              <a:spcAft>
                <a:spcPts val="100"/>
              </a:spcAft>
              <a:buNone/>
            </a:pPr>
            <a:r>
              <a:rPr lang="en-US" sz="1400" dirty="0">
                <a:solidFill>
                  <a:srgbClr val="161617"/>
                </a:solidFill>
                <a:latin typeface="Courier New" pitchFamily="34" charset="0"/>
                <a:ea typeface="Courier New" pitchFamily="34" charset="-122"/>
                <a:cs typeface="Courier New" pitchFamily="34" charset="-120"/>
              </a:rPr>
              <a:t>├── scripts/     # Pipeline stages, validation</a:t>
            </a:r>
            <a:endParaRPr lang="en-US" sz="1400" dirty="0"/>
          </a:p>
          <a:p>
            <a:pPr indent="0" marL="0">
              <a:lnSpc>
                <a:spcPts val="1708"/>
              </a:lnSpc>
              <a:spcAft>
                <a:spcPts val="100"/>
              </a:spcAft>
              <a:buNone/>
            </a:pPr>
            <a:r>
              <a:rPr lang="en-US" sz="1400" dirty="0">
                <a:solidFill>
                  <a:srgbClr val="161617"/>
                </a:solidFill>
                <a:latin typeface="Courier New" pitchFamily="34" charset="0"/>
                <a:ea typeface="Courier New" pitchFamily="34" charset="-122"/>
                <a:cs typeface="Courier New" pitchFamily="34" charset="-120"/>
              </a:rPr>
              <a:t>├── src/         # Simulation, report modules</a:t>
            </a:r>
            <a:endParaRPr lang="en-US" sz="1400" dirty="0"/>
          </a:p>
          <a:p>
            <a:pPr indent="0" marL="0">
              <a:lnSpc>
                <a:spcPts val="1708"/>
              </a:lnSpc>
              <a:spcAft>
                <a:spcPts val="100"/>
              </a:spcAft>
              <a:buNone/>
            </a:pPr>
            <a:r>
              <a:rPr lang="en-US" sz="1400" dirty="0">
                <a:solidFill>
                  <a:srgbClr val="161617"/>
                </a:solidFill>
                <a:latin typeface="Courier New" pitchFamily="34" charset="0"/>
                <a:ea typeface="Courier New" pitchFamily="34" charset="-122"/>
                <a:cs typeface="Courier New" pitchFamily="34" charset="-120"/>
              </a:rPr>
              <a:t>├── models/      # Reusable fitted bundles</a:t>
            </a:r>
            <a:endParaRPr lang="en-US" sz="1400" dirty="0"/>
          </a:p>
          <a:p>
            <a:pPr indent="0" marL="0">
              <a:lnSpc>
                <a:spcPts val="1708"/>
              </a:lnSpc>
              <a:spcAft>
                <a:spcPts val="100"/>
              </a:spcAft>
              <a:buNone/>
            </a:pPr>
            <a:r>
              <a:rPr lang="en-US" sz="1400" dirty="0">
                <a:solidFill>
                  <a:srgbClr val="161617"/>
                </a:solidFill>
                <a:latin typeface="Courier New" pitchFamily="34" charset="0"/>
                <a:ea typeface="Courier New" pitchFamily="34" charset="-122"/>
                <a:cs typeface="Courier New" pitchFamily="34" charset="-120"/>
              </a:rPr>
              <a:t>├── results/     # Metrics, reports, figures</a:t>
            </a:r>
            <a:endParaRPr lang="en-US" sz="1400" dirty="0"/>
          </a:p>
          <a:p>
            <a:pPr indent="0" marL="0">
              <a:lnSpc>
                <a:spcPts val="1708"/>
              </a:lnSpc>
              <a:spcAft>
                <a:spcPts val="100"/>
              </a:spcAft>
              <a:buNone/>
            </a:pPr>
            <a:r>
              <a:rPr lang="en-US" sz="1400" dirty="0">
                <a:solidFill>
                  <a:srgbClr val="161617"/>
                </a:solidFill>
                <a:latin typeface="Courier New" pitchFamily="34" charset="0"/>
                <a:ea typeface="Courier New" pitchFamily="34" charset="-122"/>
                <a:cs typeface="Courier New" pitchFamily="34" charset="-120"/>
              </a:rPr>
              <a:t>├── logs/        # Runtime and status</a:t>
            </a:r>
            <a:endParaRPr lang="en-US" sz="1400" dirty="0"/>
          </a:p>
          <a:p>
            <a:pPr indent="0" marL="0">
              <a:lnSpc>
                <a:spcPts val="1708"/>
              </a:lnSpc>
              <a:spcAft>
                <a:spcPts val="100"/>
              </a:spcAft>
              <a:buNone/>
            </a:pPr>
            <a:r>
              <a:rPr lang="en-US" sz="1400" dirty="0">
                <a:solidFill>
                  <a:srgbClr val="161617"/>
                </a:solidFill>
                <a:latin typeface="Courier New" pitchFamily="34" charset="0"/>
                <a:ea typeface="Courier New" pitchFamily="34" charset="-122"/>
                <a:cs typeface="Courier New" pitchFamily="34" charset="-120"/>
              </a:rPr>
              <a:t>├── requirements.txt</a:t>
            </a:r>
            <a:endParaRPr lang="en-US" sz="1400" dirty="0"/>
          </a:p>
          <a:p>
            <a:pPr indent="0" marL="0">
              <a:lnSpc>
                <a:spcPts val="1708"/>
              </a:lnSpc>
              <a:spcAft>
                <a:spcPts val="100"/>
              </a:spcAft>
              <a:buNone/>
            </a:pPr>
            <a:r>
              <a:rPr lang="en-US" sz="1400" dirty="0">
                <a:solidFill>
                  <a:srgbClr val="161617"/>
                </a:solidFill>
                <a:latin typeface="Courier New" pitchFamily="34" charset="0"/>
                <a:ea typeface="Courier New" pitchFamily="34" charset="-122"/>
                <a:cs typeface="Courier New" pitchFamily="34" charset="-120"/>
              </a:rPr>
              <a:t>└── README.md</a:t>
            </a:r>
            <a:endParaRPr lang="en-US" sz="1400" dirty="0"/>
          </a:p>
        </p:txBody>
      </p:sp>
      <p:sp>
        <p:nvSpPr>
          <p:cNvPr id="6" name="Text 4"/>
          <p:cNvSpPr/>
          <p:nvPr/>
        </p:nvSpPr>
        <p:spPr>
          <a:xfrm>
            <a:off x="7223760" y="1874520"/>
            <a:ext cx="4279392" cy="384048"/>
          </a:xfrm>
          <a:prstGeom prst="rect">
            <a:avLst/>
          </a:prstGeom>
          <a:noFill/>
          <a:ln/>
        </p:spPr>
        <p:txBody>
          <a:bodyPr wrap="square" lIns="0" tIns="0" rIns="0" bIns="0" rtlCol="0" anchor="t"/>
          <a:lstStyle/>
          <a:p>
            <a:pPr indent="0" marL="0">
              <a:buNone/>
            </a:pPr>
            <a:r>
              <a:rPr lang="en-US" sz="2200" b="1" dirty="0">
                <a:solidFill>
                  <a:srgbClr val="161617"/>
                </a:solidFill>
                <a:latin typeface="Calibri" pitchFamily="34" charset="0"/>
                <a:ea typeface="Calibri" pitchFamily="34" charset="-122"/>
                <a:cs typeface="Calibri" pitchFamily="34" charset="-120"/>
              </a:rPr>
              <a:t>How to navigate it</a:t>
            </a:r>
            <a:endParaRPr lang="en-US" sz="2200" dirty="0"/>
          </a:p>
        </p:txBody>
      </p:sp>
      <p:sp>
        <p:nvSpPr>
          <p:cNvPr id="7" name="Text 5"/>
          <p:cNvSpPr/>
          <p:nvPr/>
        </p:nvSpPr>
        <p:spPr>
          <a:xfrm>
            <a:off x="7223760" y="2468880"/>
            <a:ext cx="4279392" cy="502920"/>
          </a:xfrm>
          <a:prstGeom prst="rect">
            <a:avLst/>
          </a:prstGeom>
          <a:noFill/>
          <a:ln/>
        </p:spPr>
        <p:txBody>
          <a:bodyPr wrap="square" lIns="0" tIns="0" rIns="0" bIns="0" rtlCol="0" anchor="t"/>
          <a:lstStyle/>
          <a:p>
            <a:pPr indent="0" marL="0">
              <a:lnSpc>
                <a:spcPts val="1900"/>
              </a:lnSpc>
              <a:buNone/>
            </a:pPr>
            <a:r>
              <a:rPr lang="en-US" sz="1600" dirty="0">
                <a:solidFill>
                  <a:srgbClr val="161617"/>
                </a:solidFill>
                <a:latin typeface="Calibri" pitchFamily="34" charset="0"/>
                <a:ea typeface="Calibri" pitchFamily="34" charset="-122"/>
                <a:cs typeface="Calibri" pitchFamily="34" charset="-120"/>
              </a:rPr>
              <a:t>Read the proposal for intent</a:t>
            </a:r>
            <a:endParaRPr lang="en-US" sz="1600" dirty="0"/>
          </a:p>
        </p:txBody>
      </p:sp>
      <p:sp>
        <p:nvSpPr>
          <p:cNvPr id="8" name="Text 6"/>
          <p:cNvSpPr/>
          <p:nvPr/>
        </p:nvSpPr>
        <p:spPr>
          <a:xfrm>
            <a:off x="7223760" y="2971800"/>
            <a:ext cx="4279392" cy="256032"/>
          </a:xfrm>
          <a:prstGeom prst="rect">
            <a:avLst/>
          </a:prstGeom>
          <a:noFill/>
          <a:ln/>
        </p:spPr>
        <p:txBody>
          <a:bodyPr wrap="square" lIns="0" tIns="0" rIns="0" bIns="0" rtlCol="0" anchor="t"/>
          <a:lstStyle/>
          <a:p>
            <a:pPr indent="0" marL="0">
              <a:buNone/>
            </a:pPr>
            <a:r>
              <a:rPr lang="en-US" sz="1300" dirty="0">
                <a:solidFill>
                  <a:srgbClr val="3568F0"/>
                </a:solidFill>
                <a:latin typeface="Courier New" pitchFamily="34" charset="0"/>
                <a:ea typeface="Courier New" pitchFamily="34" charset="-122"/>
                <a:cs typeface="Courier New" pitchFamily="34" charset="-120"/>
              </a:rPr>
              <a:t>data/raw/info.md</a:t>
            </a:r>
            <a:endParaRPr lang="en-US" sz="1300" dirty="0"/>
          </a:p>
        </p:txBody>
      </p:sp>
      <p:sp>
        <p:nvSpPr>
          <p:cNvPr id="9" name="Text 7"/>
          <p:cNvSpPr/>
          <p:nvPr/>
        </p:nvSpPr>
        <p:spPr>
          <a:xfrm>
            <a:off x="7223760" y="3429000"/>
            <a:ext cx="4279392" cy="502920"/>
          </a:xfrm>
          <a:prstGeom prst="rect">
            <a:avLst/>
          </a:prstGeom>
          <a:noFill/>
          <a:ln/>
        </p:spPr>
        <p:txBody>
          <a:bodyPr wrap="square" lIns="0" tIns="0" rIns="0" bIns="0" rtlCol="0" anchor="t"/>
          <a:lstStyle/>
          <a:p>
            <a:pPr indent="0" marL="0">
              <a:lnSpc>
                <a:spcPts val="1900"/>
              </a:lnSpc>
              <a:buNone/>
            </a:pPr>
            <a:r>
              <a:rPr lang="en-US" sz="1600" dirty="0">
                <a:solidFill>
                  <a:srgbClr val="161617"/>
                </a:solidFill>
                <a:latin typeface="Calibri" pitchFamily="34" charset="0"/>
                <a:ea typeface="Calibri" pitchFamily="34" charset="-122"/>
                <a:cs typeface="Calibri" pitchFamily="34" charset="-120"/>
              </a:rPr>
              <a:t>Read the README for the main workflow</a:t>
            </a:r>
            <a:endParaRPr lang="en-US" sz="1600" dirty="0"/>
          </a:p>
        </p:txBody>
      </p:sp>
      <p:sp>
        <p:nvSpPr>
          <p:cNvPr id="10" name="Text 8"/>
          <p:cNvSpPr/>
          <p:nvPr/>
        </p:nvSpPr>
        <p:spPr>
          <a:xfrm>
            <a:off x="7223760" y="3931920"/>
            <a:ext cx="4279392" cy="256032"/>
          </a:xfrm>
          <a:prstGeom prst="rect">
            <a:avLst/>
          </a:prstGeom>
          <a:noFill/>
          <a:ln/>
        </p:spPr>
        <p:txBody>
          <a:bodyPr wrap="square" lIns="0" tIns="0" rIns="0" bIns="0" rtlCol="0" anchor="t"/>
          <a:lstStyle/>
          <a:p>
            <a:pPr indent="0" marL="0">
              <a:buNone/>
            </a:pPr>
            <a:r>
              <a:rPr lang="en-US" sz="1300" dirty="0">
                <a:solidFill>
                  <a:srgbClr val="3568F0"/>
                </a:solidFill>
                <a:latin typeface="Courier New" pitchFamily="34" charset="0"/>
                <a:ea typeface="Courier New" pitchFamily="34" charset="-122"/>
                <a:cs typeface="Courier New" pitchFamily="34" charset="-120"/>
              </a:rPr>
              <a:t>README.md</a:t>
            </a:r>
            <a:endParaRPr lang="en-US" sz="1300" dirty="0"/>
          </a:p>
        </p:txBody>
      </p:sp>
      <p:sp>
        <p:nvSpPr>
          <p:cNvPr id="11" name="Text 9"/>
          <p:cNvSpPr/>
          <p:nvPr/>
        </p:nvSpPr>
        <p:spPr>
          <a:xfrm>
            <a:off x="7223760" y="4389120"/>
            <a:ext cx="4279392" cy="502920"/>
          </a:xfrm>
          <a:prstGeom prst="rect">
            <a:avLst/>
          </a:prstGeom>
          <a:noFill/>
          <a:ln/>
        </p:spPr>
        <p:txBody>
          <a:bodyPr wrap="square" lIns="0" tIns="0" rIns="0" bIns="0" rtlCol="0" anchor="t"/>
          <a:lstStyle/>
          <a:p>
            <a:pPr indent="0" marL="0">
              <a:lnSpc>
                <a:spcPts val="1900"/>
              </a:lnSpc>
              <a:buNone/>
            </a:pPr>
            <a:r>
              <a:rPr lang="en-US" sz="1600" dirty="0">
                <a:solidFill>
                  <a:srgbClr val="161617"/>
                </a:solidFill>
                <a:latin typeface="Calibri" pitchFamily="34" charset="0"/>
                <a:ea typeface="Calibri" pitchFamily="34" charset="-122"/>
                <a:cs typeface="Calibri" pitchFamily="34" charset="-120"/>
              </a:rPr>
              <a:t>Read the leakage audit before interpreting any model result</a:t>
            </a:r>
            <a:endParaRPr lang="en-US" sz="1600" dirty="0"/>
          </a:p>
        </p:txBody>
      </p:sp>
      <p:sp>
        <p:nvSpPr>
          <p:cNvPr id="12" name="Text 10"/>
          <p:cNvSpPr/>
          <p:nvPr/>
        </p:nvSpPr>
        <p:spPr>
          <a:xfrm>
            <a:off x="7223760" y="4892040"/>
            <a:ext cx="4279392" cy="256032"/>
          </a:xfrm>
          <a:prstGeom prst="rect">
            <a:avLst/>
          </a:prstGeom>
          <a:noFill/>
          <a:ln/>
        </p:spPr>
        <p:txBody>
          <a:bodyPr wrap="square" lIns="0" tIns="0" rIns="0" bIns="0" rtlCol="0" anchor="t"/>
          <a:lstStyle/>
          <a:p>
            <a:pPr indent="0" marL="0">
              <a:buNone/>
            </a:pPr>
            <a:r>
              <a:rPr lang="en-US" sz="1300" dirty="0">
                <a:solidFill>
                  <a:srgbClr val="3568F0"/>
                </a:solidFill>
                <a:latin typeface="Courier New" pitchFamily="34" charset="0"/>
                <a:ea typeface="Courier New" pitchFamily="34" charset="-122"/>
                <a:cs typeface="Courier New" pitchFamily="34" charset="-120"/>
              </a:rPr>
              <a:t>results/stage5_leakage_audit.md</a:t>
            </a:r>
            <a:endParaRPr lang="en-US" sz="1300" dirty="0"/>
          </a:p>
        </p:txBody>
      </p:sp>
      <p:sp>
        <p:nvSpPr>
          <p:cNvPr id="13" name="Text 11"/>
          <p:cNvSpPr/>
          <p:nvPr/>
        </p:nvSpPr>
        <p:spPr>
          <a:xfrm>
            <a:off x="7223760" y="5349240"/>
            <a:ext cx="4279392" cy="502920"/>
          </a:xfrm>
          <a:prstGeom prst="rect">
            <a:avLst/>
          </a:prstGeom>
          <a:noFill/>
          <a:ln/>
        </p:spPr>
        <p:txBody>
          <a:bodyPr wrap="square" lIns="0" tIns="0" rIns="0" bIns="0" rtlCol="0" anchor="t"/>
          <a:lstStyle/>
          <a:p>
            <a:pPr indent="0" marL="0">
              <a:lnSpc>
                <a:spcPts val="1900"/>
              </a:lnSpc>
              <a:buNone/>
            </a:pPr>
            <a:r>
              <a:rPr lang="en-US" sz="1600" dirty="0">
                <a:solidFill>
                  <a:srgbClr val="161617"/>
                </a:solidFill>
                <a:latin typeface="Calibri" pitchFamily="34" charset="0"/>
                <a:ea typeface="Calibri" pitchFamily="34" charset="-122"/>
                <a:cs typeface="Calibri" pitchFamily="34" charset="-120"/>
              </a:rPr>
              <a:t>Read the validation report before trusting an artifact</a:t>
            </a:r>
            <a:endParaRPr lang="en-US" sz="1600" dirty="0"/>
          </a:p>
        </p:txBody>
      </p:sp>
      <p:sp>
        <p:nvSpPr>
          <p:cNvPr id="14" name="Text 12"/>
          <p:cNvSpPr/>
          <p:nvPr/>
        </p:nvSpPr>
        <p:spPr>
          <a:xfrm>
            <a:off x="7223760" y="5852160"/>
            <a:ext cx="4279392" cy="256032"/>
          </a:xfrm>
          <a:prstGeom prst="rect">
            <a:avLst/>
          </a:prstGeom>
          <a:noFill/>
          <a:ln/>
        </p:spPr>
        <p:txBody>
          <a:bodyPr wrap="square" lIns="0" tIns="0" rIns="0" bIns="0" rtlCol="0" anchor="t"/>
          <a:lstStyle/>
          <a:p>
            <a:pPr indent="0" marL="0">
              <a:buNone/>
            </a:pPr>
            <a:r>
              <a:rPr lang="en-US" sz="1300" dirty="0">
                <a:solidFill>
                  <a:srgbClr val="3568F0"/>
                </a:solidFill>
                <a:latin typeface="Courier New" pitchFamily="34" charset="0"/>
                <a:ea typeface="Courier New" pitchFamily="34" charset="-122"/>
                <a:cs typeface="Courier New" pitchFamily="34" charset="-120"/>
              </a:rPr>
              <a:t>results/*_validation*.md</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25 / 28 · REPRODUCTION</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Reproduction follows dependency order, not file order</a:t>
            </a:r>
            <a:endParaRPr lang="en-US" sz="3500" dirty="0"/>
          </a:p>
        </p:txBody>
      </p:sp>
      <p:sp>
        <p:nvSpPr>
          <p:cNvPr id="4" name="Text 2"/>
          <p:cNvSpPr/>
          <p:nvPr/>
        </p:nvSpPr>
        <p:spPr>
          <a:xfrm>
            <a:off x="685800" y="1874520"/>
            <a:ext cx="5120640" cy="384048"/>
          </a:xfrm>
          <a:prstGeom prst="rect">
            <a:avLst/>
          </a:prstGeom>
          <a:noFill/>
          <a:ln/>
        </p:spPr>
        <p:txBody>
          <a:bodyPr wrap="square" lIns="0" tIns="0" rIns="0" bIns="0" rtlCol="0" anchor="t"/>
          <a:lstStyle/>
          <a:p>
            <a:pPr indent="0" marL="0">
              <a:buNone/>
            </a:pPr>
            <a:r>
              <a:rPr lang="en-US" sz="2200" b="1" dirty="0">
                <a:solidFill>
                  <a:srgbClr val="161617"/>
                </a:solidFill>
                <a:latin typeface="Calibri" pitchFamily="34" charset="0"/>
                <a:ea typeface="Calibri" pitchFamily="34" charset="-122"/>
                <a:cs typeface="Calibri" pitchFamily="34" charset="-120"/>
              </a:rPr>
              <a:t>Core sequence</a:t>
            </a:r>
            <a:endParaRPr lang="en-US" sz="2200" dirty="0"/>
          </a:p>
        </p:txBody>
      </p:sp>
      <p:sp>
        <p:nvSpPr>
          <p:cNvPr id="5" name="Text 3"/>
          <p:cNvSpPr/>
          <p:nvPr/>
        </p:nvSpPr>
        <p:spPr>
          <a:xfrm>
            <a:off x="685800" y="2395728"/>
            <a:ext cx="320040" cy="256032"/>
          </a:xfrm>
          <a:prstGeom prst="rect">
            <a:avLst/>
          </a:prstGeom>
          <a:noFill/>
          <a:ln/>
        </p:spPr>
        <p:txBody>
          <a:bodyPr wrap="square" lIns="0" tIns="0" rIns="0" bIns="0" rtlCol="0" anchor="t"/>
          <a:lstStyle/>
          <a:p>
            <a:pPr indent="0" marL="0">
              <a:buNone/>
            </a:pPr>
            <a:r>
              <a:rPr lang="en-US" sz="1300" dirty="0">
                <a:solidFill>
                  <a:srgbClr val="6E6E73"/>
                </a:solidFill>
                <a:latin typeface="Courier New" pitchFamily="34" charset="0"/>
                <a:ea typeface="Courier New" pitchFamily="34" charset="-122"/>
                <a:cs typeface="Courier New" pitchFamily="34" charset="-120"/>
              </a:rPr>
              <a:t> 1</a:t>
            </a:r>
            <a:endParaRPr lang="en-US" sz="1300" dirty="0"/>
          </a:p>
        </p:txBody>
      </p:sp>
      <p:sp>
        <p:nvSpPr>
          <p:cNvPr id="6" name="Text 4"/>
          <p:cNvSpPr/>
          <p:nvPr/>
        </p:nvSpPr>
        <p:spPr>
          <a:xfrm>
            <a:off x="1051560" y="2395728"/>
            <a:ext cx="475488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preprocess_possessions.py</a:t>
            </a:r>
            <a:endParaRPr lang="en-US" sz="1300" dirty="0"/>
          </a:p>
        </p:txBody>
      </p:sp>
      <p:sp>
        <p:nvSpPr>
          <p:cNvPr id="7" name="Text 5"/>
          <p:cNvSpPr/>
          <p:nvPr/>
        </p:nvSpPr>
        <p:spPr>
          <a:xfrm>
            <a:off x="685800" y="2688336"/>
            <a:ext cx="320040" cy="256032"/>
          </a:xfrm>
          <a:prstGeom prst="rect">
            <a:avLst/>
          </a:prstGeom>
          <a:noFill/>
          <a:ln/>
        </p:spPr>
        <p:txBody>
          <a:bodyPr wrap="square" lIns="0" tIns="0" rIns="0" bIns="0" rtlCol="0" anchor="t"/>
          <a:lstStyle/>
          <a:p>
            <a:pPr indent="0" marL="0">
              <a:buNone/>
            </a:pPr>
            <a:r>
              <a:rPr lang="en-US" sz="1300" dirty="0">
                <a:solidFill>
                  <a:srgbClr val="6E6E73"/>
                </a:solidFill>
                <a:latin typeface="Courier New" pitchFamily="34" charset="0"/>
                <a:ea typeface="Courier New" pitchFamily="34" charset="-122"/>
                <a:cs typeface="Courier New" pitchFamily="34" charset="-120"/>
              </a:rPr>
              <a:t> 2</a:t>
            </a:r>
            <a:endParaRPr lang="en-US" sz="1300" dirty="0"/>
          </a:p>
        </p:txBody>
      </p:sp>
      <p:sp>
        <p:nvSpPr>
          <p:cNvPr id="8" name="Text 6"/>
          <p:cNvSpPr/>
          <p:nvPr/>
        </p:nvSpPr>
        <p:spPr>
          <a:xfrm>
            <a:off x="1051560" y="2688336"/>
            <a:ext cx="475488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cluster_attacking_styles.py</a:t>
            </a:r>
            <a:endParaRPr lang="en-US" sz="1300" dirty="0"/>
          </a:p>
        </p:txBody>
      </p:sp>
      <p:sp>
        <p:nvSpPr>
          <p:cNvPr id="9" name="Text 7"/>
          <p:cNvSpPr/>
          <p:nvPr/>
        </p:nvSpPr>
        <p:spPr>
          <a:xfrm>
            <a:off x="685800" y="2980944"/>
            <a:ext cx="320040" cy="256032"/>
          </a:xfrm>
          <a:prstGeom prst="rect">
            <a:avLst/>
          </a:prstGeom>
          <a:noFill/>
          <a:ln/>
        </p:spPr>
        <p:txBody>
          <a:bodyPr wrap="square" lIns="0" tIns="0" rIns="0" bIns="0" rtlCol="0" anchor="t"/>
          <a:lstStyle/>
          <a:p>
            <a:pPr indent="0" marL="0">
              <a:buNone/>
            </a:pPr>
            <a:r>
              <a:rPr lang="en-US" sz="1300" dirty="0">
                <a:solidFill>
                  <a:srgbClr val="6E6E73"/>
                </a:solidFill>
                <a:latin typeface="Courier New" pitchFamily="34" charset="0"/>
                <a:ea typeface="Courier New" pitchFamily="34" charset="-122"/>
                <a:cs typeface="Courier New" pitchFamily="34" charset="-120"/>
              </a:rPr>
              <a:t> 3</a:t>
            </a:r>
            <a:endParaRPr lang="en-US" sz="1300" dirty="0"/>
          </a:p>
        </p:txBody>
      </p:sp>
      <p:sp>
        <p:nvSpPr>
          <p:cNvPr id="10" name="Text 8"/>
          <p:cNvSpPr/>
          <p:nvPr/>
        </p:nvSpPr>
        <p:spPr>
          <a:xfrm>
            <a:off x="1051560" y="2980944"/>
            <a:ext cx="475488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cache_360_frames.py</a:t>
            </a:r>
            <a:endParaRPr lang="en-US" sz="1300" dirty="0"/>
          </a:p>
        </p:txBody>
      </p:sp>
      <p:sp>
        <p:nvSpPr>
          <p:cNvPr id="11" name="Text 9"/>
          <p:cNvSpPr/>
          <p:nvPr/>
        </p:nvSpPr>
        <p:spPr>
          <a:xfrm>
            <a:off x="685800" y="3273552"/>
            <a:ext cx="320040" cy="256032"/>
          </a:xfrm>
          <a:prstGeom prst="rect">
            <a:avLst/>
          </a:prstGeom>
          <a:noFill/>
          <a:ln/>
        </p:spPr>
        <p:txBody>
          <a:bodyPr wrap="square" lIns="0" tIns="0" rIns="0" bIns="0" rtlCol="0" anchor="t"/>
          <a:lstStyle/>
          <a:p>
            <a:pPr indent="0" marL="0">
              <a:buNone/>
            </a:pPr>
            <a:r>
              <a:rPr lang="en-US" sz="1300" dirty="0">
                <a:solidFill>
                  <a:srgbClr val="6E6E73"/>
                </a:solidFill>
                <a:latin typeface="Courier New" pitchFamily="34" charset="0"/>
                <a:ea typeface="Courier New" pitchFamily="34" charset="-122"/>
                <a:cs typeface="Courier New" pitchFamily="34" charset="-120"/>
              </a:rPr>
              <a:t> 4</a:t>
            </a:r>
            <a:endParaRPr lang="en-US" sz="1300" dirty="0"/>
          </a:p>
        </p:txBody>
      </p:sp>
      <p:sp>
        <p:nvSpPr>
          <p:cNvPr id="12" name="Text 10"/>
          <p:cNvSpPr/>
          <p:nvPr/>
        </p:nvSpPr>
        <p:spPr>
          <a:xfrm>
            <a:off x="1051560" y="3273552"/>
            <a:ext cx="475488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build_defensive_features.py</a:t>
            </a:r>
            <a:endParaRPr lang="en-US" sz="1300" dirty="0"/>
          </a:p>
        </p:txBody>
      </p:sp>
      <p:sp>
        <p:nvSpPr>
          <p:cNvPr id="13" name="Text 11"/>
          <p:cNvSpPr/>
          <p:nvPr/>
        </p:nvSpPr>
        <p:spPr>
          <a:xfrm>
            <a:off x="685800" y="3566160"/>
            <a:ext cx="320040" cy="256032"/>
          </a:xfrm>
          <a:prstGeom prst="rect">
            <a:avLst/>
          </a:prstGeom>
          <a:noFill/>
          <a:ln/>
        </p:spPr>
        <p:txBody>
          <a:bodyPr wrap="square" lIns="0" tIns="0" rIns="0" bIns="0" rtlCol="0" anchor="t"/>
          <a:lstStyle/>
          <a:p>
            <a:pPr indent="0" marL="0">
              <a:buNone/>
            </a:pPr>
            <a:r>
              <a:rPr lang="en-US" sz="1300" dirty="0">
                <a:solidFill>
                  <a:srgbClr val="6E6E73"/>
                </a:solidFill>
                <a:latin typeface="Courier New" pitchFamily="34" charset="0"/>
                <a:ea typeface="Courier New" pitchFamily="34" charset="-122"/>
                <a:cs typeface="Courier New" pitchFamily="34" charset="-120"/>
              </a:rPr>
              <a:t> 5</a:t>
            </a:r>
            <a:endParaRPr lang="en-US" sz="1300" dirty="0"/>
          </a:p>
        </p:txBody>
      </p:sp>
      <p:sp>
        <p:nvSpPr>
          <p:cNvPr id="14" name="Text 12"/>
          <p:cNvSpPr/>
          <p:nvPr/>
        </p:nvSpPr>
        <p:spPr>
          <a:xfrm>
            <a:off x="1051560" y="3566160"/>
            <a:ext cx="475488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cluster_defensive_styles.py</a:t>
            </a:r>
            <a:endParaRPr lang="en-US" sz="1300" dirty="0"/>
          </a:p>
        </p:txBody>
      </p:sp>
      <p:sp>
        <p:nvSpPr>
          <p:cNvPr id="15" name="Text 13"/>
          <p:cNvSpPr/>
          <p:nvPr/>
        </p:nvSpPr>
        <p:spPr>
          <a:xfrm>
            <a:off x="685800" y="3858768"/>
            <a:ext cx="320040" cy="256032"/>
          </a:xfrm>
          <a:prstGeom prst="rect">
            <a:avLst/>
          </a:prstGeom>
          <a:noFill/>
          <a:ln/>
        </p:spPr>
        <p:txBody>
          <a:bodyPr wrap="square" lIns="0" tIns="0" rIns="0" bIns="0" rtlCol="0" anchor="t"/>
          <a:lstStyle/>
          <a:p>
            <a:pPr indent="0" marL="0">
              <a:buNone/>
            </a:pPr>
            <a:r>
              <a:rPr lang="en-US" sz="1300" dirty="0">
                <a:solidFill>
                  <a:srgbClr val="6E6E73"/>
                </a:solidFill>
                <a:latin typeface="Courier New" pitchFamily="34" charset="0"/>
                <a:ea typeface="Courier New" pitchFamily="34" charset="-122"/>
                <a:cs typeface="Courier New" pitchFamily="34" charset="-120"/>
              </a:rPr>
              <a:t> 6</a:t>
            </a:r>
            <a:endParaRPr lang="en-US" sz="1300" dirty="0"/>
          </a:p>
        </p:txBody>
      </p:sp>
      <p:sp>
        <p:nvSpPr>
          <p:cNvPr id="16" name="Text 14"/>
          <p:cNvSpPr/>
          <p:nvPr/>
        </p:nvSpPr>
        <p:spPr>
          <a:xfrm>
            <a:off x="1051560" y="3858768"/>
            <a:ext cx="475488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analyze_defensive_matchups.py</a:t>
            </a:r>
            <a:endParaRPr lang="en-US" sz="1300" dirty="0"/>
          </a:p>
        </p:txBody>
      </p:sp>
      <p:sp>
        <p:nvSpPr>
          <p:cNvPr id="17" name="Text 15"/>
          <p:cNvSpPr/>
          <p:nvPr/>
        </p:nvSpPr>
        <p:spPr>
          <a:xfrm>
            <a:off x="685800" y="4151376"/>
            <a:ext cx="320040" cy="256032"/>
          </a:xfrm>
          <a:prstGeom prst="rect">
            <a:avLst/>
          </a:prstGeom>
          <a:noFill/>
          <a:ln/>
        </p:spPr>
        <p:txBody>
          <a:bodyPr wrap="square" lIns="0" tIns="0" rIns="0" bIns="0" rtlCol="0" anchor="t"/>
          <a:lstStyle/>
          <a:p>
            <a:pPr indent="0" marL="0">
              <a:buNone/>
            </a:pPr>
            <a:r>
              <a:rPr lang="en-US" sz="1300" dirty="0">
                <a:solidFill>
                  <a:srgbClr val="6E6E73"/>
                </a:solidFill>
                <a:latin typeface="Courier New" pitchFamily="34" charset="0"/>
                <a:ea typeface="Courier New" pitchFamily="34" charset="-122"/>
                <a:cs typeface="Courier New" pitchFamily="34" charset="-120"/>
              </a:rPr>
              <a:t> 7</a:t>
            </a:r>
            <a:endParaRPr lang="en-US" sz="1300" dirty="0"/>
          </a:p>
        </p:txBody>
      </p:sp>
      <p:sp>
        <p:nvSpPr>
          <p:cNvPr id="18" name="Text 16"/>
          <p:cNvSpPr/>
          <p:nvPr/>
        </p:nvSpPr>
        <p:spPr>
          <a:xfrm>
            <a:off x="1051560" y="4151376"/>
            <a:ext cx="475488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build_player_skill_inputs.py</a:t>
            </a:r>
            <a:endParaRPr lang="en-US" sz="1300" dirty="0"/>
          </a:p>
        </p:txBody>
      </p:sp>
      <p:sp>
        <p:nvSpPr>
          <p:cNvPr id="19" name="Text 17"/>
          <p:cNvSpPr/>
          <p:nvPr/>
        </p:nvSpPr>
        <p:spPr>
          <a:xfrm>
            <a:off x="685800" y="4443984"/>
            <a:ext cx="320040" cy="256032"/>
          </a:xfrm>
          <a:prstGeom prst="rect">
            <a:avLst/>
          </a:prstGeom>
          <a:noFill/>
          <a:ln/>
        </p:spPr>
        <p:txBody>
          <a:bodyPr wrap="square" lIns="0" tIns="0" rIns="0" bIns="0" rtlCol="0" anchor="t"/>
          <a:lstStyle/>
          <a:p>
            <a:pPr indent="0" marL="0">
              <a:buNone/>
            </a:pPr>
            <a:r>
              <a:rPr lang="en-US" sz="1300" dirty="0">
                <a:solidFill>
                  <a:srgbClr val="6E6E73"/>
                </a:solidFill>
                <a:latin typeface="Courier New" pitchFamily="34" charset="0"/>
                <a:ea typeface="Courier New" pitchFamily="34" charset="-122"/>
                <a:cs typeface="Courier New" pitchFamily="34" charset="-120"/>
              </a:rPr>
              <a:t> 8</a:t>
            </a:r>
            <a:endParaRPr lang="en-US" sz="1300" dirty="0"/>
          </a:p>
        </p:txBody>
      </p:sp>
      <p:sp>
        <p:nvSpPr>
          <p:cNvPr id="20" name="Text 18"/>
          <p:cNvSpPr/>
          <p:nvPr/>
        </p:nvSpPr>
        <p:spPr>
          <a:xfrm>
            <a:off x="1051560" y="4443984"/>
            <a:ext cx="475488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benchmark_coaching_models.py</a:t>
            </a:r>
            <a:endParaRPr lang="en-US" sz="1300" dirty="0"/>
          </a:p>
        </p:txBody>
      </p:sp>
      <p:sp>
        <p:nvSpPr>
          <p:cNvPr id="21" name="Text 19"/>
          <p:cNvSpPr/>
          <p:nvPr/>
        </p:nvSpPr>
        <p:spPr>
          <a:xfrm>
            <a:off x="685800" y="4736592"/>
            <a:ext cx="320040" cy="256032"/>
          </a:xfrm>
          <a:prstGeom prst="rect">
            <a:avLst/>
          </a:prstGeom>
          <a:noFill/>
          <a:ln/>
        </p:spPr>
        <p:txBody>
          <a:bodyPr wrap="square" lIns="0" tIns="0" rIns="0" bIns="0" rtlCol="0" anchor="t"/>
          <a:lstStyle/>
          <a:p>
            <a:pPr indent="0" marL="0">
              <a:buNone/>
            </a:pPr>
            <a:r>
              <a:rPr lang="en-US" sz="1300" dirty="0">
                <a:solidFill>
                  <a:srgbClr val="6E6E73"/>
                </a:solidFill>
                <a:latin typeface="Courier New" pitchFamily="34" charset="0"/>
                <a:ea typeface="Courier New" pitchFamily="34" charset="-122"/>
                <a:cs typeface="Courier New" pitchFamily="34" charset="-120"/>
              </a:rPr>
              <a:t> 9</a:t>
            </a:r>
            <a:endParaRPr lang="en-US" sz="1300" dirty="0"/>
          </a:p>
        </p:txBody>
      </p:sp>
      <p:sp>
        <p:nvSpPr>
          <p:cNvPr id="22" name="Text 20"/>
          <p:cNvSpPr/>
          <p:nvPr/>
        </p:nvSpPr>
        <p:spPr>
          <a:xfrm>
            <a:off x="1051560" y="4736592"/>
            <a:ext cx="475488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select_coaching_models.py</a:t>
            </a:r>
            <a:endParaRPr lang="en-US" sz="1300" dirty="0"/>
          </a:p>
        </p:txBody>
      </p:sp>
      <p:sp>
        <p:nvSpPr>
          <p:cNvPr id="23" name="Text 21"/>
          <p:cNvSpPr/>
          <p:nvPr/>
        </p:nvSpPr>
        <p:spPr>
          <a:xfrm>
            <a:off x="685800" y="5029200"/>
            <a:ext cx="320040" cy="256032"/>
          </a:xfrm>
          <a:prstGeom prst="rect">
            <a:avLst/>
          </a:prstGeom>
          <a:noFill/>
          <a:ln/>
        </p:spPr>
        <p:txBody>
          <a:bodyPr wrap="square" lIns="0" tIns="0" rIns="0" bIns="0" rtlCol="0" anchor="t"/>
          <a:lstStyle/>
          <a:p>
            <a:pPr indent="0" marL="0">
              <a:buNone/>
            </a:pPr>
            <a:r>
              <a:rPr lang="en-US" sz="1300" dirty="0">
                <a:solidFill>
                  <a:srgbClr val="6E6E73"/>
                </a:solidFill>
                <a:latin typeface="Courier New" pitchFamily="34" charset="0"/>
                <a:ea typeface="Courier New" pitchFamily="34" charset="-122"/>
                <a:cs typeface="Courier New" pitchFamily="34" charset="-120"/>
              </a:rPr>
              <a:t>10</a:t>
            </a:r>
            <a:endParaRPr lang="en-US" sz="1300" dirty="0"/>
          </a:p>
        </p:txBody>
      </p:sp>
      <p:sp>
        <p:nvSpPr>
          <p:cNvPr id="24" name="Text 22"/>
          <p:cNvSpPr/>
          <p:nvPr/>
        </p:nvSpPr>
        <p:spPr>
          <a:xfrm>
            <a:off x="1051560" y="5029200"/>
            <a:ext cx="475488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explain_coaching_models.py</a:t>
            </a:r>
            <a:endParaRPr lang="en-US" sz="1300" dirty="0"/>
          </a:p>
        </p:txBody>
      </p:sp>
      <p:sp>
        <p:nvSpPr>
          <p:cNvPr id="25" name="Text 23"/>
          <p:cNvSpPr/>
          <p:nvPr/>
        </p:nvSpPr>
        <p:spPr>
          <a:xfrm>
            <a:off x="685800" y="5321808"/>
            <a:ext cx="320040" cy="256032"/>
          </a:xfrm>
          <a:prstGeom prst="rect">
            <a:avLst/>
          </a:prstGeom>
          <a:noFill/>
          <a:ln/>
        </p:spPr>
        <p:txBody>
          <a:bodyPr wrap="square" lIns="0" tIns="0" rIns="0" bIns="0" rtlCol="0" anchor="t"/>
          <a:lstStyle/>
          <a:p>
            <a:pPr indent="0" marL="0">
              <a:buNone/>
            </a:pPr>
            <a:r>
              <a:rPr lang="en-US" sz="1300" dirty="0">
                <a:solidFill>
                  <a:srgbClr val="6E6E73"/>
                </a:solidFill>
                <a:latin typeface="Courier New" pitchFamily="34" charset="0"/>
                <a:ea typeface="Courier New" pitchFamily="34" charset="-122"/>
                <a:cs typeface="Courier New" pitchFamily="34" charset="-120"/>
              </a:rPr>
              <a:t>11</a:t>
            </a:r>
            <a:endParaRPr lang="en-US" sz="1300" dirty="0"/>
          </a:p>
        </p:txBody>
      </p:sp>
      <p:sp>
        <p:nvSpPr>
          <p:cNvPr id="26" name="Text 24"/>
          <p:cNvSpPr/>
          <p:nvPr/>
        </p:nvSpPr>
        <p:spPr>
          <a:xfrm>
            <a:off x="1051560" y="5321808"/>
            <a:ext cx="475488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build_recommendation_features.py</a:t>
            </a:r>
            <a:endParaRPr lang="en-US" sz="1300" dirty="0"/>
          </a:p>
        </p:txBody>
      </p:sp>
      <p:sp>
        <p:nvSpPr>
          <p:cNvPr id="27" name="Text 25"/>
          <p:cNvSpPr/>
          <p:nvPr/>
        </p:nvSpPr>
        <p:spPr>
          <a:xfrm>
            <a:off x="685800" y="5614416"/>
            <a:ext cx="320040" cy="256032"/>
          </a:xfrm>
          <a:prstGeom prst="rect">
            <a:avLst/>
          </a:prstGeom>
          <a:noFill/>
          <a:ln/>
        </p:spPr>
        <p:txBody>
          <a:bodyPr wrap="square" lIns="0" tIns="0" rIns="0" bIns="0" rtlCol="0" anchor="t"/>
          <a:lstStyle/>
          <a:p>
            <a:pPr indent="0" marL="0">
              <a:buNone/>
            </a:pPr>
            <a:r>
              <a:rPr lang="en-US" sz="1300" dirty="0">
                <a:solidFill>
                  <a:srgbClr val="6E6E73"/>
                </a:solidFill>
                <a:latin typeface="Courier New" pitchFamily="34" charset="0"/>
                <a:ea typeface="Courier New" pitchFamily="34" charset="-122"/>
                <a:cs typeface="Courier New" pitchFamily="34" charset="-120"/>
              </a:rPr>
              <a:t>12</a:t>
            </a:r>
            <a:endParaRPr lang="en-US" sz="1300" dirty="0"/>
          </a:p>
        </p:txBody>
      </p:sp>
      <p:sp>
        <p:nvSpPr>
          <p:cNvPr id="28" name="Text 26"/>
          <p:cNvSpPr/>
          <p:nvPr/>
        </p:nvSpPr>
        <p:spPr>
          <a:xfrm>
            <a:off x="1051560" y="5614416"/>
            <a:ext cx="475488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benchmark_recommendation_models.py</a:t>
            </a:r>
            <a:endParaRPr lang="en-US" sz="1300" dirty="0"/>
          </a:p>
        </p:txBody>
      </p:sp>
      <p:sp>
        <p:nvSpPr>
          <p:cNvPr id="29" name="Text 27"/>
          <p:cNvSpPr/>
          <p:nvPr/>
        </p:nvSpPr>
        <p:spPr>
          <a:xfrm>
            <a:off x="685800" y="5907024"/>
            <a:ext cx="320040" cy="256032"/>
          </a:xfrm>
          <a:prstGeom prst="rect">
            <a:avLst/>
          </a:prstGeom>
          <a:noFill/>
          <a:ln/>
        </p:spPr>
        <p:txBody>
          <a:bodyPr wrap="square" lIns="0" tIns="0" rIns="0" bIns="0" rtlCol="0" anchor="t"/>
          <a:lstStyle/>
          <a:p>
            <a:pPr indent="0" marL="0">
              <a:buNone/>
            </a:pPr>
            <a:r>
              <a:rPr lang="en-US" sz="1300" dirty="0">
                <a:solidFill>
                  <a:srgbClr val="6E6E73"/>
                </a:solidFill>
                <a:latin typeface="Courier New" pitchFamily="34" charset="0"/>
                <a:ea typeface="Courier New" pitchFamily="34" charset="-122"/>
                <a:cs typeface="Courier New" pitchFamily="34" charset="-120"/>
              </a:rPr>
              <a:t>13</a:t>
            </a:r>
            <a:endParaRPr lang="en-US" sz="1300" dirty="0"/>
          </a:p>
        </p:txBody>
      </p:sp>
      <p:sp>
        <p:nvSpPr>
          <p:cNvPr id="30" name="Text 28"/>
          <p:cNvSpPr/>
          <p:nvPr/>
        </p:nvSpPr>
        <p:spPr>
          <a:xfrm>
            <a:off x="1051560" y="5907024"/>
            <a:ext cx="475488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benchmark_transition_models.py</a:t>
            </a:r>
            <a:endParaRPr lang="en-US" sz="1300" dirty="0"/>
          </a:p>
        </p:txBody>
      </p:sp>
      <p:sp>
        <p:nvSpPr>
          <p:cNvPr id="31" name="Text 29"/>
          <p:cNvSpPr/>
          <p:nvPr/>
        </p:nvSpPr>
        <p:spPr>
          <a:xfrm>
            <a:off x="6263640" y="1874520"/>
            <a:ext cx="5239512" cy="384048"/>
          </a:xfrm>
          <a:prstGeom prst="rect">
            <a:avLst/>
          </a:prstGeom>
          <a:noFill/>
          <a:ln/>
        </p:spPr>
        <p:txBody>
          <a:bodyPr wrap="square" lIns="0" tIns="0" rIns="0" bIns="0" rtlCol="0" anchor="t"/>
          <a:lstStyle/>
          <a:p>
            <a:pPr indent="0" marL="0">
              <a:buNone/>
            </a:pPr>
            <a:r>
              <a:rPr lang="en-US" sz="2200" b="1" dirty="0">
                <a:solidFill>
                  <a:srgbClr val="161617"/>
                </a:solidFill>
                <a:latin typeface="Calibri" pitchFamily="34" charset="0"/>
                <a:ea typeface="Calibri" pitchFamily="34" charset="-122"/>
                <a:cs typeface="Calibri" pitchFamily="34" charset="-120"/>
              </a:rPr>
              <a:t>Experimental extensions</a:t>
            </a:r>
            <a:endParaRPr lang="en-US" sz="2200" dirty="0"/>
          </a:p>
        </p:txBody>
      </p:sp>
      <p:sp>
        <p:nvSpPr>
          <p:cNvPr id="32" name="Text 30"/>
          <p:cNvSpPr/>
          <p:nvPr/>
        </p:nvSpPr>
        <p:spPr>
          <a:xfrm>
            <a:off x="6263640" y="2395728"/>
            <a:ext cx="5239512" cy="914400"/>
          </a:xfrm>
          <a:prstGeom prst="rect">
            <a:avLst/>
          </a:prstGeom>
          <a:noFill/>
          <a:ln/>
        </p:spPr>
        <p:txBody>
          <a:bodyPr wrap="square" lIns="0" tIns="0" rIns="0" bIns="0" rtlCol="0" anchor="t"/>
          <a:lstStyle/>
          <a:p>
            <a:pPr indent="0" marL="0">
              <a:lnSpc>
                <a:spcPts val="1586"/>
              </a:lnSpc>
              <a:spcAft>
                <a:spcPts val="300"/>
              </a:spcAft>
              <a:buNone/>
            </a:pPr>
            <a:r>
              <a:rPr lang="en-US" sz="1300" dirty="0">
                <a:solidFill>
                  <a:srgbClr val="161617"/>
                </a:solidFill>
                <a:latin typeface="Courier New" pitchFamily="34" charset="0"/>
                <a:ea typeface="Courier New" pitchFamily="34" charset="-122"/>
                <a:cs typeface="Courier New" pitchFamily="34" charset="-120"/>
              </a:rPr>
              <a:t>build_recommendation_simulator.py</a:t>
            </a:r>
            <a:endParaRPr lang="en-US" sz="1300" dirty="0"/>
          </a:p>
          <a:p>
            <a:pPr indent="0" marL="0">
              <a:lnSpc>
                <a:spcPts val="1586"/>
              </a:lnSpc>
              <a:spcAft>
                <a:spcPts val="300"/>
              </a:spcAft>
              <a:buNone/>
            </a:pPr>
            <a:r>
              <a:rPr lang="en-US" sz="1300" dirty="0">
                <a:solidFill>
                  <a:srgbClr val="161617"/>
                </a:solidFill>
                <a:latin typeface="Courier New" pitchFamily="34" charset="0"/>
                <a:ea typeface="Courier New" pitchFamily="34" charset="-122"/>
                <a:cs typeface="Courier New" pitchFamily="34" charset="-120"/>
              </a:rPr>
              <a:t>validate_recommendation_policy.py</a:t>
            </a:r>
            <a:endParaRPr lang="en-US" sz="1300" dirty="0"/>
          </a:p>
          <a:p>
            <a:pPr indent="0" marL="0">
              <a:lnSpc>
                <a:spcPts val="1586"/>
              </a:lnSpc>
              <a:spcAft>
                <a:spcPts val="300"/>
              </a:spcAft>
              <a:buNone/>
            </a:pPr>
            <a:r>
              <a:rPr lang="en-US" sz="1300" dirty="0">
                <a:solidFill>
                  <a:srgbClr val="161617"/>
                </a:solidFill>
                <a:latin typeface="Courier New" pitchFamily="34" charset="0"/>
                <a:ea typeface="Courier New" pitchFamily="34" charset="-122"/>
                <a:cs typeface="Courier New" pitchFamily="34" charset="-120"/>
              </a:rPr>
              <a:t>validate_leave_one_team_out.py</a:t>
            </a:r>
            <a:endParaRPr lang="en-US" sz="1300" dirty="0"/>
          </a:p>
          <a:p>
            <a:pPr indent="0" marL="0">
              <a:lnSpc>
                <a:spcPts val="1586"/>
              </a:lnSpc>
              <a:spcAft>
                <a:spcPts val="300"/>
              </a:spcAft>
              <a:buNone/>
            </a:pPr>
            <a:r>
              <a:rPr lang="en-US" sz="1300" dirty="0">
                <a:solidFill>
                  <a:srgbClr val="161617"/>
                </a:solidFill>
                <a:latin typeface="Courier New" pitchFamily="34" charset="0"/>
                <a:ea typeface="Courier New" pitchFamily="34" charset="-122"/>
                <a:cs typeface="Courier New" pitchFamily="34" charset="-120"/>
              </a:rPr>
              <a:t>run_team_simulation_reports.py</a:t>
            </a:r>
            <a:endParaRPr lang="en-US" sz="1300" dirty="0"/>
          </a:p>
          <a:p>
            <a:pPr indent="0" marL="0">
              <a:lnSpc>
                <a:spcPts val="1586"/>
              </a:lnSpc>
              <a:spcAft>
                <a:spcPts val="300"/>
              </a:spcAft>
              <a:buNone/>
            </a:pPr>
            <a:r>
              <a:rPr lang="en-US" sz="1300" dirty="0">
                <a:solidFill>
                  <a:srgbClr val="161617"/>
                </a:solidFill>
                <a:latin typeface="Courier New" pitchFamily="34" charset="0"/>
                <a:ea typeface="Courier New" pitchFamily="34" charset="-122"/>
                <a:cs typeface="Courier New" pitchFamily="34" charset="-120"/>
              </a:rPr>
              <a:t>eda_validation_checks.py</a:t>
            </a:r>
            <a:endParaRPr lang="en-US" sz="1300" dirty="0"/>
          </a:p>
        </p:txBody>
      </p:sp>
      <p:sp>
        <p:nvSpPr>
          <p:cNvPr id="33" name="Shape 31"/>
          <p:cNvSpPr/>
          <p:nvPr/>
        </p:nvSpPr>
        <p:spPr>
          <a:xfrm>
            <a:off x="6263640" y="3794760"/>
            <a:ext cx="5239512" cy="1828800"/>
          </a:xfrm>
          <a:prstGeom prst="roundRect">
            <a:avLst>
              <a:gd name="adj" fmla="val 3000"/>
            </a:avLst>
          </a:prstGeom>
          <a:solidFill>
            <a:srgbClr val="E3EAFD"/>
          </a:solidFill>
          <a:ln w="9525">
            <a:solidFill>
              <a:srgbClr val="E3EAFD"/>
            </a:solidFill>
            <a:prstDash val="solid"/>
          </a:ln>
        </p:spPr>
      </p:sp>
      <p:sp>
        <p:nvSpPr>
          <p:cNvPr id="34" name="Text 32"/>
          <p:cNvSpPr/>
          <p:nvPr/>
        </p:nvSpPr>
        <p:spPr>
          <a:xfrm>
            <a:off x="6537960" y="3995928"/>
            <a:ext cx="4690872" cy="237744"/>
          </a:xfrm>
          <a:prstGeom prst="rect">
            <a:avLst/>
          </a:prstGeom>
          <a:noFill/>
          <a:ln/>
        </p:spPr>
        <p:txBody>
          <a:bodyPr wrap="square" lIns="0" tIns="0" rIns="0" bIns="0" rtlCol="0" anchor="t"/>
          <a:lstStyle/>
          <a:p>
            <a:pPr indent="0" marL="0">
              <a:buNone/>
            </a:pPr>
            <a:r>
              <a:rPr lang="en-US" sz="1200" b="1" spc="140" kern="0" dirty="0">
                <a:solidFill>
                  <a:srgbClr val="3568F0"/>
                </a:solidFill>
                <a:latin typeface="Calibri" pitchFamily="34" charset="0"/>
                <a:ea typeface="Calibri" pitchFamily="34" charset="-122"/>
                <a:cs typeface="Calibri" pitchFamily="34" charset="-120"/>
              </a:rPr>
              <a:t>CONSOLIDATED V4 PRODUCTION WORKFLOW</a:t>
            </a:r>
            <a:endParaRPr lang="en-US" sz="1200" dirty="0"/>
          </a:p>
        </p:txBody>
      </p:sp>
      <p:sp>
        <p:nvSpPr>
          <p:cNvPr id="35" name="Text 33"/>
          <p:cNvSpPr/>
          <p:nvPr/>
        </p:nvSpPr>
        <p:spPr>
          <a:xfrm>
            <a:off x="6537960" y="4325112"/>
            <a:ext cx="4690872" cy="1161288"/>
          </a:xfrm>
          <a:prstGeom prst="rect">
            <a:avLst/>
          </a:prstGeom>
          <a:noFill/>
          <a:ln/>
        </p:spPr>
        <p:txBody>
          <a:bodyPr wrap="square" lIns="0" tIns="0" rIns="0" bIns="0" rtlCol="0" anchor="t"/>
          <a:lstStyle/>
          <a:p>
            <a:pPr indent="0" marL="0">
              <a:lnSpc>
                <a:spcPts val="1875"/>
              </a:lnSpc>
              <a:buNone/>
            </a:pPr>
            <a:r>
              <a:rPr lang="en-US" sz="1500" dirty="0">
                <a:solidFill>
                  <a:srgbClr val="161617"/>
                </a:solidFill>
                <a:latin typeface="Calibri" pitchFamily="34" charset="0"/>
                <a:ea typeface="Calibri" pitchFamily="34" charset="-122"/>
                <a:cs typeface="Calibri" pitchFamily="34" charset="-120"/>
              </a:rPr>
              <a:t>1. run_team_simulation_reports.py --final builds the unversioned V4 artifacts.</a:t>
            </a:r>
            <a:endParaRPr lang="en-US" sz="1500" dirty="0"/>
          </a:p>
          <a:p>
            <a:pPr indent="0" marL="0">
              <a:lnSpc>
                <a:spcPts val="1875"/>
              </a:lnSpc>
              <a:buNone/>
            </a:pPr>
            <a:r>
              <a:rPr lang="en-US" sz="1500" dirty="0">
                <a:solidFill>
                  <a:srgbClr val="161617"/>
                </a:solidFill>
                <a:latin typeface="Calibri" pitchFamily="34" charset="0"/>
                <a:ea typeface="Calibri" pitchFamily="34" charset="-122"/>
                <a:cs typeface="Calibri" pitchFamily="34" charset="-120"/>
              </a:rPr>
              <a:t>2. eda_validation_checks.py --final must return a genuine PASS from the same checkout.</a:t>
            </a:r>
            <a:endParaRPr lang="en-US" sz="1500" dirty="0"/>
          </a:p>
          <a:p>
            <a:pPr indent="0" marL="0">
              <a:lnSpc>
                <a:spcPts val="1875"/>
              </a:lnSpc>
              <a:buNone/>
            </a:pPr>
            <a:r>
              <a:rPr lang="en-US" sz="1500" dirty="0">
                <a:solidFill>
                  <a:srgbClr val="161617"/>
                </a:solidFill>
                <a:latin typeface="Calibri" pitchFamily="34" charset="0"/>
                <a:ea typeface="Calibri" pitchFamily="34" charset="-122"/>
                <a:cs typeface="Calibri" pitchFamily="34" charset="-120"/>
              </a:rPr>
              <a:t>3. refresh_v4_report_outputs.py is a maintenance helper only.</a:t>
            </a:r>
            <a:endParaRPr lang="en-US" sz="1500" dirty="0"/>
          </a:p>
        </p:txBody>
      </p:sp>
      <p:sp>
        <p:nvSpPr>
          <p:cNvPr id="36" name="Text 34"/>
          <p:cNvSpPr/>
          <p:nvPr/>
        </p:nvSpPr>
        <p:spPr>
          <a:xfrm>
            <a:off x="6263640" y="5806440"/>
            <a:ext cx="5239512" cy="274320"/>
          </a:xfrm>
          <a:prstGeom prst="rect">
            <a:avLst/>
          </a:prstGeom>
          <a:noFill/>
          <a:ln/>
        </p:spPr>
        <p:txBody>
          <a:bodyPr wrap="square" lIns="0" tIns="0" rIns="0" bIns="0" rtlCol="0" anchor="t"/>
          <a:lstStyle/>
          <a:p>
            <a:pPr indent="0" marL="0">
              <a:buNone/>
            </a:pPr>
            <a:r>
              <a:rPr lang="en-US" sz="1400" i="1" dirty="0">
                <a:solidFill>
                  <a:srgbClr val="6E6E73"/>
                </a:solidFill>
                <a:latin typeface="Calibri" pitchFamily="34" charset="0"/>
                <a:ea typeface="Calibri" pitchFamily="34" charset="-122"/>
                <a:cs typeface="Calibri" pitchFamily="34" charset="-120"/>
              </a:rPr>
              <a:t>Python 3.12 · pinned requirements.txt · macOS XGBoost may need libomp · 360 caching resumes from valid per-match files.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26 / 28 · STATUS</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The data foundation is mature, but model acceptance is blocked</a:t>
            </a:r>
            <a:endParaRPr lang="en-US" sz="3500" dirty="0"/>
          </a:p>
        </p:txBody>
      </p:sp>
      <p:sp>
        <p:nvSpPr>
          <p:cNvPr id="4" name="Shape 2"/>
          <p:cNvSpPr/>
          <p:nvPr/>
        </p:nvSpPr>
        <p:spPr>
          <a:xfrm>
            <a:off x="685800" y="1874520"/>
            <a:ext cx="10817352" cy="777240"/>
          </a:xfrm>
          <a:prstGeom prst="roundRect">
            <a:avLst>
              <a:gd name="adj" fmla="val 7059"/>
            </a:avLst>
          </a:prstGeom>
          <a:solidFill>
            <a:srgbClr val="E1EDE8"/>
          </a:solidFill>
          <a:ln w="9525">
            <a:solidFill>
              <a:srgbClr val="E1EDE8"/>
            </a:solidFill>
            <a:prstDash val="solid"/>
          </a:ln>
        </p:spPr>
      </p:sp>
      <p:sp>
        <p:nvSpPr>
          <p:cNvPr id="5" name="Text 3"/>
          <p:cNvSpPr/>
          <p:nvPr/>
        </p:nvSpPr>
        <p:spPr>
          <a:xfrm>
            <a:off x="960120" y="2039112"/>
            <a:ext cx="2743200" cy="502920"/>
          </a:xfrm>
          <a:prstGeom prst="rect">
            <a:avLst/>
          </a:prstGeom>
          <a:noFill/>
          <a:ln/>
        </p:spPr>
        <p:txBody>
          <a:bodyPr wrap="square" lIns="0" tIns="0" rIns="0" bIns="0" rtlCol="0" anchor="t"/>
          <a:lstStyle/>
          <a:p>
            <a:pPr indent="0" marL="0">
              <a:lnSpc>
                <a:spcPts val="2000"/>
              </a:lnSpc>
              <a:buNone/>
            </a:pPr>
            <a:r>
              <a:rPr lang="en-US" sz="1700" b="1" dirty="0">
                <a:solidFill>
                  <a:srgbClr val="24775B"/>
                </a:solidFill>
                <a:latin typeface="Calibri" pitchFamily="34" charset="0"/>
                <a:ea typeface="Calibri" pitchFamily="34" charset="-122"/>
                <a:cs typeface="Calibri" pitchFamily="34" charset="-120"/>
              </a:rPr>
              <a:t>Validated foundation</a:t>
            </a:r>
            <a:endParaRPr lang="en-US" sz="1700" dirty="0"/>
          </a:p>
        </p:txBody>
      </p:sp>
      <p:sp>
        <p:nvSpPr>
          <p:cNvPr id="6" name="Text 4"/>
          <p:cNvSpPr/>
          <p:nvPr/>
        </p:nvSpPr>
        <p:spPr>
          <a:xfrm>
            <a:off x="3794760" y="1993392"/>
            <a:ext cx="7452360" cy="566928"/>
          </a:xfrm>
          <a:prstGeom prst="rect">
            <a:avLst/>
          </a:prstGeom>
          <a:noFill/>
          <a:ln/>
        </p:spPr>
        <p:txBody>
          <a:bodyPr wrap="square" lIns="0" tIns="0" rIns="0" bIns="0" rtlCol="0" anchor="t"/>
          <a:lstStyle/>
          <a:p>
            <a:pPr indent="0" marL="0">
              <a:lnSpc>
                <a:spcPts val="1700"/>
              </a:lnSpc>
              <a:buNone/>
            </a:pPr>
            <a:r>
              <a:rPr lang="en-US" sz="1400" dirty="0">
                <a:solidFill>
                  <a:srgbClr val="161617"/>
                </a:solidFill>
                <a:latin typeface="Calibri" pitchFamily="34" charset="0"/>
                <a:ea typeface="Calibri" pitchFamily="34" charset="-122"/>
                <a:cs typeface="Calibri" pitchFamily="34" charset="-120"/>
              </a:rPr>
              <a:t>Event acquisition and possession construction · 360 cache and spatial coverage · data dictionaries and validation reports · match-aware split infrastructure</a:t>
            </a:r>
            <a:endParaRPr lang="en-US" sz="1400" dirty="0"/>
          </a:p>
        </p:txBody>
      </p:sp>
      <p:sp>
        <p:nvSpPr>
          <p:cNvPr id="7" name="Shape 5"/>
          <p:cNvSpPr/>
          <p:nvPr/>
        </p:nvSpPr>
        <p:spPr>
          <a:xfrm>
            <a:off x="685800" y="2770632"/>
            <a:ext cx="10817352" cy="777240"/>
          </a:xfrm>
          <a:prstGeom prst="roundRect">
            <a:avLst>
              <a:gd name="adj" fmla="val 7059"/>
            </a:avLst>
          </a:prstGeom>
          <a:solidFill>
            <a:srgbClr val="E3EAFD"/>
          </a:solidFill>
          <a:ln w="9525">
            <a:solidFill>
              <a:srgbClr val="E3EAFD"/>
            </a:solidFill>
            <a:prstDash val="solid"/>
          </a:ln>
        </p:spPr>
      </p:sp>
      <p:sp>
        <p:nvSpPr>
          <p:cNvPr id="8" name="Text 6"/>
          <p:cNvSpPr/>
          <p:nvPr/>
        </p:nvSpPr>
        <p:spPr>
          <a:xfrm>
            <a:off x="960120" y="2935224"/>
            <a:ext cx="2743200" cy="502920"/>
          </a:xfrm>
          <a:prstGeom prst="rect">
            <a:avLst/>
          </a:prstGeom>
          <a:noFill/>
          <a:ln/>
        </p:spPr>
        <p:txBody>
          <a:bodyPr wrap="square" lIns="0" tIns="0" rIns="0" bIns="0" rtlCol="0" anchor="t"/>
          <a:lstStyle/>
          <a:p>
            <a:pPr indent="0" marL="0">
              <a:lnSpc>
                <a:spcPts val="2000"/>
              </a:lnSpc>
              <a:buNone/>
            </a:pPr>
            <a:r>
              <a:rPr lang="en-US" sz="1700" b="1" dirty="0">
                <a:solidFill>
                  <a:srgbClr val="3568F0"/>
                </a:solidFill>
                <a:latin typeface="Calibri" pitchFamily="34" charset="0"/>
                <a:ea typeface="Calibri" pitchFamily="34" charset="-122"/>
                <a:cs typeface="Calibri" pitchFamily="34" charset="-120"/>
              </a:rPr>
              <a:t>Current analytical snapshot</a:t>
            </a:r>
            <a:endParaRPr lang="en-US" sz="1700" dirty="0"/>
          </a:p>
        </p:txBody>
      </p:sp>
      <p:sp>
        <p:nvSpPr>
          <p:cNvPr id="9" name="Text 7"/>
          <p:cNvSpPr/>
          <p:nvPr/>
        </p:nvSpPr>
        <p:spPr>
          <a:xfrm>
            <a:off x="3794760" y="2889504"/>
            <a:ext cx="7452360" cy="566928"/>
          </a:xfrm>
          <a:prstGeom prst="rect">
            <a:avLst/>
          </a:prstGeom>
          <a:noFill/>
          <a:ln/>
        </p:spPr>
        <p:txBody>
          <a:bodyPr wrap="square" lIns="0" tIns="0" rIns="0" bIns="0" rtlCol="0" anchor="t"/>
          <a:lstStyle/>
          <a:p>
            <a:pPr indent="0" marL="0">
              <a:lnSpc>
                <a:spcPts val="1700"/>
              </a:lnSpc>
              <a:buNone/>
            </a:pPr>
            <a:r>
              <a:rPr lang="en-US" sz="1400" dirty="0">
                <a:solidFill>
                  <a:srgbClr val="161617"/>
                </a:solidFill>
                <a:latin typeface="Calibri" pitchFamily="34" charset="0"/>
                <a:ea typeface="Calibri" pitchFamily="34" charset="-122"/>
                <a:cs typeface="Calibri" pitchFamily="34" charset="-120"/>
              </a:rPr>
              <a:t>Attacking and defensive cluster pipelines · matchup tables and team profiles · retrospective benchmark and explanation artifacts · consolidated unversioned V4 reporting</a:t>
            </a:r>
            <a:endParaRPr lang="en-US" sz="1400" dirty="0"/>
          </a:p>
        </p:txBody>
      </p:sp>
      <p:sp>
        <p:nvSpPr>
          <p:cNvPr id="10" name="Shape 8"/>
          <p:cNvSpPr/>
          <p:nvPr/>
        </p:nvSpPr>
        <p:spPr>
          <a:xfrm>
            <a:off x="685800" y="3666744"/>
            <a:ext cx="10817352" cy="777240"/>
          </a:xfrm>
          <a:prstGeom prst="roundRect">
            <a:avLst>
              <a:gd name="adj" fmla="val 7059"/>
            </a:avLst>
          </a:prstGeom>
          <a:solidFill>
            <a:srgbClr val="F3EDE0"/>
          </a:solidFill>
          <a:ln w="9525">
            <a:solidFill>
              <a:srgbClr val="F3EDE0"/>
            </a:solidFill>
            <a:prstDash val="solid"/>
          </a:ln>
        </p:spPr>
      </p:sp>
      <p:sp>
        <p:nvSpPr>
          <p:cNvPr id="11" name="Text 9"/>
          <p:cNvSpPr/>
          <p:nvPr/>
        </p:nvSpPr>
        <p:spPr>
          <a:xfrm>
            <a:off x="960120" y="3831336"/>
            <a:ext cx="2743200" cy="502920"/>
          </a:xfrm>
          <a:prstGeom prst="rect">
            <a:avLst/>
          </a:prstGeom>
          <a:noFill/>
          <a:ln/>
        </p:spPr>
        <p:txBody>
          <a:bodyPr wrap="square" lIns="0" tIns="0" rIns="0" bIns="0" rtlCol="0" anchor="t"/>
          <a:lstStyle/>
          <a:p>
            <a:pPr indent="0" marL="0">
              <a:lnSpc>
                <a:spcPts val="2000"/>
              </a:lnSpc>
              <a:buNone/>
            </a:pPr>
            <a:r>
              <a:rPr lang="en-US" sz="1700" b="1" dirty="0">
                <a:solidFill>
                  <a:srgbClr val="A9741A"/>
                </a:solidFill>
                <a:latin typeface="Calibri" pitchFamily="34" charset="0"/>
                <a:ea typeface="Calibri" pitchFamily="34" charset="-122"/>
                <a:cs typeface="Calibri" pitchFamily="34" charset="-120"/>
              </a:rPr>
              <a:t>Provisional / experimental</a:t>
            </a:r>
            <a:endParaRPr lang="en-US" sz="1700" dirty="0"/>
          </a:p>
        </p:txBody>
      </p:sp>
      <p:sp>
        <p:nvSpPr>
          <p:cNvPr id="12" name="Text 10"/>
          <p:cNvSpPr/>
          <p:nvPr/>
        </p:nvSpPr>
        <p:spPr>
          <a:xfrm>
            <a:off x="3794760" y="3785616"/>
            <a:ext cx="7452360" cy="566928"/>
          </a:xfrm>
          <a:prstGeom prst="rect">
            <a:avLst/>
          </a:prstGeom>
          <a:noFill/>
          <a:ln/>
        </p:spPr>
        <p:txBody>
          <a:bodyPr wrap="square" lIns="0" tIns="0" rIns="0" bIns="0" rtlCol="0" anchor="t"/>
          <a:lstStyle/>
          <a:p>
            <a:pPr indent="0" marL="0">
              <a:lnSpc>
                <a:spcPts val="1700"/>
              </a:lnSpc>
              <a:buNone/>
            </a:pPr>
            <a:r>
              <a:rPr lang="en-US" sz="1400" dirty="0">
                <a:solidFill>
                  <a:srgbClr val="161617"/>
                </a:solidFill>
                <a:latin typeface="Calibri" pitchFamily="34" charset="0"/>
                <a:ea typeface="Calibri" pitchFamily="34" charset="-122"/>
                <a:cs typeface="Calibri" pitchFamily="34" charset="-120"/>
              </a:rPr>
              <a:t>Final architecture selection · recommendation policy · transition-risk models · player evaluation, lineup optimization, substitution logic · coach-facing reports</a:t>
            </a:r>
            <a:endParaRPr lang="en-US" sz="1400" dirty="0"/>
          </a:p>
        </p:txBody>
      </p:sp>
      <p:sp>
        <p:nvSpPr>
          <p:cNvPr id="13" name="Shape 11"/>
          <p:cNvSpPr/>
          <p:nvPr/>
        </p:nvSpPr>
        <p:spPr>
          <a:xfrm>
            <a:off x="685800" y="4562856"/>
            <a:ext cx="10817352" cy="777240"/>
          </a:xfrm>
          <a:prstGeom prst="roundRect">
            <a:avLst>
              <a:gd name="adj" fmla="val 7059"/>
            </a:avLst>
          </a:prstGeom>
          <a:solidFill>
            <a:srgbClr val="F9E7E8"/>
          </a:solidFill>
          <a:ln w="9525">
            <a:solidFill>
              <a:srgbClr val="F9E7E8"/>
            </a:solidFill>
            <a:prstDash val="solid"/>
          </a:ln>
        </p:spPr>
      </p:sp>
      <p:sp>
        <p:nvSpPr>
          <p:cNvPr id="14" name="Text 12"/>
          <p:cNvSpPr/>
          <p:nvPr/>
        </p:nvSpPr>
        <p:spPr>
          <a:xfrm>
            <a:off x="960120" y="4727448"/>
            <a:ext cx="2743200" cy="502920"/>
          </a:xfrm>
          <a:prstGeom prst="rect">
            <a:avLst/>
          </a:prstGeom>
          <a:noFill/>
          <a:ln/>
        </p:spPr>
        <p:txBody>
          <a:bodyPr wrap="square" lIns="0" tIns="0" rIns="0" bIns="0" rtlCol="0" anchor="t"/>
          <a:lstStyle/>
          <a:p>
            <a:pPr indent="0" marL="0">
              <a:lnSpc>
                <a:spcPts val="2000"/>
              </a:lnSpc>
              <a:buNone/>
            </a:pPr>
            <a:r>
              <a:rPr lang="en-US" sz="1700" b="1" dirty="0">
                <a:solidFill>
                  <a:srgbClr val="D44B52"/>
                </a:solidFill>
                <a:latin typeface="Calibri" pitchFamily="34" charset="0"/>
                <a:ea typeface="Calibri" pitchFamily="34" charset="-122"/>
                <a:cs typeface="Calibri" pitchFamily="34" charset="-120"/>
              </a:rPr>
              <a:t>Current blocker</a:t>
            </a:r>
            <a:endParaRPr lang="en-US" sz="1700" dirty="0"/>
          </a:p>
        </p:txBody>
      </p:sp>
      <p:sp>
        <p:nvSpPr>
          <p:cNvPr id="15" name="Text 13"/>
          <p:cNvSpPr/>
          <p:nvPr/>
        </p:nvSpPr>
        <p:spPr>
          <a:xfrm>
            <a:off x="3794760" y="4681728"/>
            <a:ext cx="7452360" cy="566928"/>
          </a:xfrm>
          <a:prstGeom prst="rect">
            <a:avLst/>
          </a:prstGeom>
          <a:noFill/>
          <a:ln/>
        </p:spPr>
        <p:txBody>
          <a:bodyPr wrap="square" lIns="0" tIns="0" rIns="0" bIns="0" rtlCol="0" anchor="t"/>
          <a:lstStyle/>
          <a:p>
            <a:pPr indent="0" marL="0">
              <a:lnSpc>
                <a:spcPts val="1700"/>
              </a:lnSpc>
              <a:buNone/>
            </a:pPr>
            <a:r>
              <a:rPr lang="en-US" sz="1400" dirty="0">
                <a:solidFill>
                  <a:srgbClr val="161617"/>
                </a:solidFill>
                <a:latin typeface="Calibri" pitchFamily="34" charset="0"/>
                <a:ea typeface="Calibri" pitchFamily="34" charset="-122"/>
                <a:cs typeface="Calibri" pitchFamily="34" charset="-120"/>
              </a:rPr>
              <a:t>15 of 16 gates pass · locked classifier expects play_pattern, generated table provides first_play_pattern · the committed PASS is stale · no release candidate until retrain, regenerate and rerun</a:t>
            </a:r>
            <a:endParaRPr lang="en-US" sz="1400" dirty="0"/>
          </a:p>
        </p:txBody>
      </p:sp>
      <p:sp>
        <p:nvSpPr>
          <p:cNvPr id="16" name="Shape 14"/>
          <p:cNvSpPr/>
          <p:nvPr/>
        </p:nvSpPr>
        <p:spPr>
          <a:xfrm>
            <a:off x="685800" y="5458968"/>
            <a:ext cx="10817352" cy="777240"/>
          </a:xfrm>
          <a:prstGeom prst="roundRect">
            <a:avLst>
              <a:gd name="adj" fmla="val 7059"/>
            </a:avLst>
          </a:prstGeom>
          <a:solidFill>
            <a:srgbClr val="ECECF0"/>
          </a:solidFill>
          <a:ln w="9525">
            <a:solidFill>
              <a:srgbClr val="ECECF0"/>
            </a:solidFill>
            <a:prstDash val="solid"/>
          </a:ln>
        </p:spPr>
      </p:sp>
      <p:sp>
        <p:nvSpPr>
          <p:cNvPr id="17" name="Text 15"/>
          <p:cNvSpPr/>
          <p:nvPr/>
        </p:nvSpPr>
        <p:spPr>
          <a:xfrm>
            <a:off x="960120" y="5623560"/>
            <a:ext cx="2743200" cy="502920"/>
          </a:xfrm>
          <a:prstGeom prst="rect">
            <a:avLst/>
          </a:prstGeom>
          <a:noFill/>
          <a:ln/>
        </p:spPr>
        <p:txBody>
          <a:bodyPr wrap="square" lIns="0" tIns="0" rIns="0" bIns="0" rtlCol="0" anchor="t"/>
          <a:lstStyle/>
          <a:p>
            <a:pPr indent="0" marL="0">
              <a:lnSpc>
                <a:spcPts val="2000"/>
              </a:lnSpc>
              <a:buNone/>
            </a:pPr>
            <a:r>
              <a:rPr lang="en-US" sz="1700" b="1" dirty="0">
                <a:solidFill>
                  <a:srgbClr val="6E6E73"/>
                </a:solidFill>
                <a:latin typeface="Calibri" pitchFamily="34" charset="0"/>
                <a:ea typeface="Calibri" pitchFamily="34" charset="-122"/>
                <a:cs typeface="Calibri" pitchFamily="34" charset="-120"/>
              </a:rPr>
              <a:t>Open</a:t>
            </a:r>
            <a:endParaRPr lang="en-US" sz="1700" dirty="0"/>
          </a:p>
        </p:txBody>
      </p:sp>
      <p:sp>
        <p:nvSpPr>
          <p:cNvPr id="18" name="Text 16"/>
          <p:cNvSpPr/>
          <p:nvPr/>
        </p:nvSpPr>
        <p:spPr>
          <a:xfrm>
            <a:off x="3794760" y="5577840"/>
            <a:ext cx="7452360" cy="566928"/>
          </a:xfrm>
          <a:prstGeom prst="rect">
            <a:avLst/>
          </a:prstGeom>
          <a:noFill/>
          <a:ln/>
        </p:spPr>
        <p:txBody>
          <a:bodyPr wrap="square" lIns="0" tIns="0" rIns="0" bIns="0" rtlCol="0" anchor="t"/>
          <a:lstStyle/>
          <a:p>
            <a:pPr indent="0" marL="0">
              <a:lnSpc>
                <a:spcPts val="1700"/>
              </a:lnSpc>
              <a:buNone/>
            </a:pPr>
            <a:r>
              <a:rPr lang="en-US" sz="1400" dirty="0">
                <a:solidFill>
                  <a:srgbClr val="161617"/>
                </a:solidFill>
                <a:latin typeface="Calibri" pitchFamily="34" charset="0"/>
                <a:ea typeface="Calibri" pitchFamily="34" charset="-122"/>
                <a:cs typeface="Calibri" pitchFamily="34" charset="-120"/>
              </a:rPr>
              <a:t>Fold-local or externally frozen clustering · nested or independent validation · early-window style prediction · tactical-flexibility analysis · causal recommendation design · final claim set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27 / 28 · PRIORITIES</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The next technical decisions determine whether the models are deployable</a:t>
            </a:r>
            <a:endParaRPr lang="en-US" sz="3500" dirty="0"/>
          </a:p>
        </p:txBody>
      </p:sp>
      <p:sp>
        <p:nvSpPr>
          <p:cNvPr id="4" name="Text 2"/>
          <p:cNvSpPr/>
          <p:nvPr/>
        </p:nvSpPr>
        <p:spPr>
          <a:xfrm>
            <a:off x="685800" y="1892808"/>
            <a:ext cx="384048" cy="274320"/>
          </a:xfrm>
          <a:prstGeom prst="rect">
            <a:avLst/>
          </a:prstGeom>
          <a:noFill/>
          <a:ln/>
        </p:spPr>
        <p:txBody>
          <a:bodyPr wrap="square" lIns="0" tIns="0" rIns="0" bIns="0" rtlCol="0" anchor="t"/>
          <a:lstStyle/>
          <a:p>
            <a:pPr indent="0" marL="0">
              <a:buNone/>
            </a:pPr>
            <a:r>
              <a:rPr lang="en-US" sz="1400" b="1" dirty="0">
                <a:solidFill>
                  <a:srgbClr val="D44B52"/>
                </a:solidFill>
                <a:latin typeface="Calibri" pitchFamily="34" charset="0"/>
                <a:ea typeface="Calibri" pitchFamily="34" charset="-122"/>
                <a:cs typeface="Calibri" pitchFamily="34" charset="-120"/>
              </a:rPr>
              <a:t>01</a:t>
            </a:r>
            <a:endParaRPr lang="en-US" sz="1400" dirty="0"/>
          </a:p>
        </p:txBody>
      </p:sp>
      <p:sp>
        <p:nvSpPr>
          <p:cNvPr id="5" name="Text 3"/>
          <p:cNvSpPr/>
          <p:nvPr/>
        </p:nvSpPr>
        <p:spPr>
          <a:xfrm>
            <a:off x="1124712" y="1874520"/>
            <a:ext cx="4754880" cy="512064"/>
          </a:xfrm>
          <a:prstGeom prst="rect">
            <a:avLst/>
          </a:prstGeom>
          <a:noFill/>
          <a:ln/>
        </p:spPr>
        <p:txBody>
          <a:bodyPr wrap="square" lIns="0" tIns="0" rIns="0" bIns="0" rtlCol="0" anchor="t"/>
          <a:lstStyle/>
          <a:p>
            <a:pPr indent="0" marL="0">
              <a:lnSpc>
                <a:spcPts val="1700"/>
              </a:lnSpc>
              <a:buNone/>
            </a:pPr>
            <a:r>
              <a:rPr lang="en-US" sz="1400" dirty="0">
                <a:solidFill>
                  <a:srgbClr val="161617"/>
                </a:solidFill>
                <a:latin typeface="Calibri" pitchFamily="34" charset="0"/>
                <a:ea typeface="Calibri" pitchFamily="34" charset="-122"/>
                <a:cs typeface="Calibri" pitchFamily="34" charset="-120"/>
              </a:rPr>
              <a:t>Repair the classifier feature contract — replace modal play_pattern with cutoff-safe first_play_pattern, then retrain the bundle</a:t>
            </a:r>
            <a:endParaRPr lang="en-US" sz="1400" dirty="0"/>
          </a:p>
        </p:txBody>
      </p:sp>
      <p:sp>
        <p:nvSpPr>
          <p:cNvPr id="6" name="Text 4"/>
          <p:cNvSpPr/>
          <p:nvPr/>
        </p:nvSpPr>
        <p:spPr>
          <a:xfrm>
            <a:off x="685800" y="2459736"/>
            <a:ext cx="384048" cy="274320"/>
          </a:xfrm>
          <a:prstGeom prst="rect">
            <a:avLst/>
          </a:prstGeom>
          <a:noFill/>
          <a:ln/>
        </p:spPr>
        <p:txBody>
          <a:bodyPr wrap="square" lIns="0" tIns="0" rIns="0" bIns="0" rtlCol="0" anchor="t"/>
          <a:lstStyle/>
          <a:p>
            <a:pPr indent="0" marL="0">
              <a:buNone/>
            </a:pPr>
            <a:r>
              <a:rPr lang="en-US" sz="1400" b="1" dirty="0">
                <a:solidFill>
                  <a:srgbClr val="D44B52"/>
                </a:solidFill>
                <a:latin typeface="Calibri" pitchFamily="34" charset="0"/>
                <a:ea typeface="Calibri" pitchFamily="34" charset="-122"/>
                <a:cs typeface="Calibri" pitchFamily="34" charset="-120"/>
              </a:rPr>
              <a:t>02</a:t>
            </a:r>
            <a:endParaRPr lang="en-US" sz="1400" dirty="0"/>
          </a:p>
        </p:txBody>
      </p:sp>
      <p:sp>
        <p:nvSpPr>
          <p:cNvPr id="7" name="Text 5"/>
          <p:cNvSpPr/>
          <p:nvPr/>
        </p:nvSpPr>
        <p:spPr>
          <a:xfrm>
            <a:off x="1124712" y="2441448"/>
            <a:ext cx="4754880" cy="512064"/>
          </a:xfrm>
          <a:prstGeom prst="rect">
            <a:avLst/>
          </a:prstGeom>
          <a:noFill/>
          <a:ln/>
        </p:spPr>
        <p:txBody>
          <a:bodyPr wrap="square" lIns="0" tIns="0" rIns="0" bIns="0" rtlCol="0" anchor="t"/>
          <a:lstStyle/>
          <a:p>
            <a:pPr indent="0" marL="0">
              <a:lnSpc>
                <a:spcPts val="1700"/>
              </a:lnSpc>
              <a:buNone/>
            </a:pPr>
            <a:r>
              <a:rPr lang="en-US" sz="1400" dirty="0">
                <a:solidFill>
                  <a:srgbClr val="161617"/>
                </a:solidFill>
                <a:latin typeface="Calibri" pitchFamily="34" charset="0"/>
                <a:ea typeface="Calibri" pitchFamily="34" charset="-122"/>
                <a:cs typeface="Calibri" pitchFamily="34" charset="-120"/>
              </a:rPr>
              <a:t>Regenerate recommendation features and all unversioned V4 artifacts, rerun eda_validation_checks.py --final, require 16 of 16</a:t>
            </a:r>
            <a:endParaRPr lang="en-US" sz="1400" dirty="0"/>
          </a:p>
        </p:txBody>
      </p:sp>
      <p:sp>
        <p:nvSpPr>
          <p:cNvPr id="8" name="Text 6"/>
          <p:cNvSpPr/>
          <p:nvPr/>
        </p:nvSpPr>
        <p:spPr>
          <a:xfrm>
            <a:off x="685800" y="3026664"/>
            <a:ext cx="384048" cy="274320"/>
          </a:xfrm>
          <a:prstGeom prst="rect">
            <a:avLst/>
          </a:prstGeom>
          <a:noFill/>
          <a:ln/>
        </p:spPr>
        <p:txBody>
          <a:bodyPr wrap="square" lIns="0" tIns="0" rIns="0" bIns="0" rtlCol="0" anchor="t"/>
          <a:lstStyle/>
          <a:p>
            <a:pPr indent="0" marL="0">
              <a:buNone/>
            </a:pPr>
            <a:r>
              <a:rPr lang="en-US" sz="1400" b="1" dirty="0">
                <a:solidFill>
                  <a:srgbClr val="D44B52"/>
                </a:solidFill>
                <a:latin typeface="Calibri" pitchFamily="34" charset="0"/>
                <a:ea typeface="Calibri" pitchFamily="34" charset="-122"/>
                <a:cs typeface="Calibri" pitchFamily="34" charset="-120"/>
              </a:rPr>
              <a:t>03</a:t>
            </a:r>
            <a:endParaRPr lang="en-US" sz="1400" dirty="0"/>
          </a:p>
        </p:txBody>
      </p:sp>
      <p:sp>
        <p:nvSpPr>
          <p:cNvPr id="9" name="Text 7"/>
          <p:cNvSpPr/>
          <p:nvPr/>
        </p:nvSpPr>
        <p:spPr>
          <a:xfrm>
            <a:off x="1124712" y="3008376"/>
            <a:ext cx="4754880" cy="512064"/>
          </a:xfrm>
          <a:prstGeom prst="rect">
            <a:avLst/>
          </a:prstGeom>
          <a:noFill/>
          <a:ln/>
        </p:spPr>
        <p:txBody>
          <a:bodyPr wrap="square" lIns="0" tIns="0" rIns="0" bIns="0" rtlCol="0" anchor="t"/>
          <a:lstStyle/>
          <a:p>
            <a:pPr indent="0" marL="0">
              <a:lnSpc>
                <a:spcPts val="1700"/>
              </a:lnSpc>
              <a:buNone/>
            </a:pPr>
            <a:r>
              <a:rPr lang="en-US" sz="1400" dirty="0">
                <a:solidFill>
                  <a:srgbClr val="161617"/>
                </a:solidFill>
                <a:latin typeface="Calibri" pitchFamily="34" charset="0"/>
                <a:ea typeface="Calibri" pitchFamily="34" charset="-122"/>
                <a:cs typeface="Calibri" pitchFamily="34" charset="-120"/>
              </a:rPr>
              <a:t>Remove obsolete v3/ and final_v3/ paths from refresh_v4_report_outputs.py</a:t>
            </a:r>
            <a:endParaRPr lang="en-US" sz="1400" dirty="0"/>
          </a:p>
        </p:txBody>
      </p:sp>
      <p:sp>
        <p:nvSpPr>
          <p:cNvPr id="10" name="Text 8"/>
          <p:cNvSpPr/>
          <p:nvPr/>
        </p:nvSpPr>
        <p:spPr>
          <a:xfrm>
            <a:off x="685800" y="3593592"/>
            <a:ext cx="384048" cy="274320"/>
          </a:xfrm>
          <a:prstGeom prst="rect">
            <a:avLst/>
          </a:prstGeom>
          <a:noFill/>
          <a:ln/>
        </p:spPr>
        <p:txBody>
          <a:bodyPr wrap="square" lIns="0" tIns="0" rIns="0" bIns="0" rtlCol="0" anchor="t"/>
          <a:lstStyle/>
          <a:p>
            <a:pPr indent="0" marL="0">
              <a:buNone/>
            </a:pPr>
            <a:r>
              <a:rPr lang="en-US" sz="1400" b="1" dirty="0">
                <a:solidFill>
                  <a:srgbClr val="3568F0"/>
                </a:solidFill>
                <a:latin typeface="Calibri" pitchFamily="34" charset="0"/>
                <a:ea typeface="Calibri" pitchFamily="34" charset="-122"/>
                <a:cs typeface="Calibri" pitchFamily="34" charset="-120"/>
              </a:rPr>
              <a:t>04</a:t>
            </a:r>
            <a:endParaRPr lang="en-US" sz="1400" dirty="0"/>
          </a:p>
        </p:txBody>
      </p:sp>
      <p:sp>
        <p:nvSpPr>
          <p:cNvPr id="11" name="Text 9"/>
          <p:cNvSpPr/>
          <p:nvPr/>
        </p:nvSpPr>
        <p:spPr>
          <a:xfrm>
            <a:off x="1124712" y="3575304"/>
            <a:ext cx="4754880" cy="512064"/>
          </a:xfrm>
          <a:prstGeom prst="rect">
            <a:avLst/>
          </a:prstGeom>
          <a:noFill/>
          <a:ln/>
        </p:spPr>
        <p:txBody>
          <a:bodyPr wrap="square" lIns="0" tIns="0" rIns="0" bIns="0" rtlCol="0" anchor="t"/>
          <a:lstStyle/>
          <a:p>
            <a:pPr indent="0" marL="0">
              <a:lnSpc>
                <a:spcPts val="1700"/>
              </a:lnSpc>
              <a:buNone/>
            </a:pPr>
            <a:r>
              <a:rPr lang="en-US" sz="1400" dirty="0">
                <a:solidFill>
                  <a:srgbClr val="161617"/>
                </a:solidFill>
                <a:latin typeface="Calibri" pitchFamily="34" charset="0"/>
                <a:ea typeface="Calibri" pitchFamily="34" charset="-122"/>
                <a:cs typeface="Calibri" pitchFamily="34" charset="-120"/>
              </a:rPr>
              <a:t>Declare the intended prediction cutoff</a:t>
            </a:r>
            <a:endParaRPr lang="en-US" sz="1400" dirty="0"/>
          </a:p>
        </p:txBody>
      </p:sp>
      <p:sp>
        <p:nvSpPr>
          <p:cNvPr id="12" name="Text 10"/>
          <p:cNvSpPr/>
          <p:nvPr/>
        </p:nvSpPr>
        <p:spPr>
          <a:xfrm>
            <a:off x="685800" y="4160520"/>
            <a:ext cx="384048" cy="274320"/>
          </a:xfrm>
          <a:prstGeom prst="rect">
            <a:avLst/>
          </a:prstGeom>
          <a:noFill/>
          <a:ln/>
        </p:spPr>
        <p:txBody>
          <a:bodyPr wrap="square" lIns="0" tIns="0" rIns="0" bIns="0" rtlCol="0" anchor="t"/>
          <a:lstStyle/>
          <a:p>
            <a:pPr indent="0" marL="0">
              <a:buNone/>
            </a:pPr>
            <a:r>
              <a:rPr lang="en-US" sz="1400" b="1" dirty="0">
                <a:solidFill>
                  <a:srgbClr val="3568F0"/>
                </a:solidFill>
                <a:latin typeface="Calibri" pitchFamily="34" charset="0"/>
                <a:ea typeface="Calibri" pitchFamily="34" charset="-122"/>
                <a:cs typeface="Calibri" pitchFamily="34" charset="-120"/>
              </a:rPr>
              <a:t>05</a:t>
            </a:r>
            <a:endParaRPr lang="en-US" sz="1400" dirty="0"/>
          </a:p>
        </p:txBody>
      </p:sp>
      <p:sp>
        <p:nvSpPr>
          <p:cNvPr id="13" name="Text 11"/>
          <p:cNvSpPr/>
          <p:nvPr/>
        </p:nvSpPr>
        <p:spPr>
          <a:xfrm>
            <a:off x="1124712" y="4142232"/>
            <a:ext cx="4754880" cy="512064"/>
          </a:xfrm>
          <a:prstGeom prst="rect">
            <a:avLst/>
          </a:prstGeom>
          <a:noFill/>
          <a:ln/>
        </p:spPr>
        <p:txBody>
          <a:bodyPr wrap="square" lIns="0" tIns="0" rIns="0" bIns="0" rtlCol="0" anchor="t"/>
          <a:lstStyle/>
          <a:p>
            <a:pPr indent="0" marL="0">
              <a:lnSpc>
                <a:spcPts val="1700"/>
              </a:lnSpc>
              <a:buNone/>
            </a:pPr>
            <a:r>
              <a:rPr lang="en-US" sz="1400" dirty="0">
                <a:solidFill>
                  <a:srgbClr val="161617"/>
                </a:solidFill>
                <a:latin typeface="Calibri" pitchFamily="34" charset="0"/>
                <a:ea typeface="Calibri" pitchFamily="34" charset="-122"/>
                <a:cs typeface="Calibri" pitchFamily="34" charset="-120"/>
              </a:rPr>
              <a:t>Lock separate retrospective and prospective problem definitions</a:t>
            </a:r>
            <a:endParaRPr lang="en-US" sz="1400" dirty="0"/>
          </a:p>
        </p:txBody>
      </p:sp>
      <p:sp>
        <p:nvSpPr>
          <p:cNvPr id="14" name="Text 12"/>
          <p:cNvSpPr/>
          <p:nvPr/>
        </p:nvSpPr>
        <p:spPr>
          <a:xfrm>
            <a:off x="685800" y="4727448"/>
            <a:ext cx="384048" cy="274320"/>
          </a:xfrm>
          <a:prstGeom prst="rect">
            <a:avLst/>
          </a:prstGeom>
          <a:noFill/>
          <a:ln/>
        </p:spPr>
        <p:txBody>
          <a:bodyPr wrap="square" lIns="0" tIns="0" rIns="0" bIns="0" rtlCol="0" anchor="t"/>
          <a:lstStyle/>
          <a:p>
            <a:pPr indent="0" marL="0">
              <a:buNone/>
            </a:pPr>
            <a:r>
              <a:rPr lang="en-US" sz="1400" b="1" dirty="0">
                <a:solidFill>
                  <a:srgbClr val="3568F0"/>
                </a:solidFill>
                <a:latin typeface="Calibri" pitchFamily="34" charset="0"/>
                <a:ea typeface="Calibri" pitchFamily="34" charset="-122"/>
                <a:cs typeface="Calibri" pitchFamily="34" charset="-120"/>
              </a:rPr>
              <a:t>06</a:t>
            </a:r>
            <a:endParaRPr lang="en-US" sz="1400" dirty="0"/>
          </a:p>
        </p:txBody>
      </p:sp>
      <p:sp>
        <p:nvSpPr>
          <p:cNvPr id="15" name="Text 13"/>
          <p:cNvSpPr/>
          <p:nvPr/>
        </p:nvSpPr>
        <p:spPr>
          <a:xfrm>
            <a:off x="1124712" y="4709160"/>
            <a:ext cx="4754880" cy="512064"/>
          </a:xfrm>
          <a:prstGeom prst="rect">
            <a:avLst/>
          </a:prstGeom>
          <a:noFill/>
          <a:ln/>
        </p:spPr>
        <p:txBody>
          <a:bodyPr wrap="square" lIns="0" tIns="0" rIns="0" bIns="0" rtlCol="0" anchor="t"/>
          <a:lstStyle/>
          <a:p>
            <a:pPr indent="0" marL="0">
              <a:lnSpc>
                <a:spcPts val="1700"/>
              </a:lnSpc>
              <a:buNone/>
            </a:pPr>
            <a:r>
              <a:rPr lang="en-US" sz="1400" dirty="0">
                <a:solidFill>
                  <a:srgbClr val="161617"/>
                </a:solidFill>
                <a:latin typeface="Calibri" pitchFamily="34" charset="0"/>
                <a:ea typeface="Calibri" pitchFamily="34" charset="-122"/>
                <a:cs typeface="Calibri" pitchFamily="34" charset="-120"/>
              </a:rPr>
              <a:t>Fit style construction inside folds, or freeze it externally</a:t>
            </a:r>
            <a:endParaRPr lang="en-US" sz="1400" dirty="0"/>
          </a:p>
        </p:txBody>
      </p:sp>
      <p:sp>
        <p:nvSpPr>
          <p:cNvPr id="16" name="Text 14"/>
          <p:cNvSpPr/>
          <p:nvPr/>
        </p:nvSpPr>
        <p:spPr>
          <a:xfrm>
            <a:off x="6309360" y="1892808"/>
            <a:ext cx="384048" cy="274320"/>
          </a:xfrm>
          <a:prstGeom prst="rect">
            <a:avLst/>
          </a:prstGeom>
          <a:noFill/>
          <a:ln/>
        </p:spPr>
        <p:txBody>
          <a:bodyPr wrap="square" lIns="0" tIns="0" rIns="0" bIns="0" rtlCol="0" anchor="t"/>
          <a:lstStyle/>
          <a:p>
            <a:pPr indent="0" marL="0">
              <a:buNone/>
            </a:pPr>
            <a:r>
              <a:rPr lang="en-US" sz="1400" b="1" dirty="0">
                <a:solidFill>
                  <a:srgbClr val="3568F0"/>
                </a:solidFill>
                <a:latin typeface="Calibri" pitchFamily="34" charset="0"/>
                <a:ea typeface="Calibri" pitchFamily="34" charset="-122"/>
                <a:cs typeface="Calibri" pitchFamily="34" charset="-120"/>
              </a:rPr>
              <a:t>07</a:t>
            </a:r>
            <a:endParaRPr lang="en-US" sz="1400" dirty="0"/>
          </a:p>
        </p:txBody>
      </p:sp>
      <p:sp>
        <p:nvSpPr>
          <p:cNvPr id="17" name="Text 15"/>
          <p:cNvSpPr/>
          <p:nvPr/>
        </p:nvSpPr>
        <p:spPr>
          <a:xfrm>
            <a:off x="6748272" y="1874520"/>
            <a:ext cx="4754880" cy="512064"/>
          </a:xfrm>
          <a:prstGeom prst="rect">
            <a:avLst/>
          </a:prstGeom>
          <a:noFill/>
          <a:ln/>
        </p:spPr>
        <p:txBody>
          <a:bodyPr wrap="square" lIns="0" tIns="0" rIns="0" bIns="0" rtlCol="0" anchor="t"/>
          <a:lstStyle/>
          <a:p>
            <a:pPr indent="0" marL="0">
              <a:lnSpc>
                <a:spcPts val="1700"/>
              </a:lnSpc>
              <a:buNone/>
            </a:pPr>
            <a:r>
              <a:rPr lang="en-US" sz="1400" dirty="0">
                <a:solidFill>
                  <a:srgbClr val="161617"/>
                </a:solidFill>
                <a:latin typeface="Calibri" pitchFamily="34" charset="0"/>
                <a:ea typeface="Calibri" pitchFamily="34" charset="-122"/>
                <a:cs typeface="Calibri" pitchFamily="34" charset="-120"/>
              </a:rPr>
              <a:t>Make player-position lookup fold-local</a:t>
            </a:r>
            <a:endParaRPr lang="en-US" sz="1400" dirty="0"/>
          </a:p>
        </p:txBody>
      </p:sp>
      <p:sp>
        <p:nvSpPr>
          <p:cNvPr id="18" name="Text 16"/>
          <p:cNvSpPr/>
          <p:nvPr/>
        </p:nvSpPr>
        <p:spPr>
          <a:xfrm>
            <a:off x="6309360" y="2459736"/>
            <a:ext cx="384048" cy="274320"/>
          </a:xfrm>
          <a:prstGeom prst="rect">
            <a:avLst/>
          </a:prstGeom>
          <a:noFill/>
          <a:ln/>
        </p:spPr>
        <p:txBody>
          <a:bodyPr wrap="square" lIns="0" tIns="0" rIns="0" bIns="0" rtlCol="0" anchor="t"/>
          <a:lstStyle/>
          <a:p>
            <a:pPr indent="0" marL="0">
              <a:buNone/>
            </a:pPr>
            <a:r>
              <a:rPr lang="en-US" sz="1400" b="1" dirty="0">
                <a:solidFill>
                  <a:srgbClr val="3568F0"/>
                </a:solidFill>
                <a:latin typeface="Calibri" pitchFamily="34" charset="0"/>
                <a:ea typeface="Calibri" pitchFamily="34" charset="-122"/>
                <a:cs typeface="Calibri" pitchFamily="34" charset="-120"/>
              </a:rPr>
              <a:t>08</a:t>
            </a:r>
            <a:endParaRPr lang="en-US" sz="1400" dirty="0"/>
          </a:p>
        </p:txBody>
      </p:sp>
      <p:sp>
        <p:nvSpPr>
          <p:cNvPr id="19" name="Text 17"/>
          <p:cNvSpPr/>
          <p:nvPr/>
        </p:nvSpPr>
        <p:spPr>
          <a:xfrm>
            <a:off x="6748272" y="2441448"/>
            <a:ext cx="4754880" cy="512064"/>
          </a:xfrm>
          <a:prstGeom prst="rect">
            <a:avLst/>
          </a:prstGeom>
          <a:noFill/>
          <a:ln/>
        </p:spPr>
        <p:txBody>
          <a:bodyPr wrap="square" lIns="0" tIns="0" rIns="0" bIns="0" rtlCol="0" anchor="t"/>
          <a:lstStyle/>
          <a:p>
            <a:pPr indent="0" marL="0">
              <a:lnSpc>
                <a:spcPts val="1700"/>
              </a:lnSpc>
              <a:buNone/>
            </a:pPr>
            <a:r>
              <a:rPr lang="en-US" sz="1400" dirty="0">
                <a:solidFill>
                  <a:srgbClr val="161617"/>
                </a:solidFill>
                <a:latin typeface="Calibri" pitchFamily="34" charset="0"/>
                <a:ea typeface="Calibri" pitchFamily="34" charset="-122"/>
                <a:cs typeface="Calibri" pitchFamily="34" charset="-120"/>
              </a:rPr>
              <a:t>Use nested cross-validation or an independent tournament</a:t>
            </a:r>
            <a:endParaRPr lang="en-US" sz="1400" dirty="0"/>
          </a:p>
        </p:txBody>
      </p:sp>
      <p:sp>
        <p:nvSpPr>
          <p:cNvPr id="20" name="Text 18"/>
          <p:cNvSpPr/>
          <p:nvPr/>
        </p:nvSpPr>
        <p:spPr>
          <a:xfrm>
            <a:off x="6309360" y="3026664"/>
            <a:ext cx="384048" cy="274320"/>
          </a:xfrm>
          <a:prstGeom prst="rect">
            <a:avLst/>
          </a:prstGeom>
          <a:noFill/>
          <a:ln/>
        </p:spPr>
        <p:txBody>
          <a:bodyPr wrap="square" lIns="0" tIns="0" rIns="0" bIns="0" rtlCol="0" anchor="t"/>
          <a:lstStyle/>
          <a:p>
            <a:pPr indent="0" marL="0">
              <a:buNone/>
            </a:pPr>
            <a:r>
              <a:rPr lang="en-US" sz="1400" b="1" dirty="0">
                <a:solidFill>
                  <a:srgbClr val="3568F0"/>
                </a:solidFill>
                <a:latin typeface="Calibri" pitchFamily="34" charset="0"/>
                <a:ea typeface="Calibri" pitchFamily="34" charset="-122"/>
                <a:cs typeface="Calibri" pitchFamily="34" charset="-120"/>
              </a:rPr>
              <a:t>09</a:t>
            </a:r>
            <a:endParaRPr lang="en-US" sz="1400" dirty="0"/>
          </a:p>
        </p:txBody>
      </p:sp>
      <p:sp>
        <p:nvSpPr>
          <p:cNvPr id="21" name="Text 19"/>
          <p:cNvSpPr/>
          <p:nvPr/>
        </p:nvSpPr>
        <p:spPr>
          <a:xfrm>
            <a:off x="6748272" y="3008376"/>
            <a:ext cx="4754880" cy="512064"/>
          </a:xfrm>
          <a:prstGeom prst="rect">
            <a:avLst/>
          </a:prstGeom>
          <a:noFill/>
          <a:ln/>
        </p:spPr>
        <p:txBody>
          <a:bodyPr wrap="square" lIns="0" tIns="0" rIns="0" bIns="0" rtlCol="0" anchor="t"/>
          <a:lstStyle/>
          <a:p>
            <a:pPr indent="0" marL="0">
              <a:lnSpc>
                <a:spcPts val="1700"/>
              </a:lnSpc>
              <a:buNone/>
            </a:pPr>
            <a:r>
              <a:rPr lang="en-US" sz="1400" dirty="0">
                <a:solidFill>
                  <a:srgbClr val="161617"/>
                </a:solidFill>
                <a:latin typeface="Calibri" pitchFamily="34" charset="0"/>
                <a:ea typeface="Calibri" pitchFamily="34" charset="-122"/>
                <a:cs typeface="Calibri" pitchFamily="34" charset="-120"/>
              </a:rPr>
              <a:t>Finalize rare-event targets and success metrics</a:t>
            </a:r>
            <a:endParaRPr lang="en-US" sz="1400" dirty="0"/>
          </a:p>
        </p:txBody>
      </p:sp>
      <p:sp>
        <p:nvSpPr>
          <p:cNvPr id="22" name="Text 20"/>
          <p:cNvSpPr/>
          <p:nvPr/>
        </p:nvSpPr>
        <p:spPr>
          <a:xfrm>
            <a:off x="6309360" y="3593592"/>
            <a:ext cx="384048" cy="274320"/>
          </a:xfrm>
          <a:prstGeom prst="rect">
            <a:avLst/>
          </a:prstGeom>
          <a:noFill/>
          <a:ln/>
        </p:spPr>
        <p:txBody>
          <a:bodyPr wrap="square" lIns="0" tIns="0" rIns="0" bIns="0" rtlCol="0" anchor="t"/>
          <a:lstStyle/>
          <a:p>
            <a:pPr indent="0" marL="0">
              <a:buNone/>
            </a:pPr>
            <a:r>
              <a:rPr lang="en-US" sz="1400" b="1" dirty="0">
                <a:solidFill>
                  <a:srgbClr val="3568F0"/>
                </a:solidFill>
                <a:latin typeface="Calibri" pitchFamily="34" charset="0"/>
                <a:ea typeface="Calibri" pitchFamily="34" charset="-122"/>
                <a:cs typeface="Calibri" pitchFamily="34" charset="-120"/>
              </a:rPr>
              <a:t>10</a:t>
            </a:r>
            <a:endParaRPr lang="en-US" sz="1400" dirty="0"/>
          </a:p>
        </p:txBody>
      </p:sp>
      <p:sp>
        <p:nvSpPr>
          <p:cNvPr id="23" name="Text 21"/>
          <p:cNvSpPr/>
          <p:nvPr/>
        </p:nvSpPr>
        <p:spPr>
          <a:xfrm>
            <a:off x="6748272" y="3575304"/>
            <a:ext cx="4754880" cy="512064"/>
          </a:xfrm>
          <a:prstGeom prst="rect">
            <a:avLst/>
          </a:prstGeom>
          <a:noFill/>
          <a:ln/>
        </p:spPr>
        <p:txBody>
          <a:bodyPr wrap="square" lIns="0" tIns="0" rIns="0" bIns="0" rtlCol="0" anchor="t"/>
          <a:lstStyle/>
          <a:p>
            <a:pPr indent="0" marL="0">
              <a:lnSpc>
                <a:spcPts val="1700"/>
              </a:lnSpc>
              <a:buNone/>
            </a:pPr>
            <a:r>
              <a:rPr lang="en-US" sz="1400" dirty="0">
                <a:solidFill>
                  <a:srgbClr val="161617"/>
                </a:solidFill>
                <a:latin typeface="Calibri" pitchFamily="34" charset="0"/>
                <a:ea typeface="Calibri" pitchFamily="34" charset="-122"/>
                <a:cs typeface="Calibri" pitchFamily="34" charset="-120"/>
              </a:rPr>
              <a:t>Decide whether recommendation stays observational or gets a causal design</a:t>
            </a:r>
            <a:endParaRPr lang="en-US" sz="1400" dirty="0"/>
          </a:p>
        </p:txBody>
      </p:sp>
      <p:sp>
        <p:nvSpPr>
          <p:cNvPr id="24" name="Text 22"/>
          <p:cNvSpPr/>
          <p:nvPr/>
        </p:nvSpPr>
        <p:spPr>
          <a:xfrm>
            <a:off x="6309360" y="4160520"/>
            <a:ext cx="384048" cy="274320"/>
          </a:xfrm>
          <a:prstGeom prst="rect">
            <a:avLst/>
          </a:prstGeom>
          <a:noFill/>
          <a:ln/>
        </p:spPr>
        <p:txBody>
          <a:bodyPr wrap="square" lIns="0" tIns="0" rIns="0" bIns="0" rtlCol="0" anchor="t"/>
          <a:lstStyle/>
          <a:p>
            <a:pPr indent="0" marL="0">
              <a:buNone/>
            </a:pPr>
            <a:r>
              <a:rPr lang="en-US" sz="1400" b="1" dirty="0">
                <a:solidFill>
                  <a:srgbClr val="3568F0"/>
                </a:solidFill>
                <a:latin typeface="Calibri" pitchFamily="34" charset="0"/>
                <a:ea typeface="Calibri" pitchFamily="34" charset="-122"/>
                <a:cs typeface="Calibri" pitchFamily="34" charset="-120"/>
              </a:rPr>
              <a:t>11</a:t>
            </a:r>
            <a:endParaRPr lang="en-US" sz="1400" dirty="0"/>
          </a:p>
        </p:txBody>
      </p:sp>
      <p:sp>
        <p:nvSpPr>
          <p:cNvPr id="25" name="Text 23"/>
          <p:cNvSpPr/>
          <p:nvPr/>
        </p:nvSpPr>
        <p:spPr>
          <a:xfrm>
            <a:off x="6748272" y="4142232"/>
            <a:ext cx="4754880" cy="512064"/>
          </a:xfrm>
          <a:prstGeom prst="rect">
            <a:avLst/>
          </a:prstGeom>
          <a:noFill/>
          <a:ln/>
        </p:spPr>
        <p:txBody>
          <a:bodyPr wrap="square" lIns="0" tIns="0" rIns="0" bIns="0" rtlCol="0" anchor="t"/>
          <a:lstStyle/>
          <a:p>
            <a:pPr indent="0" marL="0">
              <a:lnSpc>
                <a:spcPts val="1700"/>
              </a:lnSpc>
              <a:buNone/>
            </a:pPr>
            <a:r>
              <a:rPr lang="en-US" sz="1400" dirty="0">
                <a:solidFill>
                  <a:srgbClr val="161617"/>
                </a:solidFill>
                <a:latin typeface="Calibri" pitchFamily="34" charset="0"/>
                <a:ea typeface="Calibri" pitchFamily="34" charset="-122"/>
                <a:cs typeface="Calibri" pitchFamily="34" charset="-120"/>
              </a:rPr>
              <a:t>Use the unversioned V4 pipeline as the only production path</a:t>
            </a:r>
            <a:endParaRPr lang="en-US" sz="1400" dirty="0"/>
          </a:p>
        </p:txBody>
      </p:sp>
      <p:sp>
        <p:nvSpPr>
          <p:cNvPr id="26" name="Text 24"/>
          <p:cNvSpPr/>
          <p:nvPr/>
        </p:nvSpPr>
        <p:spPr>
          <a:xfrm>
            <a:off x="6309360" y="4727448"/>
            <a:ext cx="384048" cy="274320"/>
          </a:xfrm>
          <a:prstGeom prst="rect">
            <a:avLst/>
          </a:prstGeom>
          <a:noFill/>
          <a:ln/>
        </p:spPr>
        <p:txBody>
          <a:bodyPr wrap="square" lIns="0" tIns="0" rIns="0" bIns="0" rtlCol="0" anchor="t"/>
          <a:lstStyle/>
          <a:p>
            <a:pPr indent="0" marL="0">
              <a:buNone/>
            </a:pPr>
            <a:r>
              <a:rPr lang="en-US" sz="1400" b="1" dirty="0">
                <a:solidFill>
                  <a:srgbClr val="3568F0"/>
                </a:solidFill>
                <a:latin typeface="Calibri" pitchFamily="34" charset="0"/>
                <a:ea typeface="Calibri" pitchFamily="34" charset="-122"/>
                <a:cs typeface="Calibri" pitchFamily="34" charset="-120"/>
              </a:rPr>
              <a:t>12</a:t>
            </a:r>
            <a:endParaRPr lang="en-US" sz="1400" dirty="0"/>
          </a:p>
        </p:txBody>
      </p:sp>
      <p:sp>
        <p:nvSpPr>
          <p:cNvPr id="27" name="Text 25"/>
          <p:cNvSpPr/>
          <p:nvPr/>
        </p:nvSpPr>
        <p:spPr>
          <a:xfrm>
            <a:off x="6748272" y="4709160"/>
            <a:ext cx="4754880" cy="512064"/>
          </a:xfrm>
          <a:prstGeom prst="rect">
            <a:avLst/>
          </a:prstGeom>
          <a:noFill/>
          <a:ln/>
        </p:spPr>
        <p:txBody>
          <a:bodyPr wrap="square" lIns="0" tIns="0" rIns="0" bIns="0" rtlCol="0" anchor="t"/>
          <a:lstStyle/>
          <a:p>
            <a:pPr indent="0" marL="0">
              <a:lnSpc>
                <a:spcPts val="1700"/>
              </a:lnSpc>
              <a:buNone/>
            </a:pPr>
            <a:r>
              <a:rPr lang="en-US" sz="1400" dirty="0">
                <a:solidFill>
                  <a:srgbClr val="161617"/>
                </a:solidFill>
                <a:latin typeface="Calibri" pitchFamily="34" charset="0"/>
                <a:ea typeface="Calibri" pitchFamily="34" charset="-122"/>
                <a:cs typeface="Calibri" pitchFamily="34" charset="-120"/>
              </a:rPr>
              <a:t>Lock a reproducible release candidate before publishing conclusions</a:t>
            </a:r>
            <a:endParaRPr lang="en-US" sz="1400" dirty="0"/>
          </a:p>
        </p:txBody>
      </p:sp>
      <p:sp>
        <p:nvSpPr>
          <p:cNvPr id="28" name="Shape 26"/>
          <p:cNvSpPr/>
          <p:nvPr/>
        </p:nvSpPr>
        <p:spPr>
          <a:xfrm>
            <a:off x="685800" y="5440680"/>
            <a:ext cx="10817352" cy="960120"/>
          </a:xfrm>
          <a:prstGeom prst="roundRect">
            <a:avLst>
              <a:gd name="adj" fmla="val 5714"/>
            </a:avLst>
          </a:prstGeom>
          <a:solidFill>
            <a:srgbClr val="161617"/>
          </a:solidFill>
          <a:ln w="9525">
            <a:solidFill>
              <a:srgbClr val="161617"/>
            </a:solidFill>
            <a:prstDash val="solid"/>
          </a:ln>
        </p:spPr>
      </p:sp>
      <p:sp>
        <p:nvSpPr>
          <p:cNvPr id="29" name="Text 27"/>
          <p:cNvSpPr/>
          <p:nvPr/>
        </p:nvSpPr>
        <p:spPr>
          <a:xfrm>
            <a:off x="960120" y="5641848"/>
            <a:ext cx="10268712" cy="621792"/>
          </a:xfrm>
          <a:prstGeom prst="rect">
            <a:avLst/>
          </a:prstGeom>
          <a:noFill/>
          <a:ln/>
        </p:spPr>
        <p:txBody>
          <a:bodyPr wrap="square" lIns="0" tIns="0" rIns="0" bIns="0" rtlCol="0" anchor="t"/>
          <a:lstStyle/>
          <a:p>
            <a:pPr indent="0" marL="0">
              <a:lnSpc>
                <a:spcPts val="2250"/>
              </a:lnSpc>
              <a:buNone/>
            </a:pPr>
            <a:r>
              <a:rPr lang="en-US" sz="1800" b="1" dirty="0">
                <a:solidFill>
                  <a:srgbClr val="FFFFFF"/>
                </a:solidFill>
                <a:latin typeface="Calibri" pitchFamily="34" charset="0"/>
                <a:ea typeface="Calibri" pitchFamily="34" charset="-122"/>
                <a:cs typeface="Calibri" pitchFamily="34" charset="-120"/>
              </a:rPr>
              <a:t>No model moves from experiment to recommendation until its information cutoff, validation population, uncertainty and failure modes are explicit.</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28 / 28 · OPERATING MODEL</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A new member should start by reproducing one vertical slice</a:t>
            </a:r>
            <a:endParaRPr lang="en-US" sz="3500" dirty="0"/>
          </a:p>
        </p:txBody>
      </p:sp>
      <p:sp>
        <p:nvSpPr>
          <p:cNvPr id="4" name="Text 2"/>
          <p:cNvSpPr/>
          <p:nvPr/>
        </p:nvSpPr>
        <p:spPr>
          <a:xfrm>
            <a:off x="685800" y="1874520"/>
            <a:ext cx="5852160" cy="384048"/>
          </a:xfrm>
          <a:prstGeom prst="rect">
            <a:avLst/>
          </a:prstGeom>
          <a:noFill/>
          <a:ln/>
        </p:spPr>
        <p:txBody>
          <a:bodyPr wrap="square" lIns="0" tIns="0" rIns="0" bIns="0" rtlCol="0" anchor="t"/>
          <a:lstStyle/>
          <a:p>
            <a:pPr indent="0" marL="0">
              <a:buNone/>
            </a:pPr>
            <a:r>
              <a:rPr lang="en-US" sz="2200" b="1" dirty="0">
                <a:solidFill>
                  <a:srgbClr val="161617"/>
                </a:solidFill>
                <a:latin typeface="Calibri" pitchFamily="34" charset="0"/>
                <a:ea typeface="Calibri" pitchFamily="34" charset="-122"/>
                <a:cs typeface="Calibri" pitchFamily="34" charset="-120"/>
              </a:rPr>
              <a:t>Your first week</a:t>
            </a:r>
            <a:endParaRPr lang="en-US" sz="2200" dirty="0"/>
          </a:p>
        </p:txBody>
      </p:sp>
      <p:sp>
        <p:nvSpPr>
          <p:cNvPr id="5" name="Text 3"/>
          <p:cNvSpPr/>
          <p:nvPr/>
        </p:nvSpPr>
        <p:spPr>
          <a:xfrm>
            <a:off x="685800" y="2414016"/>
            <a:ext cx="274320" cy="256032"/>
          </a:xfrm>
          <a:prstGeom prst="rect">
            <a:avLst/>
          </a:prstGeom>
          <a:noFill/>
          <a:ln/>
        </p:spPr>
        <p:txBody>
          <a:bodyPr wrap="square" lIns="0" tIns="0" rIns="0" bIns="0" rtlCol="0" anchor="t"/>
          <a:lstStyle/>
          <a:p>
            <a:pPr indent="0" marL="0">
              <a:buNone/>
            </a:pPr>
            <a:r>
              <a:rPr lang="en-US" sz="1300" b="1" dirty="0">
                <a:solidFill>
                  <a:srgbClr val="3568F0"/>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005840" y="2395728"/>
            <a:ext cx="5532120" cy="365760"/>
          </a:xfrm>
          <a:prstGeom prst="rect">
            <a:avLst/>
          </a:prstGeom>
          <a:noFill/>
          <a:ln/>
        </p:spPr>
        <p:txBody>
          <a:bodyPr wrap="square" lIns="0" tIns="0" rIns="0" bIns="0" rtlCol="0" anchor="t"/>
          <a:lstStyle/>
          <a:p>
            <a:pPr indent="0" marL="0">
              <a:buNone/>
            </a:pPr>
            <a:r>
              <a:rPr lang="en-US" sz="1500" dirty="0">
                <a:solidFill>
                  <a:srgbClr val="161617"/>
                </a:solidFill>
                <a:latin typeface="Calibri" pitchFamily="34" charset="0"/>
                <a:ea typeface="Calibri" pitchFamily="34" charset="-122"/>
                <a:cs typeface="Calibri" pitchFamily="34" charset="-120"/>
              </a:rPr>
              <a:t>Read info.md, README.md and stage5_leakage_audit.md</a:t>
            </a:r>
            <a:endParaRPr lang="en-US" sz="1500" dirty="0"/>
          </a:p>
        </p:txBody>
      </p:sp>
      <p:sp>
        <p:nvSpPr>
          <p:cNvPr id="7" name="Text 5"/>
          <p:cNvSpPr/>
          <p:nvPr/>
        </p:nvSpPr>
        <p:spPr>
          <a:xfrm>
            <a:off x="685800" y="2798064"/>
            <a:ext cx="274320" cy="256032"/>
          </a:xfrm>
          <a:prstGeom prst="rect">
            <a:avLst/>
          </a:prstGeom>
          <a:noFill/>
          <a:ln/>
        </p:spPr>
        <p:txBody>
          <a:bodyPr wrap="square" lIns="0" tIns="0" rIns="0" bIns="0" rtlCol="0" anchor="t"/>
          <a:lstStyle/>
          <a:p>
            <a:pPr indent="0" marL="0">
              <a:buNone/>
            </a:pPr>
            <a:r>
              <a:rPr lang="en-US" sz="1300" b="1" dirty="0">
                <a:solidFill>
                  <a:srgbClr val="3568F0"/>
                </a:solidFill>
                <a:latin typeface="Calibri" pitchFamily="34" charset="0"/>
                <a:ea typeface="Calibri" pitchFamily="34" charset="-122"/>
                <a:cs typeface="Calibri" pitchFamily="34" charset="-120"/>
              </a:rPr>
              <a:t>2</a:t>
            </a:r>
            <a:endParaRPr lang="en-US" sz="1300" dirty="0"/>
          </a:p>
        </p:txBody>
      </p:sp>
      <p:sp>
        <p:nvSpPr>
          <p:cNvPr id="8" name="Text 6"/>
          <p:cNvSpPr/>
          <p:nvPr/>
        </p:nvSpPr>
        <p:spPr>
          <a:xfrm>
            <a:off x="1005840" y="2779776"/>
            <a:ext cx="5532120" cy="365760"/>
          </a:xfrm>
          <a:prstGeom prst="rect">
            <a:avLst/>
          </a:prstGeom>
          <a:noFill/>
          <a:ln/>
        </p:spPr>
        <p:txBody>
          <a:bodyPr wrap="square" lIns="0" tIns="0" rIns="0" bIns="0" rtlCol="0" anchor="t"/>
          <a:lstStyle/>
          <a:p>
            <a:pPr indent="0" marL="0">
              <a:buNone/>
            </a:pPr>
            <a:r>
              <a:rPr lang="en-US" sz="1500" dirty="0">
                <a:solidFill>
                  <a:srgbClr val="161617"/>
                </a:solidFill>
                <a:latin typeface="Calibri" pitchFamily="34" charset="0"/>
                <a:ea typeface="Calibri" pitchFamily="34" charset="-122"/>
                <a:cs typeface="Calibri" pitchFamily="34" charset="-120"/>
              </a:rPr>
              <a:t>Set up the Python 3.12 environment</a:t>
            </a:r>
            <a:endParaRPr lang="en-US" sz="1500" dirty="0"/>
          </a:p>
        </p:txBody>
      </p:sp>
      <p:sp>
        <p:nvSpPr>
          <p:cNvPr id="9" name="Text 7"/>
          <p:cNvSpPr/>
          <p:nvPr/>
        </p:nvSpPr>
        <p:spPr>
          <a:xfrm>
            <a:off x="685800" y="3182112"/>
            <a:ext cx="274320" cy="256032"/>
          </a:xfrm>
          <a:prstGeom prst="rect">
            <a:avLst/>
          </a:prstGeom>
          <a:noFill/>
          <a:ln/>
        </p:spPr>
        <p:txBody>
          <a:bodyPr wrap="square" lIns="0" tIns="0" rIns="0" bIns="0" rtlCol="0" anchor="t"/>
          <a:lstStyle/>
          <a:p>
            <a:pPr indent="0" marL="0">
              <a:buNone/>
            </a:pPr>
            <a:r>
              <a:rPr lang="en-US" sz="1300" b="1" dirty="0">
                <a:solidFill>
                  <a:srgbClr val="3568F0"/>
                </a:solidFill>
                <a:latin typeface="Calibri" pitchFamily="34" charset="0"/>
                <a:ea typeface="Calibri" pitchFamily="34" charset="-122"/>
                <a:cs typeface="Calibri" pitchFamily="34" charset="-120"/>
              </a:rPr>
              <a:t>3</a:t>
            </a:r>
            <a:endParaRPr lang="en-US" sz="1300" dirty="0"/>
          </a:p>
        </p:txBody>
      </p:sp>
      <p:sp>
        <p:nvSpPr>
          <p:cNvPr id="10" name="Text 8"/>
          <p:cNvSpPr/>
          <p:nvPr/>
        </p:nvSpPr>
        <p:spPr>
          <a:xfrm>
            <a:off x="1005840" y="3163824"/>
            <a:ext cx="5532120" cy="365760"/>
          </a:xfrm>
          <a:prstGeom prst="rect">
            <a:avLst/>
          </a:prstGeom>
          <a:noFill/>
          <a:ln/>
        </p:spPr>
        <p:txBody>
          <a:bodyPr wrap="square" lIns="0" tIns="0" rIns="0" bIns="0" rtlCol="0" anchor="t"/>
          <a:lstStyle/>
          <a:p>
            <a:pPr indent="0" marL="0">
              <a:buNone/>
            </a:pPr>
            <a:r>
              <a:rPr lang="en-US" sz="1500" dirty="0">
                <a:solidFill>
                  <a:srgbClr val="161617"/>
                </a:solidFill>
                <a:latin typeface="Calibri" pitchFamily="34" charset="0"/>
                <a:ea typeface="Calibri" pitchFamily="34" charset="-122"/>
                <a:cs typeface="Calibri" pitchFamily="34" charset="-120"/>
              </a:rPr>
              <a:t>Inspect the possession data dictionary</a:t>
            </a:r>
            <a:endParaRPr lang="en-US" sz="1500" dirty="0"/>
          </a:p>
        </p:txBody>
      </p:sp>
      <p:sp>
        <p:nvSpPr>
          <p:cNvPr id="11" name="Text 9"/>
          <p:cNvSpPr/>
          <p:nvPr/>
        </p:nvSpPr>
        <p:spPr>
          <a:xfrm>
            <a:off x="685800" y="3566160"/>
            <a:ext cx="274320" cy="256032"/>
          </a:xfrm>
          <a:prstGeom prst="rect">
            <a:avLst/>
          </a:prstGeom>
          <a:noFill/>
          <a:ln/>
        </p:spPr>
        <p:txBody>
          <a:bodyPr wrap="square" lIns="0" tIns="0" rIns="0" bIns="0" rtlCol="0" anchor="t"/>
          <a:lstStyle/>
          <a:p>
            <a:pPr indent="0" marL="0">
              <a:buNone/>
            </a:pPr>
            <a:r>
              <a:rPr lang="en-US" sz="1300" b="1" dirty="0">
                <a:solidFill>
                  <a:srgbClr val="3568F0"/>
                </a:solidFill>
                <a:latin typeface="Calibri" pitchFamily="34" charset="0"/>
                <a:ea typeface="Calibri" pitchFamily="34" charset="-122"/>
                <a:cs typeface="Calibri" pitchFamily="34" charset="-120"/>
              </a:rPr>
              <a:t>4</a:t>
            </a:r>
            <a:endParaRPr lang="en-US" sz="1300" dirty="0"/>
          </a:p>
        </p:txBody>
      </p:sp>
      <p:sp>
        <p:nvSpPr>
          <p:cNvPr id="12" name="Text 10"/>
          <p:cNvSpPr/>
          <p:nvPr/>
        </p:nvSpPr>
        <p:spPr>
          <a:xfrm>
            <a:off x="1005840" y="3547872"/>
            <a:ext cx="5532120" cy="365760"/>
          </a:xfrm>
          <a:prstGeom prst="rect">
            <a:avLst/>
          </a:prstGeom>
          <a:noFill/>
          <a:ln/>
        </p:spPr>
        <p:txBody>
          <a:bodyPr wrap="square" lIns="0" tIns="0" rIns="0" bIns="0" rtlCol="0" anchor="t"/>
          <a:lstStyle/>
          <a:p>
            <a:pPr indent="0" marL="0">
              <a:buNone/>
            </a:pPr>
            <a:r>
              <a:rPr lang="en-US" sz="1500" dirty="0">
                <a:solidFill>
                  <a:srgbClr val="161617"/>
                </a:solidFill>
                <a:latin typeface="Calibri" pitchFamily="34" charset="0"/>
                <a:ea typeface="Calibri" pitchFamily="34" charset="-122"/>
                <a:cs typeface="Calibri" pitchFamily="34" charset="-120"/>
              </a:rPr>
              <a:t>Reproduce one stage and its validation report</a:t>
            </a:r>
            <a:endParaRPr lang="en-US" sz="1500" dirty="0"/>
          </a:p>
        </p:txBody>
      </p:sp>
      <p:sp>
        <p:nvSpPr>
          <p:cNvPr id="13" name="Text 11"/>
          <p:cNvSpPr/>
          <p:nvPr/>
        </p:nvSpPr>
        <p:spPr>
          <a:xfrm>
            <a:off x="685800" y="3950208"/>
            <a:ext cx="274320" cy="256032"/>
          </a:xfrm>
          <a:prstGeom prst="rect">
            <a:avLst/>
          </a:prstGeom>
          <a:noFill/>
          <a:ln/>
        </p:spPr>
        <p:txBody>
          <a:bodyPr wrap="square" lIns="0" tIns="0" rIns="0" bIns="0" rtlCol="0" anchor="t"/>
          <a:lstStyle/>
          <a:p>
            <a:pPr indent="0" marL="0">
              <a:buNone/>
            </a:pPr>
            <a:r>
              <a:rPr lang="en-US" sz="1300" b="1" dirty="0">
                <a:solidFill>
                  <a:srgbClr val="3568F0"/>
                </a:solidFill>
                <a:latin typeface="Calibri" pitchFamily="34" charset="0"/>
                <a:ea typeface="Calibri" pitchFamily="34" charset="-122"/>
                <a:cs typeface="Calibri" pitchFamily="34" charset="-120"/>
              </a:rPr>
              <a:t>5</a:t>
            </a:r>
            <a:endParaRPr lang="en-US" sz="1300" dirty="0"/>
          </a:p>
        </p:txBody>
      </p:sp>
      <p:sp>
        <p:nvSpPr>
          <p:cNvPr id="14" name="Text 12"/>
          <p:cNvSpPr/>
          <p:nvPr/>
        </p:nvSpPr>
        <p:spPr>
          <a:xfrm>
            <a:off x="1005840" y="3931920"/>
            <a:ext cx="5532120" cy="365760"/>
          </a:xfrm>
          <a:prstGeom prst="rect">
            <a:avLst/>
          </a:prstGeom>
          <a:noFill/>
          <a:ln/>
        </p:spPr>
        <p:txBody>
          <a:bodyPr wrap="square" lIns="0" tIns="0" rIns="0" bIns="0" rtlCol="0" anchor="t"/>
          <a:lstStyle/>
          <a:p>
            <a:pPr indent="0" marL="0">
              <a:buNone/>
            </a:pPr>
            <a:r>
              <a:rPr lang="en-US" sz="1500" dirty="0">
                <a:solidFill>
                  <a:srgbClr val="161617"/>
                </a:solidFill>
                <a:latin typeface="Calibri" pitchFamily="34" charset="0"/>
                <a:ea typeface="Calibri" pitchFamily="34" charset="-122"/>
                <a:cs typeface="Calibri" pitchFamily="34" charset="-120"/>
              </a:rPr>
              <a:t>Trace one possession from raw events to final features</a:t>
            </a:r>
            <a:endParaRPr lang="en-US" sz="1500" dirty="0"/>
          </a:p>
        </p:txBody>
      </p:sp>
      <p:sp>
        <p:nvSpPr>
          <p:cNvPr id="15" name="Text 13"/>
          <p:cNvSpPr/>
          <p:nvPr/>
        </p:nvSpPr>
        <p:spPr>
          <a:xfrm>
            <a:off x="685800" y="4334256"/>
            <a:ext cx="274320" cy="256032"/>
          </a:xfrm>
          <a:prstGeom prst="rect">
            <a:avLst/>
          </a:prstGeom>
          <a:noFill/>
          <a:ln/>
        </p:spPr>
        <p:txBody>
          <a:bodyPr wrap="square" lIns="0" tIns="0" rIns="0" bIns="0" rtlCol="0" anchor="t"/>
          <a:lstStyle/>
          <a:p>
            <a:pPr indent="0" marL="0">
              <a:buNone/>
            </a:pPr>
            <a:r>
              <a:rPr lang="en-US" sz="1300" b="1" dirty="0">
                <a:solidFill>
                  <a:srgbClr val="3568F0"/>
                </a:solidFill>
                <a:latin typeface="Calibri" pitchFamily="34" charset="0"/>
                <a:ea typeface="Calibri" pitchFamily="34" charset="-122"/>
                <a:cs typeface="Calibri" pitchFamily="34" charset="-120"/>
              </a:rPr>
              <a:t>6</a:t>
            </a:r>
            <a:endParaRPr lang="en-US" sz="1300" dirty="0"/>
          </a:p>
        </p:txBody>
      </p:sp>
      <p:sp>
        <p:nvSpPr>
          <p:cNvPr id="16" name="Text 14"/>
          <p:cNvSpPr/>
          <p:nvPr/>
        </p:nvSpPr>
        <p:spPr>
          <a:xfrm>
            <a:off x="1005840" y="4315968"/>
            <a:ext cx="5532120" cy="365760"/>
          </a:xfrm>
          <a:prstGeom prst="rect">
            <a:avLst/>
          </a:prstGeom>
          <a:noFill/>
          <a:ln/>
        </p:spPr>
        <p:txBody>
          <a:bodyPr wrap="square" lIns="0" tIns="0" rIns="0" bIns="0" rtlCol="0" anchor="t"/>
          <a:lstStyle/>
          <a:p>
            <a:pPr indent="0" marL="0">
              <a:buNone/>
            </a:pPr>
            <a:r>
              <a:rPr lang="en-US" sz="1500" dirty="0">
                <a:solidFill>
                  <a:srgbClr val="161617"/>
                </a:solidFill>
                <a:latin typeface="Calibri" pitchFamily="34" charset="0"/>
                <a:ea typeface="Calibri" pitchFamily="34" charset="-122"/>
                <a:cs typeface="Calibri" pitchFamily="34" charset="-120"/>
              </a:rPr>
              <a:t>Review one model's feature list for timing and leakage</a:t>
            </a:r>
            <a:endParaRPr lang="en-US" sz="1500" dirty="0"/>
          </a:p>
        </p:txBody>
      </p:sp>
      <p:sp>
        <p:nvSpPr>
          <p:cNvPr id="17" name="Text 15"/>
          <p:cNvSpPr/>
          <p:nvPr/>
        </p:nvSpPr>
        <p:spPr>
          <a:xfrm>
            <a:off x="685800" y="4718304"/>
            <a:ext cx="274320" cy="256032"/>
          </a:xfrm>
          <a:prstGeom prst="rect">
            <a:avLst/>
          </a:prstGeom>
          <a:noFill/>
          <a:ln/>
        </p:spPr>
        <p:txBody>
          <a:bodyPr wrap="square" lIns="0" tIns="0" rIns="0" bIns="0" rtlCol="0" anchor="t"/>
          <a:lstStyle/>
          <a:p>
            <a:pPr indent="0" marL="0">
              <a:buNone/>
            </a:pPr>
            <a:r>
              <a:rPr lang="en-US" sz="1300" b="1" dirty="0">
                <a:solidFill>
                  <a:srgbClr val="3568F0"/>
                </a:solidFill>
                <a:latin typeface="Calibri" pitchFamily="34" charset="0"/>
                <a:ea typeface="Calibri" pitchFamily="34" charset="-122"/>
                <a:cs typeface="Calibri" pitchFamily="34" charset="-120"/>
              </a:rPr>
              <a:t>7</a:t>
            </a:r>
            <a:endParaRPr lang="en-US" sz="1300" dirty="0"/>
          </a:p>
        </p:txBody>
      </p:sp>
      <p:sp>
        <p:nvSpPr>
          <p:cNvPr id="18" name="Text 16"/>
          <p:cNvSpPr/>
          <p:nvPr/>
        </p:nvSpPr>
        <p:spPr>
          <a:xfrm>
            <a:off x="1005840" y="4700016"/>
            <a:ext cx="5532120" cy="365760"/>
          </a:xfrm>
          <a:prstGeom prst="rect">
            <a:avLst/>
          </a:prstGeom>
          <a:noFill/>
          <a:ln/>
        </p:spPr>
        <p:txBody>
          <a:bodyPr wrap="square" lIns="0" tIns="0" rIns="0" bIns="0" rtlCol="0" anchor="t"/>
          <a:lstStyle/>
          <a:p>
            <a:pPr indent="0" marL="0">
              <a:buNone/>
            </a:pPr>
            <a:r>
              <a:rPr lang="en-US" sz="1500" dirty="0">
                <a:solidFill>
                  <a:srgbClr val="161617"/>
                </a:solidFill>
                <a:latin typeface="Calibri" pitchFamily="34" charset="0"/>
                <a:ea typeface="Calibri" pitchFamily="34" charset="-122"/>
                <a:cs typeface="Calibri" pitchFamily="34" charset="-120"/>
              </a:rPr>
              <a:t>Compare the saved bundle schema with the generated table</a:t>
            </a:r>
            <a:endParaRPr lang="en-US" sz="1500" dirty="0"/>
          </a:p>
        </p:txBody>
      </p:sp>
      <p:sp>
        <p:nvSpPr>
          <p:cNvPr id="19" name="Text 17"/>
          <p:cNvSpPr/>
          <p:nvPr/>
        </p:nvSpPr>
        <p:spPr>
          <a:xfrm>
            <a:off x="685800" y="5102352"/>
            <a:ext cx="274320" cy="256032"/>
          </a:xfrm>
          <a:prstGeom prst="rect">
            <a:avLst/>
          </a:prstGeom>
          <a:noFill/>
          <a:ln/>
        </p:spPr>
        <p:txBody>
          <a:bodyPr wrap="square" lIns="0" tIns="0" rIns="0" bIns="0" rtlCol="0" anchor="t"/>
          <a:lstStyle/>
          <a:p>
            <a:pPr indent="0" marL="0">
              <a:buNone/>
            </a:pPr>
            <a:r>
              <a:rPr lang="en-US" sz="1300" b="1" dirty="0">
                <a:solidFill>
                  <a:srgbClr val="3568F0"/>
                </a:solidFill>
                <a:latin typeface="Calibri" pitchFamily="34" charset="0"/>
                <a:ea typeface="Calibri" pitchFamily="34" charset="-122"/>
                <a:cs typeface="Calibri" pitchFamily="34" charset="-120"/>
              </a:rPr>
              <a:t>8</a:t>
            </a:r>
            <a:endParaRPr lang="en-US" sz="1300" dirty="0"/>
          </a:p>
        </p:txBody>
      </p:sp>
      <p:sp>
        <p:nvSpPr>
          <p:cNvPr id="20" name="Text 18"/>
          <p:cNvSpPr/>
          <p:nvPr/>
        </p:nvSpPr>
        <p:spPr>
          <a:xfrm>
            <a:off x="1005840" y="5084064"/>
            <a:ext cx="5532120" cy="365760"/>
          </a:xfrm>
          <a:prstGeom prst="rect">
            <a:avLst/>
          </a:prstGeom>
          <a:noFill/>
          <a:ln/>
        </p:spPr>
        <p:txBody>
          <a:bodyPr wrap="square" lIns="0" tIns="0" rIns="0" bIns="0" rtlCol="0" anchor="t"/>
          <a:lstStyle/>
          <a:p>
            <a:pPr indent="0" marL="0">
              <a:buNone/>
            </a:pPr>
            <a:r>
              <a:rPr lang="en-US" sz="1500" dirty="0">
                <a:solidFill>
                  <a:srgbClr val="161617"/>
                </a:solidFill>
                <a:latin typeface="Calibri" pitchFamily="34" charset="0"/>
                <a:ea typeface="Calibri" pitchFamily="34" charset="-122"/>
                <a:cs typeface="Calibri" pitchFamily="34" charset="-120"/>
              </a:rPr>
              <a:t>Choose one bounded contribution with a testable acceptance criterion</a:t>
            </a:r>
            <a:endParaRPr lang="en-US" sz="1500" dirty="0"/>
          </a:p>
        </p:txBody>
      </p:sp>
      <p:sp>
        <p:nvSpPr>
          <p:cNvPr id="21" name="Text 19"/>
          <p:cNvSpPr/>
          <p:nvPr/>
        </p:nvSpPr>
        <p:spPr>
          <a:xfrm>
            <a:off x="6903720" y="1874520"/>
            <a:ext cx="4599432" cy="384048"/>
          </a:xfrm>
          <a:prstGeom prst="rect">
            <a:avLst/>
          </a:prstGeom>
          <a:noFill/>
          <a:ln/>
        </p:spPr>
        <p:txBody>
          <a:bodyPr wrap="square" lIns="0" tIns="0" rIns="0" bIns="0" rtlCol="0" anchor="t"/>
          <a:lstStyle/>
          <a:p>
            <a:pPr indent="0" marL="0">
              <a:buNone/>
            </a:pPr>
            <a:r>
              <a:rPr lang="en-US" sz="2200" b="1" dirty="0">
                <a:solidFill>
                  <a:srgbClr val="161617"/>
                </a:solidFill>
                <a:latin typeface="Calibri" pitchFamily="34" charset="0"/>
                <a:ea typeface="Calibri" pitchFamily="34" charset="-122"/>
                <a:cs typeface="Calibri" pitchFamily="34" charset="-120"/>
              </a:rPr>
              <a:t>Starter workstreams</a:t>
            </a:r>
            <a:endParaRPr lang="en-US" sz="2200" dirty="0"/>
          </a:p>
        </p:txBody>
      </p:sp>
      <p:sp>
        <p:nvSpPr>
          <p:cNvPr id="22" name="Text 20"/>
          <p:cNvSpPr/>
          <p:nvPr/>
        </p:nvSpPr>
        <p:spPr>
          <a:xfrm>
            <a:off x="6903720" y="2395728"/>
            <a:ext cx="4599432" cy="914400"/>
          </a:xfrm>
          <a:prstGeom prst="rect">
            <a:avLst/>
          </a:prstGeom>
          <a:noFill/>
          <a:ln/>
        </p:spPr>
        <p:txBody>
          <a:bodyPr wrap="square" lIns="0" tIns="0" rIns="0" bIns="0" rtlCol="0" anchor="t"/>
          <a:lstStyle/>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Validation and data-quality tests</a:t>
            </a:r>
            <a:endParaRPr lang="en-US" sz="1500" dirty="0"/>
          </a:p>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Fold-local feature construction</a:t>
            </a:r>
            <a:endParaRPr lang="en-US" sz="1500" dirty="0"/>
          </a:p>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Early-window style classifier</a:t>
            </a:r>
            <a:endParaRPr lang="en-US" sz="1500" dirty="0"/>
          </a:p>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Tactical-flexibility metric</a:t>
            </a:r>
            <a:endParaRPr lang="en-US" sz="1500" dirty="0"/>
          </a:p>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Documentation and version cleanup</a:t>
            </a:r>
            <a:endParaRPr lang="en-US" sz="1500" dirty="0"/>
          </a:p>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Rare-event evaluation</a:t>
            </a:r>
            <a:endParaRPr lang="en-US" sz="1500" dirty="0"/>
          </a:p>
          <a:p>
            <a:pPr marL="177800" indent="-177800">
              <a:lnSpc>
                <a:spcPts val="1830"/>
              </a:lnSpc>
              <a:spcAft>
                <a:spcPts val="600"/>
              </a:spcAft>
              <a:buSzPct val="100000"/>
              <a:buChar char="•"/>
            </a:pPr>
            <a:r>
              <a:rPr lang="en-US" sz="1500" dirty="0">
                <a:solidFill>
                  <a:srgbClr val="161617"/>
                </a:solidFill>
                <a:latin typeface="Calibri" pitchFamily="34" charset="0"/>
                <a:ea typeface="Calibri" pitchFamily="34" charset="-122"/>
                <a:cs typeface="Calibri" pitchFamily="34" charset="-120"/>
              </a:rPr>
              <a:t>Report claim auditing</a:t>
            </a:r>
            <a:endParaRPr lang="en-US" sz="1500" dirty="0"/>
          </a:p>
        </p:txBody>
      </p:sp>
      <p:sp>
        <p:nvSpPr>
          <p:cNvPr id="23" name="Shape 21"/>
          <p:cNvSpPr/>
          <p:nvPr/>
        </p:nvSpPr>
        <p:spPr>
          <a:xfrm>
            <a:off x="685800" y="5504688"/>
            <a:ext cx="10817352" cy="914400"/>
          </a:xfrm>
          <a:prstGeom prst="roundRect">
            <a:avLst>
              <a:gd name="adj" fmla="val 6000"/>
            </a:avLst>
          </a:prstGeom>
          <a:solidFill>
            <a:srgbClr val="161617"/>
          </a:solidFill>
          <a:ln w="9525">
            <a:solidFill>
              <a:srgbClr val="161617"/>
            </a:solidFill>
            <a:prstDash val="solid"/>
          </a:ln>
        </p:spPr>
      </p:sp>
      <p:sp>
        <p:nvSpPr>
          <p:cNvPr id="24" name="Text 22"/>
          <p:cNvSpPr/>
          <p:nvPr/>
        </p:nvSpPr>
        <p:spPr>
          <a:xfrm>
            <a:off x="960120" y="5705856"/>
            <a:ext cx="10268712" cy="576072"/>
          </a:xfrm>
          <a:prstGeom prst="rect">
            <a:avLst/>
          </a:prstGeom>
          <a:noFill/>
          <a:ln/>
        </p:spPr>
        <p:txBody>
          <a:bodyPr wrap="square" lIns="0" tIns="0" rIns="0" bIns="0" rtlCol="0" anchor="t"/>
          <a:lstStyle/>
          <a:p>
            <a:pPr indent="0" marL="0">
              <a:lnSpc>
                <a:spcPts val="2500"/>
              </a:lnSpc>
              <a:buNone/>
            </a:pPr>
            <a:r>
              <a:rPr lang="en-US" sz="2000" b="1" dirty="0">
                <a:solidFill>
                  <a:srgbClr val="FFFFFF"/>
                </a:solidFill>
                <a:latin typeface="Calibri" pitchFamily="34" charset="0"/>
                <a:ea typeface="Calibri" pitchFamily="34" charset="-122"/>
                <a:cs typeface="Calibri" pitchFamily="34" charset="-120"/>
              </a:rPr>
              <a:t>Understand the information boundary first. Improve the model second. Communicate only what the validation supports.</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61617"/>
        </a:solidFill>
      </p:bgPr>
    </p:bg>
    <p:spTree>
      <p:nvGrpSpPr>
        <p:cNvPr id="1" name=""/>
        <p:cNvGrpSpPr/>
        <p:nvPr/>
      </p:nvGrpSpPr>
      <p:grpSpPr>
        <a:xfrm>
          <a:off x="0" y="0"/>
          <a:ext cx="0" cy="0"/>
          <a:chOff x="0" y="0"/>
          <a:chExt cx="0" cy="0"/>
        </a:xfrm>
      </p:grpSpPr>
      <p:sp>
        <p:nvSpPr>
          <p:cNvPr id="2" name="Text 0"/>
          <p:cNvSpPr/>
          <p:nvPr/>
        </p:nvSpPr>
        <p:spPr>
          <a:xfrm>
            <a:off x="822960" y="2788920"/>
            <a:ext cx="7315200" cy="365760"/>
          </a:xfrm>
          <a:prstGeom prst="rect">
            <a:avLst/>
          </a:prstGeom>
          <a:noFill/>
          <a:ln/>
        </p:spPr>
        <p:txBody>
          <a:bodyPr wrap="square" lIns="0" tIns="0" rIns="0" bIns="0" rtlCol="0" anchor="t"/>
          <a:lstStyle/>
          <a:p>
            <a:pPr indent="0" marL="0">
              <a:buNone/>
            </a:pPr>
            <a:r>
              <a:rPr lang="en-US" sz="1400" b="1" spc="200" kern="0" dirty="0">
                <a:solidFill>
                  <a:srgbClr val="9A9AA2"/>
                </a:solidFill>
                <a:latin typeface="Calibri" pitchFamily="34" charset="0"/>
                <a:ea typeface="Calibri" pitchFamily="34" charset="-122"/>
                <a:cs typeface="Calibri" pitchFamily="34" charset="-120"/>
              </a:rPr>
              <a:t>TECHNICAL APPENDIX</a:t>
            </a:r>
            <a:endParaRPr lang="en-US" sz="1400" dirty="0"/>
          </a:p>
        </p:txBody>
      </p:sp>
      <p:sp>
        <p:nvSpPr>
          <p:cNvPr id="3" name="Text 1"/>
          <p:cNvSpPr/>
          <p:nvPr/>
        </p:nvSpPr>
        <p:spPr>
          <a:xfrm>
            <a:off x="822960" y="3200400"/>
            <a:ext cx="8229600" cy="82296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Reference material</a:t>
            </a:r>
            <a:endParaRPr lang="en-US" sz="4400" dirty="0"/>
          </a:p>
        </p:txBody>
      </p:sp>
      <p:sp>
        <p:nvSpPr>
          <p:cNvPr id="4" name="Text 2"/>
          <p:cNvSpPr/>
          <p:nvPr/>
        </p:nvSpPr>
        <p:spPr>
          <a:xfrm>
            <a:off x="822960" y="4160520"/>
            <a:ext cx="10058400" cy="731520"/>
          </a:xfrm>
          <a:prstGeom prst="rect">
            <a:avLst/>
          </a:prstGeom>
          <a:noFill/>
          <a:ln/>
        </p:spPr>
        <p:txBody>
          <a:bodyPr wrap="square" lIns="0" tIns="0" rIns="0" bIns="0" rtlCol="0" anchor="t"/>
          <a:lstStyle/>
          <a:p>
            <a:pPr indent="0" marL="0">
              <a:lnSpc>
                <a:spcPts val="2200"/>
              </a:lnSpc>
              <a:buNone/>
            </a:pPr>
            <a:r>
              <a:rPr lang="en-US" sz="1600" dirty="0">
                <a:solidFill>
                  <a:srgbClr val="C8C8CE"/>
                </a:solidFill>
                <a:latin typeface="Calibri" pitchFamily="34" charset="0"/>
                <a:ea typeface="Calibri" pitchFamily="34" charset="-122"/>
                <a:cs typeface="Calibri" pitchFamily="34" charset="-120"/>
              </a:rPr>
              <a:t>A  Feature dictionary   ·   B  Targets and eligibility   ·   C  Benchmark table   ·   D  Validation checklist   ·   E  Glossary   ·   F  Source map</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APPENDIX A · 1 OF 2</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Possession feature dictionary — attacking families</a:t>
            </a:r>
            <a:endParaRPr lang="en-US" sz="3500" dirty="0"/>
          </a:p>
        </p:txBody>
      </p:sp>
      <p:sp>
        <p:nvSpPr>
          <p:cNvPr id="4" name="Text 2"/>
          <p:cNvSpPr/>
          <p:nvPr/>
        </p:nvSpPr>
        <p:spPr>
          <a:xfrm>
            <a:off x="685800" y="1874520"/>
            <a:ext cx="2834640" cy="457200"/>
          </a:xfrm>
          <a:prstGeom prst="rect">
            <a:avLst/>
          </a:prstGeom>
          <a:noFill/>
          <a:ln/>
        </p:spPr>
        <p:txBody>
          <a:bodyPr wrap="square" lIns="0" tIns="0" rIns="0" bIns="0" rtlCol="0" anchor="t"/>
          <a:lstStyle/>
          <a:p>
            <a:pPr indent="0" marL="0">
              <a:lnSpc>
                <a:spcPts val="1800"/>
              </a:lnSpc>
              <a:buNone/>
            </a:pPr>
            <a:r>
              <a:rPr lang="en-US" sz="1500" b="1" dirty="0">
                <a:solidFill>
                  <a:srgbClr val="161617"/>
                </a:solidFill>
                <a:latin typeface="Calibri" pitchFamily="34" charset="0"/>
                <a:ea typeface="Calibri" pitchFamily="34" charset="-122"/>
                <a:cs typeface="Calibri" pitchFamily="34" charset="-120"/>
              </a:rPr>
              <a:t>Timing and speed</a:t>
            </a:r>
            <a:endParaRPr lang="en-US" sz="1500" dirty="0"/>
          </a:p>
        </p:txBody>
      </p:sp>
      <p:sp>
        <p:nvSpPr>
          <p:cNvPr id="5" name="Text 3"/>
          <p:cNvSpPr/>
          <p:nvPr/>
        </p:nvSpPr>
        <p:spPr>
          <a:xfrm>
            <a:off x="3657600" y="1874520"/>
            <a:ext cx="7845552" cy="457200"/>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Possession duration, time between actions, progression speed</a:t>
            </a:r>
            <a:endParaRPr lang="en-US" sz="1500" dirty="0"/>
          </a:p>
        </p:txBody>
      </p:sp>
      <p:sp>
        <p:nvSpPr>
          <p:cNvPr id="6" name="Text 4"/>
          <p:cNvSpPr/>
          <p:nvPr/>
        </p:nvSpPr>
        <p:spPr>
          <a:xfrm>
            <a:off x="685800" y="2404872"/>
            <a:ext cx="2834640" cy="457200"/>
          </a:xfrm>
          <a:prstGeom prst="rect">
            <a:avLst/>
          </a:prstGeom>
          <a:noFill/>
          <a:ln/>
        </p:spPr>
        <p:txBody>
          <a:bodyPr wrap="square" lIns="0" tIns="0" rIns="0" bIns="0" rtlCol="0" anchor="t"/>
          <a:lstStyle/>
          <a:p>
            <a:pPr indent="0" marL="0">
              <a:lnSpc>
                <a:spcPts val="1800"/>
              </a:lnSpc>
              <a:buNone/>
            </a:pPr>
            <a:r>
              <a:rPr lang="en-US" sz="1500" b="1" dirty="0">
                <a:solidFill>
                  <a:srgbClr val="161617"/>
                </a:solidFill>
                <a:latin typeface="Calibri" pitchFamily="34" charset="0"/>
                <a:ea typeface="Calibri" pitchFamily="34" charset="-122"/>
                <a:cs typeface="Calibri" pitchFamily="34" charset="-120"/>
              </a:rPr>
              <a:t>Passing</a:t>
            </a:r>
            <a:endParaRPr lang="en-US" sz="1500" dirty="0"/>
          </a:p>
        </p:txBody>
      </p:sp>
      <p:sp>
        <p:nvSpPr>
          <p:cNvPr id="7" name="Text 5"/>
          <p:cNvSpPr/>
          <p:nvPr/>
        </p:nvSpPr>
        <p:spPr>
          <a:xfrm>
            <a:off x="3657600" y="2404872"/>
            <a:ext cx="7845552" cy="457200"/>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Pass count, completion rate, mean length, progressive passes, long balls, switches, crosses, cutbacks</a:t>
            </a:r>
            <a:endParaRPr lang="en-US" sz="1500" dirty="0"/>
          </a:p>
        </p:txBody>
      </p:sp>
      <p:sp>
        <p:nvSpPr>
          <p:cNvPr id="8" name="Text 6"/>
          <p:cNvSpPr/>
          <p:nvPr/>
        </p:nvSpPr>
        <p:spPr>
          <a:xfrm>
            <a:off x="685800" y="2935224"/>
            <a:ext cx="2834640" cy="457200"/>
          </a:xfrm>
          <a:prstGeom prst="rect">
            <a:avLst/>
          </a:prstGeom>
          <a:noFill/>
          <a:ln/>
        </p:spPr>
        <p:txBody>
          <a:bodyPr wrap="square" lIns="0" tIns="0" rIns="0" bIns="0" rtlCol="0" anchor="t"/>
          <a:lstStyle/>
          <a:p>
            <a:pPr indent="0" marL="0">
              <a:lnSpc>
                <a:spcPts val="1800"/>
              </a:lnSpc>
              <a:buNone/>
            </a:pPr>
            <a:r>
              <a:rPr lang="en-US" sz="1500" b="1" dirty="0">
                <a:solidFill>
                  <a:srgbClr val="161617"/>
                </a:solidFill>
                <a:latin typeface="Calibri" pitchFamily="34" charset="0"/>
                <a:ea typeface="Calibri" pitchFamily="34" charset="-122"/>
                <a:cs typeface="Calibri" pitchFamily="34" charset="-120"/>
              </a:rPr>
              <a:t>Carrying and dribbling</a:t>
            </a:r>
            <a:endParaRPr lang="en-US" sz="1500" dirty="0"/>
          </a:p>
        </p:txBody>
      </p:sp>
      <p:sp>
        <p:nvSpPr>
          <p:cNvPr id="9" name="Text 7"/>
          <p:cNvSpPr/>
          <p:nvPr/>
        </p:nvSpPr>
        <p:spPr>
          <a:xfrm>
            <a:off x="3657600" y="2935224"/>
            <a:ext cx="7845552" cy="457200"/>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Carry count, progressive carries, total carry distance</a:t>
            </a:r>
            <a:endParaRPr lang="en-US" sz="1500" dirty="0"/>
          </a:p>
        </p:txBody>
      </p:sp>
      <p:sp>
        <p:nvSpPr>
          <p:cNvPr id="10" name="Text 8"/>
          <p:cNvSpPr/>
          <p:nvPr/>
        </p:nvSpPr>
        <p:spPr>
          <a:xfrm>
            <a:off x="685800" y="3465576"/>
            <a:ext cx="2834640" cy="457200"/>
          </a:xfrm>
          <a:prstGeom prst="rect">
            <a:avLst/>
          </a:prstGeom>
          <a:noFill/>
          <a:ln/>
        </p:spPr>
        <p:txBody>
          <a:bodyPr wrap="square" lIns="0" tIns="0" rIns="0" bIns="0" rtlCol="0" anchor="t"/>
          <a:lstStyle/>
          <a:p>
            <a:pPr indent="0" marL="0">
              <a:lnSpc>
                <a:spcPts val="1800"/>
              </a:lnSpc>
              <a:buNone/>
            </a:pPr>
            <a:r>
              <a:rPr lang="en-US" sz="1500" b="1" dirty="0">
                <a:solidFill>
                  <a:srgbClr val="161617"/>
                </a:solidFill>
                <a:latin typeface="Calibri" pitchFamily="34" charset="0"/>
                <a:ea typeface="Calibri" pitchFamily="34" charset="-122"/>
                <a:cs typeface="Calibri" pitchFamily="34" charset="-120"/>
              </a:rPr>
              <a:t>Progression</a:t>
            </a:r>
            <a:endParaRPr lang="en-US" sz="1500" dirty="0"/>
          </a:p>
        </p:txBody>
      </p:sp>
      <p:sp>
        <p:nvSpPr>
          <p:cNvPr id="11" name="Text 9"/>
          <p:cNvSpPr/>
          <p:nvPr/>
        </p:nvSpPr>
        <p:spPr>
          <a:xfrm>
            <a:off x="3657600" y="3465576"/>
            <a:ext cx="7845552" cy="457200"/>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Net progression toward goal, final-third entries, penalty-area entries</a:t>
            </a:r>
            <a:endParaRPr lang="en-US" sz="1500" dirty="0"/>
          </a:p>
        </p:txBody>
      </p:sp>
      <p:sp>
        <p:nvSpPr>
          <p:cNvPr id="12" name="Text 10"/>
          <p:cNvSpPr/>
          <p:nvPr/>
        </p:nvSpPr>
        <p:spPr>
          <a:xfrm>
            <a:off x="685800" y="3995928"/>
            <a:ext cx="2834640" cy="457200"/>
          </a:xfrm>
          <a:prstGeom prst="rect">
            <a:avLst/>
          </a:prstGeom>
          <a:noFill/>
          <a:ln/>
        </p:spPr>
        <p:txBody>
          <a:bodyPr wrap="square" lIns="0" tIns="0" rIns="0" bIns="0" rtlCol="0" anchor="t"/>
          <a:lstStyle/>
          <a:p>
            <a:pPr indent="0" marL="0">
              <a:lnSpc>
                <a:spcPts val="1800"/>
              </a:lnSpc>
              <a:buNone/>
            </a:pPr>
            <a:r>
              <a:rPr lang="en-US" sz="1500" b="1" dirty="0">
                <a:solidFill>
                  <a:srgbClr val="161617"/>
                </a:solidFill>
                <a:latin typeface="Calibri" pitchFamily="34" charset="0"/>
                <a:ea typeface="Calibri" pitchFamily="34" charset="-122"/>
                <a:cs typeface="Calibri" pitchFamily="34" charset="-120"/>
              </a:rPr>
              <a:t>Width</a:t>
            </a:r>
            <a:endParaRPr lang="en-US" sz="1500" dirty="0"/>
          </a:p>
        </p:txBody>
      </p:sp>
      <p:sp>
        <p:nvSpPr>
          <p:cNvPr id="13" name="Text 11"/>
          <p:cNvSpPr/>
          <p:nvPr/>
        </p:nvSpPr>
        <p:spPr>
          <a:xfrm>
            <a:off x="3657600" y="3995928"/>
            <a:ext cx="7845552" cy="457200"/>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Lateral span of the possession</a:t>
            </a:r>
            <a:endParaRPr lang="en-US" sz="1500" dirty="0"/>
          </a:p>
        </p:txBody>
      </p:sp>
      <p:sp>
        <p:nvSpPr>
          <p:cNvPr id="14" name="Text 12"/>
          <p:cNvSpPr/>
          <p:nvPr/>
        </p:nvSpPr>
        <p:spPr>
          <a:xfrm>
            <a:off x="685800" y="4526280"/>
            <a:ext cx="2834640" cy="457200"/>
          </a:xfrm>
          <a:prstGeom prst="rect">
            <a:avLst/>
          </a:prstGeom>
          <a:noFill/>
          <a:ln/>
        </p:spPr>
        <p:txBody>
          <a:bodyPr wrap="square" lIns="0" tIns="0" rIns="0" bIns="0" rtlCol="0" anchor="t"/>
          <a:lstStyle/>
          <a:p>
            <a:pPr indent="0" marL="0">
              <a:lnSpc>
                <a:spcPts val="1800"/>
              </a:lnSpc>
              <a:buNone/>
            </a:pPr>
            <a:r>
              <a:rPr lang="en-US" sz="1500" b="1" dirty="0">
                <a:solidFill>
                  <a:srgbClr val="161617"/>
                </a:solidFill>
                <a:latin typeface="Calibri" pitchFamily="34" charset="0"/>
                <a:ea typeface="Calibri" pitchFamily="34" charset="-122"/>
                <a:cs typeface="Calibri" pitchFamily="34" charset="-120"/>
              </a:rPr>
              <a:t>Pressure faced</a:t>
            </a:r>
            <a:endParaRPr lang="en-US" sz="1500" dirty="0"/>
          </a:p>
        </p:txBody>
      </p:sp>
      <p:sp>
        <p:nvSpPr>
          <p:cNvPr id="15" name="Text 13"/>
          <p:cNvSpPr/>
          <p:nvPr/>
        </p:nvSpPr>
        <p:spPr>
          <a:xfrm>
            <a:off x="3657600" y="4526280"/>
            <a:ext cx="7845552" cy="457200"/>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Pressure events applied to the team in possession</a:t>
            </a:r>
            <a:endParaRPr lang="en-US" sz="1500" dirty="0"/>
          </a:p>
        </p:txBody>
      </p:sp>
      <p:sp>
        <p:nvSpPr>
          <p:cNvPr id="16" name="Text 14"/>
          <p:cNvSpPr/>
          <p:nvPr/>
        </p:nvSpPr>
        <p:spPr>
          <a:xfrm>
            <a:off x="685800" y="5056632"/>
            <a:ext cx="2834640" cy="457200"/>
          </a:xfrm>
          <a:prstGeom prst="rect">
            <a:avLst/>
          </a:prstGeom>
          <a:noFill/>
          <a:ln/>
        </p:spPr>
        <p:txBody>
          <a:bodyPr wrap="square" lIns="0" tIns="0" rIns="0" bIns="0" rtlCol="0" anchor="t"/>
          <a:lstStyle/>
          <a:p>
            <a:pPr indent="0" marL="0">
              <a:lnSpc>
                <a:spcPts val="1800"/>
              </a:lnSpc>
              <a:buNone/>
            </a:pPr>
            <a:r>
              <a:rPr lang="en-US" sz="1500" b="1" dirty="0">
                <a:solidFill>
                  <a:srgbClr val="161617"/>
                </a:solidFill>
                <a:latin typeface="Calibri" pitchFamily="34" charset="0"/>
                <a:ea typeface="Calibri" pitchFamily="34" charset="-122"/>
                <a:cs typeface="Calibri" pitchFamily="34" charset="-120"/>
              </a:rPr>
              <a:t>Possession structure</a:t>
            </a:r>
            <a:endParaRPr lang="en-US" sz="1500" dirty="0"/>
          </a:p>
        </p:txBody>
      </p:sp>
      <p:sp>
        <p:nvSpPr>
          <p:cNvPr id="17" name="Text 15"/>
          <p:cNvSpPr/>
          <p:nvPr/>
        </p:nvSpPr>
        <p:spPr>
          <a:xfrm>
            <a:off x="3657600" y="5056632"/>
            <a:ext cx="7845552" cy="457200"/>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Number of players involved, action counts, sequence composition</a:t>
            </a:r>
            <a:endParaRPr lang="en-US" sz="1500" dirty="0"/>
          </a:p>
        </p:txBody>
      </p:sp>
      <p:sp>
        <p:nvSpPr>
          <p:cNvPr id="18" name="Text 16"/>
          <p:cNvSpPr/>
          <p:nvPr/>
        </p:nvSpPr>
        <p:spPr>
          <a:xfrm>
            <a:off x="685800" y="5586984"/>
            <a:ext cx="2834640" cy="457200"/>
          </a:xfrm>
          <a:prstGeom prst="rect">
            <a:avLst/>
          </a:prstGeom>
          <a:noFill/>
          <a:ln/>
        </p:spPr>
        <p:txBody>
          <a:bodyPr wrap="square" lIns="0" tIns="0" rIns="0" bIns="0" rtlCol="0" anchor="t"/>
          <a:lstStyle/>
          <a:p>
            <a:pPr indent="0" marL="0">
              <a:lnSpc>
                <a:spcPts val="1800"/>
              </a:lnSpc>
              <a:buNone/>
            </a:pPr>
            <a:r>
              <a:rPr lang="en-US" sz="1500" b="1" dirty="0">
                <a:solidFill>
                  <a:srgbClr val="161617"/>
                </a:solidFill>
                <a:latin typeface="Calibri" pitchFamily="34" charset="0"/>
                <a:ea typeface="Calibri" pitchFamily="34" charset="-122"/>
                <a:cs typeface="Calibri" pitchFamily="34" charset="-120"/>
              </a:rPr>
              <a:t>Start and end zones</a:t>
            </a:r>
            <a:endParaRPr lang="en-US" sz="1500" dirty="0"/>
          </a:p>
        </p:txBody>
      </p:sp>
      <p:sp>
        <p:nvSpPr>
          <p:cNvPr id="19" name="Text 17"/>
          <p:cNvSpPr/>
          <p:nvPr/>
        </p:nvSpPr>
        <p:spPr>
          <a:xfrm>
            <a:off x="3657600" y="5586984"/>
            <a:ext cx="7845552" cy="457200"/>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Pitch zone where the possession begins and where it ends</a:t>
            </a:r>
            <a:endParaRPr lang="en-US" sz="1500" dirty="0"/>
          </a:p>
        </p:txBody>
      </p:sp>
      <p:sp>
        <p:nvSpPr>
          <p:cNvPr id="20" name="Text 18"/>
          <p:cNvSpPr/>
          <p:nvPr/>
        </p:nvSpPr>
        <p:spPr>
          <a:xfrm>
            <a:off x="685800" y="6172200"/>
            <a:ext cx="10817352" cy="274320"/>
          </a:xfrm>
          <a:prstGeom prst="rect">
            <a:avLst/>
          </a:prstGeom>
          <a:noFill/>
          <a:ln/>
        </p:spPr>
        <p:txBody>
          <a:bodyPr wrap="square" lIns="0" tIns="0" rIns="0" bIns="0" rtlCol="0" anchor="t"/>
          <a:lstStyle/>
          <a:p>
            <a:pPr indent="0" marL="0">
              <a:buNone/>
            </a:pPr>
            <a:r>
              <a:rPr lang="en-US" sz="1500" i="1" dirty="0">
                <a:solidFill>
                  <a:srgbClr val="6E6E73"/>
                </a:solidFill>
                <a:latin typeface="Calibri" pitchFamily="34" charset="0"/>
                <a:ea typeface="Calibri" pitchFamily="34" charset="-122"/>
                <a:cs typeface="Calibri" pitchFamily="34" charset="-120"/>
              </a:rPr>
              <a:t>Column-level definitions live in data/processed/possession_data_dictionary.md — this slide is a map, not the dictionary.</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APPENDIX A · 2 OF 2</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Feature dictionary — spatial, player and target columns</a:t>
            </a:r>
            <a:endParaRPr lang="en-US" sz="3500" dirty="0"/>
          </a:p>
        </p:txBody>
      </p:sp>
      <p:sp>
        <p:nvSpPr>
          <p:cNvPr id="4" name="Text 2"/>
          <p:cNvSpPr/>
          <p:nvPr/>
        </p:nvSpPr>
        <p:spPr>
          <a:xfrm>
            <a:off x="685800" y="1874520"/>
            <a:ext cx="3108960" cy="594360"/>
          </a:xfrm>
          <a:prstGeom prst="rect">
            <a:avLst/>
          </a:prstGeom>
          <a:noFill/>
          <a:ln/>
        </p:spPr>
        <p:txBody>
          <a:bodyPr wrap="square" lIns="0" tIns="0" rIns="0" bIns="0" rtlCol="0" anchor="t"/>
          <a:lstStyle/>
          <a:p>
            <a:pPr indent="0" marL="0">
              <a:lnSpc>
                <a:spcPts val="1800"/>
              </a:lnSpc>
              <a:buNone/>
            </a:pPr>
            <a:r>
              <a:rPr lang="en-US" sz="1500" b="1" dirty="0">
                <a:solidFill>
                  <a:srgbClr val="161617"/>
                </a:solidFill>
                <a:latin typeface="Calibri" pitchFamily="34" charset="0"/>
                <a:ea typeface="Calibri" pitchFamily="34" charset="-122"/>
                <a:cs typeface="Calibri" pitchFamily="34" charset="-120"/>
              </a:rPr>
              <a:t>Defensive shape (360-derived)</a:t>
            </a:r>
            <a:endParaRPr lang="en-US" sz="1500" dirty="0"/>
          </a:p>
        </p:txBody>
      </p:sp>
      <p:sp>
        <p:nvSpPr>
          <p:cNvPr id="5" name="Text 3"/>
          <p:cNvSpPr/>
          <p:nvPr/>
        </p:nvSpPr>
        <p:spPr>
          <a:xfrm>
            <a:off x="3931920" y="1874520"/>
            <a:ext cx="7571232" cy="594360"/>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Defender distance, defensive width and depth, back-line height, behind-ball share, compactness and density measures</a:t>
            </a:r>
            <a:endParaRPr lang="en-US" sz="1500" dirty="0"/>
          </a:p>
        </p:txBody>
      </p:sp>
      <p:sp>
        <p:nvSpPr>
          <p:cNvPr id="6" name="Text 4"/>
          <p:cNvSpPr/>
          <p:nvPr/>
        </p:nvSpPr>
        <p:spPr>
          <a:xfrm>
            <a:off x="685800" y="2514600"/>
            <a:ext cx="3108960" cy="594360"/>
          </a:xfrm>
          <a:prstGeom prst="rect">
            <a:avLst/>
          </a:prstGeom>
          <a:noFill/>
          <a:ln/>
        </p:spPr>
        <p:txBody>
          <a:bodyPr wrap="square" lIns="0" tIns="0" rIns="0" bIns="0" rtlCol="0" anchor="t"/>
          <a:lstStyle/>
          <a:p>
            <a:pPr indent="0" marL="0">
              <a:lnSpc>
                <a:spcPts val="1800"/>
              </a:lnSpc>
              <a:buNone/>
            </a:pPr>
            <a:r>
              <a:rPr lang="en-US" sz="1500" b="1" dirty="0">
                <a:solidFill>
                  <a:srgbClr val="161617"/>
                </a:solidFill>
                <a:latin typeface="Calibri" pitchFamily="34" charset="0"/>
                <a:ea typeface="Calibri" pitchFamily="34" charset="-122"/>
                <a:cs typeface="Calibri" pitchFamily="34" charset="-120"/>
              </a:rPr>
              <a:t>Coverage controls</a:t>
            </a:r>
            <a:endParaRPr lang="en-US" sz="1500" dirty="0"/>
          </a:p>
        </p:txBody>
      </p:sp>
      <p:sp>
        <p:nvSpPr>
          <p:cNvPr id="7" name="Text 5"/>
          <p:cNvSpPr/>
          <p:nvPr/>
        </p:nvSpPr>
        <p:spPr>
          <a:xfrm>
            <a:off x="3931920" y="2514600"/>
            <a:ext cx="7571232" cy="594360"/>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Visible-area size, observed-player counts, frame availability per possession</a:t>
            </a:r>
            <a:endParaRPr lang="en-US" sz="1500" dirty="0"/>
          </a:p>
        </p:txBody>
      </p:sp>
      <p:sp>
        <p:nvSpPr>
          <p:cNvPr id="8" name="Text 6"/>
          <p:cNvSpPr/>
          <p:nvPr/>
        </p:nvSpPr>
        <p:spPr>
          <a:xfrm>
            <a:off x="685800" y="3154680"/>
            <a:ext cx="3108960" cy="594360"/>
          </a:xfrm>
          <a:prstGeom prst="rect">
            <a:avLst/>
          </a:prstGeom>
          <a:noFill/>
          <a:ln/>
        </p:spPr>
        <p:txBody>
          <a:bodyPr wrap="square" lIns="0" tIns="0" rIns="0" bIns="0" rtlCol="0" anchor="t"/>
          <a:lstStyle/>
          <a:p>
            <a:pPr indent="0" marL="0">
              <a:lnSpc>
                <a:spcPts val="1800"/>
              </a:lnSpc>
              <a:buNone/>
            </a:pPr>
            <a:r>
              <a:rPr lang="en-US" sz="1500" b="1" dirty="0">
                <a:solidFill>
                  <a:srgbClr val="161617"/>
                </a:solidFill>
                <a:latin typeface="Calibri" pitchFamily="34" charset="0"/>
                <a:ea typeface="Calibri" pitchFamily="34" charset="-122"/>
                <a:cs typeface="Calibri" pitchFamily="34" charset="-120"/>
              </a:rPr>
              <a:t>Cluster assignments</a:t>
            </a:r>
            <a:endParaRPr lang="en-US" sz="1500" dirty="0"/>
          </a:p>
        </p:txBody>
      </p:sp>
      <p:sp>
        <p:nvSpPr>
          <p:cNvPr id="9" name="Text 7"/>
          <p:cNvSpPr/>
          <p:nvPr/>
        </p:nvSpPr>
        <p:spPr>
          <a:xfrm>
            <a:off x="3931920" y="3154680"/>
            <a:ext cx="7571232" cy="594360"/>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Attacking style label, defensive style label, matchup cell — outputs, never clustering inputs</a:t>
            </a:r>
            <a:endParaRPr lang="en-US" sz="1500" dirty="0"/>
          </a:p>
        </p:txBody>
      </p:sp>
      <p:sp>
        <p:nvSpPr>
          <p:cNvPr id="10" name="Text 8"/>
          <p:cNvSpPr/>
          <p:nvPr/>
        </p:nvSpPr>
        <p:spPr>
          <a:xfrm>
            <a:off x="685800" y="3794760"/>
            <a:ext cx="3108960" cy="594360"/>
          </a:xfrm>
          <a:prstGeom prst="rect">
            <a:avLst/>
          </a:prstGeom>
          <a:noFill/>
          <a:ln/>
        </p:spPr>
        <p:txBody>
          <a:bodyPr wrap="square" lIns="0" tIns="0" rIns="0" bIns="0" rtlCol="0" anchor="t"/>
          <a:lstStyle/>
          <a:p>
            <a:pPr indent="0" marL="0">
              <a:lnSpc>
                <a:spcPts val="1800"/>
              </a:lnSpc>
              <a:buNone/>
            </a:pPr>
            <a:r>
              <a:rPr lang="en-US" sz="1500" b="1" dirty="0">
                <a:solidFill>
                  <a:srgbClr val="161617"/>
                </a:solidFill>
                <a:latin typeface="Calibri" pitchFamily="34" charset="0"/>
                <a:ea typeface="Calibri" pitchFamily="34" charset="-122"/>
                <a:cs typeface="Calibri" pitchFamily="34" charset="-120"/>
              </a:rPr>
              <a:t>Player and lineup</a:t>
            </a:r>
            <a:endParaRPr lang="en-US" sz="1500" dirty="0"/>
          </a:p>
        </p:txBody>
      </p:sp>
      <p:sp>
        <p:nvSpPr>
          <p:cNvPr id="11" name="Text 9"/>
          <p:cNvSpPr/>
          <p:nvPr/>
        </p:nvSpPr>
        <p:spPr>
          <a:xfrm>
            <a:off x="3931920" y="3794760"/>
            <a:ext cx="7571232" cy="594360"/>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Player-match skill components shrunk toward position priors, aggregated over the active lineup</a:t>
            </a:r>
            <a:endParaRPr lang="en-US" sz="1500" dirty="0"/>
          </a:p>
        </p:txBody>
      </p:sp>
      <p:sp>
        <p:nvSpPr>
          <p:cNvPr id="12" name="Text 10"/>
          <p:cNvSpPr/>
          <p:nvPr/>
        </p:nvSpPr>
        <p:spPr>
          <a:xfrm>
            <a:off x="685800" y="4434840"/>
            <a:ext cx="3108960" cy="594360"/>
          </a:xfrm>
          <a:prstGeom prst="rect">
            <a:avLst/>
          </a:prstGeom>
          <a:noFill/>
          <a:ln/>
        </p:spPr>
        <p:txBody>
          <a:bodyPr wrap="square" lIns="0" tIns="0" rIns="0" bIns="0" rtlCol="0" anchor="t"/>
          <a:lstStyle/>
          <a:p>
            <a:pPr indent="0" marL="0">
              <a:lnSpc>
                <a:spcPts val="1800"/>
              </a:lnSpc>
              <a:buNone/>
            </a:pPr>
            <a:r>
              <a:rPr lang="en-US" sz="1500" b="1" dirty="0">
                <a:solidFill>
                  <a:srgbClr val="161617"/>
                </a:solidFill>
                <a:latin typeface="Calibri" pitchFamily="34" charset="0"/>
                <a:ea typeface="Calibri" pitchFamily="34" charset="-122"/>
                <a:cs typeface="Calibri" pitchFamily="34" charset="-120"/>
              </a:rPr>
              <a:t>Pre-decision history</a:t>
            </a:r>
            <a:endParaRPr lang="en-US" sz="1500" dirty="0"/>
          </a:p>
        </p:txBody>
      </p:sp>
      <p:sp>
        <p:nvSpPr>
          <p:cNvPr id="13" name="Text 11"/>
          <p:cNvSpPr/>
          <p:nvPr/>
        </p:nvSpPr>
        <p:spPr>
          <a:xfrm>
            <a:off x="3931920" y="4434840"/>
            <a:ext cx="7571232" cy="594360"/>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Strictly prior team and player history, current lineup and role summaries, first_play_pattern</a:t>
            </a:r>
            <a:endParaRPr lang="en-US" sz="1500" dirty="0"/>
          </a:p>
        </p:txBody>
      </p:sp>
      <p:sp>
        <p:nvSpPr>
          <p:cNvPr id="14" name="Text 12"/>
          <p:cNvSpPr/>
          <p:nvPr/>
        </p:nvSpPr>
        <p:spPr>
          <a:xfrm>
            <a:off x="685800" y="5074920"/>
            <a:ext cx="3108960" cy="594360"/>
          </a:xfrm>
          <a:prstGeom prst="rect">
            <a:avLst/>
          </a:prstGeom>
          <a:noFill/>
          <a:ln/>
        </p:spPr>
        <p:txBody>
          <a:bodyPr wrap="square" lIns="0" tIns="0" rIns="0" bIns="0" rtlCol="0" anchor="t"/>
          <a:lstStyle/>
          <a:p>
            <a:pPr indent="0" marL="0">
              <a:lnSpc>
                <a:spcPts val="1800"/>
              </a:lnSpc>
              <a:buNone/>
            </a:pPr>
            <a:r>
              <a:rPr lang="en-US" sz="1500" b="1" dirty="0">
                <a:solidFill>
                  <a:srgbClr val="D44B52"/>
                </a:solidFill>
                <a:latin typeface="Calibri" pitchFamily="34" charset="0"/>
                <a:ea typeface="Calibri" pitchFamily="34" charset="-122"/>
                <a:cs typeface="Calibri" pitchFamily="34" charset="-120"/>
              </a:rPr>
              <a:t>Targets (excluded from clustering)</a:t>
            </a:r>
            <a:endParaRPr lang="en-US" sz="1500" dirty="0"/>
          </a:p>
        </p:txBody>
      </p:sp>
      <p:sp>
        <p:nvSpPr>
          <p:cNvPr id="15" name="Text 13"/>
          <p:cNvSpPr/>
          <p:nvPr/>
        </p:nvSpPr>
        <p:spPr>
          <a:xfrm>
            <a:off x="3931920" y="5074920"/>
            <a:ext cx="7571232" cy="594360"/>
          </a:xfrm>
          <a:prstGeom prst="rect">
            <a:avLst/>
          </a:prstGeom>
          <a:noFill/>
          <a:ln/>
        </p:spPr>
        <p:txBody>
          <a:bodyPr wrap="square" lIns="0" tIns="0" rIns="0" bIns="0" rtlCol="0" anchor="t"/>
          <a:lstStyle/>
          <a:p>
            <a:pPr indent="0" marL="0">
              <a:lnSpc>
                <a:spcPts val="1800"/>
              </a:lnSpc>
              <a:buNone/>
            </a:pPr>
            <a:r>
              <a:rPr lang="en-US" sz="1500" dirty="0">
                <a:solidFill>
                  <a:srgbClr val="6E6E73"/>
                </a:solidFill>
                <a:latin typeface="Calibri" pitchFamily="34" charset="0"/>
                <a:ea typeface="Calibri" pitchFamily="34" charset="-122"/>
                <a:cs typeface="Calibri" pitchFamily="34" charset="-120"/>
              </a:rPr>
              <a:t>Shot occurrence, penalty-area entry or end, transition targets within 15 seconds, shot xG</a:t>
            </a:r>
            <a:endParaRPr lang="en-US" sz="1500" dirty="0"/>
          </a:p>
        </p:txBody>
      </p:sp>
      <p:sp>
        <p:nvSpPr>
          <p:cNvPr id="16" name="Shape 14"/>
          <p:cNvSpPr/>
          <p:nvPr/>
        </p:nvSpPr>
        <p:spPr>
          <a:xfrm>
            <a:off x="685800" y="5760720"/>
            <a:ext cx="10817352" cy="640080"/>
          </a:xfrm>
          <a:prstGeom prst="roundRect">
            <a:avLst>
              <a:gd name="adj" fmla="val 8571"/>
            </a:avLst>
          </a:prstGeom>
          <a:solidFill>
            <a:srgbClr val="F9E7E8"/>
          </a:solidFill>
          <a:ln w="9525">
            <a:solidFill>
              <a:srgbClr val="F9E7E8"/>
            </a:solidFill>
            <a:prstDash val="solid"/>
          </a:ln>
        </p:spPr>
      </p:sp>
      <p:sp>
        <p:nvSpPr>
          <p:cNvPr id="17" name="Text 15"/>
          <p:cNvSpPr/>
          <p:nvPr/>
        </p:nvSpPr>
        <p:spPr>
          <a:xfrm>
            <a:off x="960120" y="5961888"/>
            <a:ext cx="10268712" cy="301752"/>
          </a:xfrm>
          <a:prstGeom prst="rect">
            <a:avLst/>
          </a:prstGeom>
          <a:noFill/>
          <a:ln/>
        </p:spPr>
        <p:txBody>
          <a:bodyPr wrap="square" lIns="0" tIns="0" rIns="0" bIns="0" rtlCol="0" anchor="t"/>
          <a:lstStyle/>
          <a:p>
            <a:pPr indent="0" marL="0">
              <a:lnSpc>
                <a:spcPts val="1875"/>
              </a:lnSpc>
              <a:buNone/>
            </a:pPr>
            <a:r>
              <a:rPr lang="en-US" sz="1500" dirty="0">
                <a:solidFill>
                  <a:srgbClr val="161617"/>
                </a:solidFill>
                <a:latin typeface="Calibri" pitchFamily="34" charset="0"/>
                <a:ea typeface="Calibri" pitchFamily="34" charset="-122"/>
                <a:cs typeface="Calibri" pitchFamily="34" charset="-120"/>
              </a:rPr>
              <a:t>Target columns and cluster labels are outputs. Feeding either back into unsupervised inputs would make style discovery circular.</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APPENDIX B</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Targets and eligibility</a:t>
            </a:r>
            <a:endParaRPr lang="en-US" sz="3500" dirty="0"/>
          </a:p>
        </p:txBody>
      </p:sp>
      <p:sp>
        <p:nvSpPr>
          <p:cNvPr id="4" name="Shape 2"/>
          <p:cNvSpPr/>
          <p:nvPr/>
        </p:nvSpPr>
        <p:spPr>
          <a:xfrm>
            <a:off x="685800" y="1874520"/>
            <a:ext cx="3401568" cy="1280160"/>
          </a:xfrm>
          <a:prstGeom prst="roundRect">
            <a:avLst>
              <a:gd name="adj" fmla="val 4286"/>
            </a:avLst>
          </a:prstGeom>
          <a:solidFill>
            <a:srgbClr val="FFFFFF"/>
          </a:solidFill>
          <a:ln w="9525">
            <a:solidFill>
              <a:srgbClr val="FFFFFF"/>
            </a:solidFill>
            <a:prstDash val="solid"/>
          </a:ln>
        </p:spPr>
      </p:sp>
      <p:sp>
        <p:nvSpPr>
          <p:cNvPr id="5" name="Text 3"/>
          <p:cNvSpPr/>
          <p:nvPr/>
        </p:nvSpPr>
        <p:spPr>
          <a:xfrm>
            <a:off x="941832" y="2075688"/>
            <a:ext cx="2889504" cy="548640"/>
          </a:xfrm>
          <a:prstGeom prst="rect">
            <a:avLst/>
          </a:prstGeom>
          <a:noFill/>
          <a:ln/>
        </p:spPr>
        <p:txBody>
          <a:bodyPr wrap="square" lIns="0" tIns="0" rIns="0" bIns="0" rtlCol="0" anchor="t"/>
          <a:lstStyle/>
          <a:p>
            <a:pPr indent="0" marL="0">
              <a:buNone/>
            </a:pPr>
            <a:r>
              <a:rPr lang="en-US" sz="3200" b="1" dirty="0">
                <a:solidFill>
                  <a:srgbClr val="161617"/>
                </a:solidFill>
                <a:latin typeface="Calibri" pitchFamily="34" charset="0"/>
                <a:ea typeface="Calibri" pitchFamily="34" charset="-122"/>
                <a:cs typeface="Calibri" pitchFamily="34" charset="-120"/>
              </a:rPr>
              <a:t>11,016</a:t>
            </a:r>
            <a:endParaRPr lang="en-US" sz="3200" dirty="0"/>
          </a:p>
        </p:txBody>
      </p:sp>
      <p:sp>
        <p:nvSpPr>
          <p:cNvPr id="6" name="Text 4"/>
          <p:cNvSpPr/>
          <p:nvPr/>
        </p:nvSpPr>
        <p:spPr>
          <a:xfrm>
            <a:off x="941832" y="2651760"/>
            <a:ext cx="2889504" cy="41148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tournament possessions</a:t>
            </a:r>
            <a:endParaRPr lang="en-US" sz="1400" dirty="0"/>
          </a:p>
        </p:txBody>
      </p:sp>
      <p:sp>
        <p:nvSpPr>
          <p:cNvPr id="7" name="Shape 5"/>
          <p:cNvSpPr/>
          <p:nvPr/>
        </p:nvSpPr>
        <p:spPr>
          <a:xfrm>
            <a:off x="4361688" y="1874520"/>
            <a:ext cx="3401568" cy="1280160"/>
          </a:xfrm>
          <a:prstGeom prst="roundRect">
            <a:avLst>
              <a:gd name="adj" fmla="val 4286"/>
            </a:avLst>
          </a:prstGeom>
          <a:solidFill>
            <a:srgbClr val="FFFFFF"/>
          </a:solidFill>
          <a:ln w="9525">
            <a:solidFill>
              <a:srgbClr val="FFFFFF"/>
            </a:solidFill>
            <a:prstDash val="solid"/>
          </a:ln>
        </p:spPr>
      </p:sp>
      <p:sp>
        <p:nvSpPr>
          <p:cNvPr id="8" name="Text 6"/>
          <p:cNvSpPr/>
          <p:nvPr/>
        </p:nvSpPr>
        <p:spPr>
          <a:xfrm>
            <a:off x="4617720" y="2075688"/>
            <a:ext cx="2889504" cy="548640"/>
          </a:xfrm>
          <a:prstGeom prst="rect">
            <a:avLst/>
          </a:prstGeom>
          <a:noFill/>
          <a:ln/>
        </p:spPr>
        <p:txBody>
          <a:bodyPr wrap="square" lIns="0" tIns="0" rIns="0" bIns="0" rtlCol="0" anchor="t"/>
          <a:lstStyle/>
          <a:p>
            <a:pPr indent="0" marL="0">
              <a:buNone/>
            </a:pPr>
            <a:r>
              <a:rPr lang="en-US" sz="3200" b="1" dirty="0">
                <a:solidFill>
                  <a:srgbClr val="3568F0"/>
                </a:solidFill>
                <a:latin typeface="Calibri" pitchFamily="34" charset="0"/>
                <a:ea typeface="Calibri" pitchFamily="34" charset="-122"/>
                <a:cs typeface="Calibri" pitchFamily="34" charset="-120"/>
              </a:rPr>
              <a:t>9,685</a:t>
            </a:r>
            <a:endParaRPr lang="en-US" sz="3200" dirty="0"/>
          </a:p>
        </p:txBody>
      </p:sp>
      <p:sp>
        <p:nvSpPr>
          <p:cNvPr id="9" name="Text 7"/>
          <p:cNvSpPr/>
          <p:nvPr/>
        </p:nvSpPr>
        <p:spPr>
          <a:xfrm>
            <a:off x="4617720" y="2651760"/>
            <a:ext cx="2889504" cy="41148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Stage 5 eligible — 87.92%</a:t>
            </a:r>
            <a:endParaRPr lang="en-US" sz="1400" dirty="0"/>
          </a:p>
        </p:txBody>
      </p:sp>
      <p:sp>
        <p:nvSpPr>
          <p:cNvPr id="10" name="Shape 8"/>
          <p:cNvSpPr/>
          <p:nvPr/>
        </p:nvSpPr>
        <p:spPr>
          <a:xfrm>
            <a:off x="8037576" y="1874520"/>
            <a:ext cx="3401568" cy="1280160"/>
          </a:xfrm>
          <a:prstGeom prst="roundRect">
            <a:avLst>
              <a:gd name="adj" fmla="val 4286"/>
            </a:avLst>
          </a:prstGeom>
          <a:solidFill>
            <a:srgbClr val="FFFFFF"/>
          </a:solidFill>
          <a:ln w="9525">
            <a:solidFill>
              <a:srgbClr val="FFFFFF"/>
            </a:solidFill>
            <a:prstDash val="solid"/>
          </a:ln>
        </p:spPr>
      </p:sp>
      <p:sp>
        <p:nvSpPr>
          <p:cNvPr id="11" name="Text 9"/>
          <p:cNvSpPr/>
          <p:nvPr/>
        </p:nvSpPr>
        <p:spPr>
          <a:xfrm>
            <a:off x="8293608" y="2075688"/>
            <a:ext cx="2889504" cy="548640"/>
          </a:xfrm>
          <a:prstGeom prst="rect">
            <a:avLst/>
          </a:prstGeom>
          <a:noFill/>
          <a:ln/>
        </p:spPr>
        <p:txBody>
          <a:bodyPr wrap="square" lIns="0" tIns="0" rIns="0" bIns="0" rtlCol="0" anchor="t"/>
          <a:lstStyle/>
          <a:p>
            <a:pPr indent="0" marL="0">
              <a:buNone/>
            </a:pPr>
            <a:r>
              <a:rPr lang="en-US" sz="3200" b="1" dirty="0">
                <a:solidFill>
                  <a:srgbClr val="161617"/>
                </a:solidFill>
                <a:latin typeface="Calibri" pitchFamily="34" charset="0"/>
                <a:ea typeface="Calibri" pitchFamily="34" charset="-122"/>
                <a:cs typeface="Calibri" pitchFamily="34" charset="-120"/>
              </a:rPr>
              <a:t>1,207</a:t>
            </a:r>
            <a:endParaRPr lang="en-US" sz="3200" dirty="0"/>
          </a:p>
        </p:txBody>
      </p:sp>
      <p:sp>
        <p:nvSpPr>
          <p:cNvPr id="12" name="Text 10"/>
          <p:cNvSpPr/>
          <p:nvPr/>
        </p:nvSpPr>
        <p:spPr>
          <a:xfrm>
            <a:off x="8293608" y="2651760"/>
            <a:ext cx="2889504" cy="41148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shot positives in the Stage 5 population</a:t>
            </a:r>
            <a:endParaRPr lang="en-US" sz="1400" dirty="0"/>
          </a:p>
        </p:txBody>
      </p:sp>
      <p:sp>
        <p:nvSpPr>
          <p:cNvPr id="13" name="Shape 11"/>
          <p:cNvSpPr/>
          <p:nvPr/>
        </p:nvSpPr>
        <p:spPr>
          <a:xfrm>
            <a:off x="685800" y="3383280"/>
            <a:ext cx="3401568" cy="1280160"/>
          </a:xfrm>
          <a:prstGeom prst="roundRect">
            <a:avLst>
              <a:gd name="adj" fmla="val 4286"/>
            </a:avLst>
          </a:prstGeom>
          <a:solidFill>
            <a:srgbClr val="FFFFFF"/>
          </a:solidFill>
          <a:ln w="9525">
            <a:solidFill>
              <a:srgbClr val="FFFFFF"/>
            </a:solidFill>
            <a:prstDash val="solid"/>
          </a:ln>
        </p:spPr>
      </p:sp>
      <p:sp>
        <p:nvSpPr>
          <p:cNvPr id="14" name="Text 12"/>
          <p:cNvSpPr/>
          <p:nvPr/>
        </p:nvSpPr>
        <p:spPr>
          <a:xfrm>
            <a:off x="941832" y="3584448"/>
            <a:ext cx="2889504" cy="548640"/>
          </a:xfrm>
          <a:prstGeom prst="rect">
            <a:avLst/>
          </a:prstGeom>
          <a:noFill/>
          <a:ln/>
        </p:spPr>
        <p:txBody>
          <a:bodyPr wrap="square" lIns="0" tIns="0" rIns="0" bIns="0" rtlCol="0" anchor="t"/>
          <a:lstStyle/>
          <a:p>
            <a:pPr indent="0" marL="0">
              <a:buNone/>
            </a:pPr>
            <a:r>
              <a:rPr lang="en-US" sz="3200" b="1" dirty="0">
                <a:solidFill>
                  <a:srgbClr val="161617"/>
                </a:solidFill>
                <a:latin typeface="Calibri" pitchFamily="34" charset="0"/>
                <a:ea typeface="Calibri" pitchFamily="34" charset="-122"/>
                <a:cs typeface="Calibri" pitchFamily="34" charset="-120"/>
              </a:rPr>
              <a:t>3,060</a:t>
            </a:r>
            <a:endParaRPr lang="en-US" sz="3200" dirty="0"/>
          </a:p>
        </p:txBody>
      </p:sp>
      <p:sp>
        <p:nvSpPr>
          <p:cNvPr id="15" name="Text 13"/>
          <p:cNvSpPr/>
          <p:nvPr/>
        </p:nvSpPr>
        <p:spPr>
          <a:xfrm>
            <a:off x="941832" y="4160520"/>
            <a:ext cx="2889504" cy="41148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penalty-area positives</a:t>
            </a:r>
            <a:endParaRPr lang="en-US" sz="1400" dirty="0"/>
          </a:p>
        </p:txBody>
      </p:sp>
      <p:sp>
        <p:nvSpPr>
          <p:cNvPr id="16" name="Shape 14"/>
          <p:cNvSpPr/>
          <p:nvPr/>
        </p:nvSpPr>
        <p:spPr>
          <a:xfrm>
            <a:off x="4361688" y="3383280"/>
            <a:ext cx="3401568" cy="1280160"/>
          </a:xfrm>
          <a:prstGeom prst="roundRect">
            <a:avLst>
              <a:gd name="adj" fmla="val 4286"/>
            </a:avLst>
          </a:prstGeom>
          <a:solidFill>
            <a:srgbClr val="FFFFFF"/>
          </a:solidFill>
          <a:ln w="9525">
            <a:solidFill>
              <a:srgbClr val="FFFFFF"/>
            </a:solidFill>
            <a:prstDash val="solid"/>
          </a:ln>
        </p:spPr>
      </p:sp>
      <p:sp>
        <p:nvSpPr>
          <p:cNvPr id="17" name="Text 15"/>
          <p:cNvSpPr/>
          <p:nvPr/>
        </p:nvSpPr>
        <p:spPr>
          <a:xfrm>
            <a:off x="4617720" y="3584448"/>
            <a:ext cx="2889504" cy="548640"/>
          </a:xfrm>
          <a:prstGeom prst="rect">
            <a:avLst/>
          </a:prstGeom>
          <a:noFill/>
          <a:ln/>
        </p:spPr>
        <p:txBody>
          <a:bodyPr wrap="square" lIns="0" tIns="0" rIns="0" bIns="0" rtlCol="0" anchor="t"/>
          <a:lstStyle/>
          <a:p>
            <a:pPr indent="0" marL="0">
              <a:buNone/>
            </a:pPr>
            <a:r>
              <a:rPr lang="en-US" sz="3200" b="1" dirty="0">
                <a:solidFill>
                  <a:srgbClr val="D44B52"/>
                </a:solidFill>
                <a:latin typeface="Calibri" pitchFamily="34" charset="0"/>
                <a:ea typeface="Calibri" pitchFamily="34" charset="-122"/>
                <a:cs typeface="Calibri" pitchFamily="34" charset="-120"/>
              </a:rPr>
              <a:t>13</a:t>
            </a:r>
            <a:endParaRPr lang="en-US" sz="3200" dirty="0"/>
          </a:p>
        </p:txBody>
      </p:sp>
      <p:sp>
        <p:nvSpPr>
          <p:cNvPr id="18" name="Text 16"/>
          <p:cNvSpPr/>
          <p:nvPr/>
        </p:nvSpPr>
        <p:spPr>
          <a:xfrm>
            <a:off x="4617720" y="4160520"/>
            <a:ext cx="2889504" cy="41148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legacy opponent-transition-shot positives — rejected</a:t>
            </a:r>
            <a:endParaRPr lang="en-US" sz="1400" dirty="0"/>
          </a:p>
        </p:txBody>
      </p:sp>
      <p:sp>
        <p:nvSpPr>
          <p:cNvPr id="19" name="Shape 17"/>
          <p:cNvSpPr/>
          <p:nvPr/>
        </p:nvSpPr>
        <p:spPr>
          <a:xfrm>
            <a:off x="8037576" y="3383280"/>
            <a:ext cx="3401568" cy="1280160"/>
          </a:xfrm>
          <a:prstGeom prst="roundRect">
            <a:avLst>
              <a:gd name="adj" fmla="val 4286"/>
            </a:avLst>
          </a:prstGeom>
          <a:solidFill>
            <a:srgbClr val="FFFFFF"/>
          </a:solidFill>
          <a:ln w="9525">
            <a:solidFill>
              <a:srgbClr val="FFFFFF"/>
            </a:solidFill>
            <a:prstDash val="solid"/>
          </a:ln>
        </p:spPr>
      </p:sp>
      <p:sp>
        <p:nvSpPr>
          <p:cNvPr id="20" name="Text 18"/>
          <p:cNvSpPr/>
          <p:nvPr/>
        </p:nvSpPr>
        <p:spPr>
          <a:xfrm>
            <a:off x="8293608" y="3584448"/>
            <a:ext cx="2889504" cy="548640"/>
          </a:xfrm>
          <a:prstGeom prst="rect">
            <a:avLst/>
          </a:prstGeom>
          <a:noFill/>
          <a:ln/>
        </p:spPr>
        <p:txBody>
          <a:bodyPr wrap="square" lIns="0" tIns="0" rIns="0" bIns="0" rtlCol="0" anchor="t"/>
          <a:lstStyle/>
          <a:p>
            <a:pPr indent="0" marL="0">
              <a:buNone/>
            </a:pPr>
            <a:r>
              <a:rPr lang="en-US" sz="3200" b="1" dirty="0">
                <a:solidFill>
                  <a:srgbClr val="161617"/>
                </a:solidFill>
                <a:latin typeface="Calibri" pitchFamily="34" charset="0"/>
                <a:ea typeface="Calibri" pitchFamily="34" charset="-122"/>
                <a:cs typeface="Calibri" pitchFamily="34" charset="-120"/>
              </a:rPr>
              <a:t>259</a:t>
            </a:r>
            <a:endParaRPr lang="en-US" sz="3200" dirty="0"/>
          </a:p>
        </p:txBody>
      </p:sp>
      <p:sp>
        <p:nvSpPr>
          <p:cNvPr id="21" name="Text 19"/>
          <p:cNvSpPr/>
          <p:nvPr/>
        </p:nvSpPr>
        <p:spPr>
          <a:xfrm>
            <a:off x="8293608" y="4160520"/>
            <a:ext cx="2889504" cy="411480"/>
          </a:xfrm>
          <a:prstGeom prst="rect">
            <a:avLst/>
          </a:prstGeom>
          <a:noFill/>
          <a:ln/>
        </p:spPr>
        <p:txBody>
          <a:bodyPr wrap="square" lIns="0" tIns="0" rIns="0" bIns="0" rtlCol="0" anchor="t"/>
          <a:lstStyle/>
          <a:p>
            <a:pPr indent="0" marL="0">
              <a:lnSpc>
                <a:spcPts val="1700"/>
              </a:lnSpc>
              <a:buNone/>
            </a:pPr>
            <a:r>
              <a:rPr lang="en-US" sz="1400" dirty="0">
                <a:solidFill>
                  <a:srgbClr val="6E6E73"/>
                </a:solidFill>
                <a:latin typeface="Calibri" pitchFamily="34" charset="0"/>
                <a:ea typeface="Calibri" pitchFamily="34" charset="-122"/>
                <a:cs typeface="Calibri" pitchFamily="34" charset="-120"/>
              </a:rPr>
              <a:t>pre-decision 15-second penalty-area transitions</a:t>
            </a:r>
            <a:endParaRPr lang="en-US" sz="1400" dirty="0"/>
          </a:p>
        </p:txBody>
      </p:sp>
      <p:sp>
        <p:nvSpPr>
          <p:cNvPr id="22" name="Shape 20"/>
          <p:cNvSpPr/>
          <p:nvPr/>
        </p:nvSpPr>
        <p:spPr>
          <a:xfrm>
            <a:off x="685800" y="5074920"/>
            <a:ext cx="10817352" cy="1234440"/>
          </a:xfrm>
          <a:prstGeom prst="roundRect">
            <a:avLst>
              <a:gd name="adj" fmla="val 4444"/>
            </a:avLst>
          </a:prstGeom>
          <a:solidFill>
            <a:srgbClr val="F9E7E8"/>
          </a:solidFill>
          <a:ln w="9525">
            <a:solidFill>
              <a:srgbClr val="F9E7E8"/>
            </a:solidFill>
            <a:prstDash val="solid"/>
          </a:ln>
        </p:spPr>
      </p:sp>
      <p:sp>
        <p:nvSpPr>
          <p:cNvPr id="23" name="Text 21"/>
          <p:cNvSpPr/>
          <p:nvPr/>
        </p:nvSpPr>
        <p:spPr>
          <a:xfrm>
            <a:off x="960120" y="5276088"/>
            <a:ext cx="10268712" cy="237744"/>
          </a:xfrm>
          <a:prstGeom prst="rect">
            <a:avLst/>
          </a:prstGeom>
          <a:noFill/>
          <a:ln/>
        </p:spPr>
        <p:txBody>
          <a:bodyPr wrap="square" lIns="0" tIns="0" rIns="0" bIns="0" rtlCol="0" anchor="t"/>
          <a:lstStyle/>
          <a:p>
            <a:pPr indent="0" marL="0">
              <a:buNone/>
            </a:pPr>
            <a:r>
              <a:rPr lang="en-US" sz="1200" b="1" spc="140" kern="0" dirty="0">
                <a:solidFill>
                  <a:srgbClr val="D44B52"/>
                </a:solidFill>
                <a:latin typeface="Calibri" pitchFamily="34" charset="0"/>
                <a:ea typeface="Calibri" pitchFamily="34" charset="-122"/>
                <a:cs typeface="Calibri" pitchFamily="34" charset="-120"/>
              </a:rPr>
              <a:t>ELIGIBILITY IS NOT OUTCOME-NEUTRAL</a:t>
            </a:r>
            <a:endParaRPr lang="en-US" sz="1200" dirty="0"/>
          </a:p>
        </p:txBody>
      </p:sp>
      <p:sp>
        <p:nvSpPr>
          <p:cNvPr id="24" name="Text 22"/>
          <p:cNvSpPr/>
          <p:nvPr/>
        </p:nvSpPr>
        <p:spPr>
          <a:xfrm>
            <a:off x="960120" y="5605272"/>
            <a:ext cx="10268712" cy="566928"/>
          </a:xfrm>
          <a:prstGeom prst="rect">
            <a:avLst/>
          </a:prstGeom>
          <a:noFill/>
          <a:ln/>
        </p:spPr>
        <p:txBody>
          <a:bodyPr wrap="square" lIns="0" tIns="0" rIns="0" bIns="0" rtlCol="0" anchor="t"/>
          <a:lstStyle/>
          <a:p>
            <a:pPr indent="0" marL="0">
              <a:lnSpc>
                <a:spcPts val="2125"/>
              </a:lnSpc>
              <a:buNone/>
            </a:pPr>
            <a:r>
              <a:rPr lang="en-US" sz="1700" dirty="0">
                <a:solidFill>
                  <a:srgbClr val="161617"/>
                </a:solidFill>
                <a:latin typeface="Calibri" pitchFamily="34" charset="0"/>
                <a:ea typeface="Calibri" pitchFamily="34" charset="-122"/>
                <a:cs typeface="Calibri" pitchFamily="34" charset="-120"/>
              </a:rPr>
              <a:t>Stage 5 eligibility depends on 360 coverage, which depends on broadcast visibility. Every model claim applies to the eligible population, not to all 11,016 possessions.</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APPENDIX C</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Current model benchmark table — all entries provisional</a:t>
            </a:r>
            <a:endParaRPr lang="en-US" sz="35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85800" y="1874520"/>
          <a:ext cx="10817352" cy="914400"/>
        </p:xfrm>
        <a:graphic>
          <a:graphicData uri="http://schemas.openxmlformats.org/drawingml/2006/table">
            <a:tbl>
              <a:tblPr/>
              <a:tblGrid>
                <a:gridCol w="2468880"/>
                <a:gridCol w="2834640"/>
                <a:gridCol w="5513832"/>
              </a:tblGrid>
              <a:tr h="457200">
                <a:tc>
                  <a:txBody>
                    <a:bodyPr/>
                    <a:lstStyle/>
                    <a:p>
                      <a:pPr indent="0" marL="0">
                        <a:buNone/>
                      </a:pPr>
                      <a:r>
                        <a:rPr lang="en-US" sz="1300" b="1" dirty="0">
                          <a:solidFill>
                            <a:srgbClr val="161617"/>
                          </a:solidFill>
                          <a:latin typeface="Calibri" pitchFamily="34" charset="0"/>
                          <a:ea typeface="Calibri" pitchFamily="34" charset="-122"/>
                          <a:cs typeface="Calibri" pitchFamily="34" charset="-120"/>
                        </a:rPr>
                        <a:t>Feature layout</a:t>
                      </a:r>
                      <a:endParaRPr lang="en-US" sz="1300" dirty="0">
                        <a:latin typeface="Calibri" charset="0"/>
                        <a:ea typeface="Calibri" charset="0"/>
                        <a:cs typeface="Calibri" charset="0"/>
                      </a:endParaRPr>
                    </a:p>
                  </a:txBody>
                  <a:tcPr marL="101600" marR="101600" marT="101600" marB="101600" anchor="ctr">
                    <a:lnL w="12700" cap="flat" cmpd="sng" algn="ctr">
                      <a:solidFill>
                        <a:srgbClr val="DCDCE1"/>
                      </a:solidFill>
                      <a:prstDash val="solid"/>
                      <a:round/>
                      <a:headEnd type="none" w="med" len="med"/>
                      <a:tailEnd type="none" w="med" len="med"/>
                    </a:lnL>
                    <a:lnR w="12700" cap="flat" cmpd="sng" algn="ctr">
                      <a:solidFill>
                        <a:srgbClr val="DCDCE1"/>
                      </a:solidFill>
                      <a:prstDash val="solid"/>
                      <a:round/>
                      <a:headEnd type="none" w="med" len="med"/>
                      <a:tailEnd type="none" w="med" len="med"/>
                    </a:lnR>
                    <a:lnT w="12700" cap="flat" cmpd="sng" algn="ctr">
                      <a:solidFill>
                        <a:srgbClr val="DCDCE1"/>
                      </a:solidFill>
                      <a:prstDash val="solid"/>
                      <a:round/>
                      <a:headEnd type="none" w="med" len="med"/>
                      <a:tailEnd type="none" w="med" len="med"/>
                    </a:lnT>
                    <a:lnB w="12700" cap="flat" cmpd="sng" algn="ctr">
                      <a:solidFill>
                        <a:srgbClr val="DCDCE1"/>
                      </a:solidFill>
                      <a:prstDash val="solid"/>
                      <a:round/>
                      <a:headEnd type="none" w="med" len="med"/>
                      <a:tailEnd type="none" w="med" len="med"/>
                    </a:lnB>
                    <a:solidFill>
                      <a:srgbClr val="FFFFFF"/>
                    </a:solidFill>
                  </a:tcPr>
                </a:tc>
                <a:tc>
                  <a:txBody>
                    <a:bodyPr/>
                    <a:lstStyle/>
                    <a:p>
                      <a:pPr indent="0" marL="0">
                        <a:buNone/>
                      </a:pPr>
                      <a:r>
                        <a:rPr lang="en-US" sz="1300" b="1" dirty="0">
                          <a:solidFill>
                            <a:srgbClr val="161617"/>
                          </a:solidFill>
                          <a:latin typeface="Calibri" pitchFamily="34" charset="0"/>
                          <a:ea typeface="Calibri" pitchFamily="34" charset="-122"/>
                          <a:cs typeface="Calibri" pitchFamily="34" charset="-120"/>
                        </a:rPr>
                        <a:t>Information class</a:t>
                      </a:r>
                      <a:endParaRPr lang="en-US" sz="1300" dirty="0">
                        <a:latin typeface="Calibri" charset="0"/>
                        <a:ea typeface="Calibri" charset="0"/>
                        <a:cs typeface="Calibri" charset="0"/>
                      </a:endParaRPr>
                    </a:p>
                  </a:txBody>
                  <a:tcPr marL="101600" marR="101600" marT="101600" marB="101600" anchor="ctr">
                    <a:lnL w="12700" cap="flat" cmpd="sng" algn="ctr">
                      <a:solidFill>
                        <a:srgbClr val="DCDCE1"/>
                      </a:solidFill>
                      <a:prstDash val="solid"/>
                      <a:round/>
                      <a:headEnd type="none" w="med" len="med"/>
                      <a:tailEnd type="none" w="med" len="med"/>
                    </a:lnL>
                    <a:lnR w="12700" cap="flat" cmpd="sng" algn="ctr">
                      <a:solidFill>
                        <a:srgbClr val="DCDCE1"/>
                      </a:solidFill>
                      <a:prstDash val="solid"/>
                      <a:round/>
                      <a:headEnd type="none" w="med" len="med"/>
                      <a:tailEnd type="none" w="med" len="med"/>
                    </a:lnR>
                    <a:lnT w="12700" cap="flat" cmpd="sng" algn="ctr">
                      <a:solidFill>
                        <a:srgbClr val="DCDCE1"/>
                      </a:solidFill>
                      <a:prstDash val="solid"/>
                      <a:round/>
                      <a:headEnd type="none" w="med" len="med"/>
                      <a:tailEnd type="none" w="med" len="med"/>
                    </a:lnT>
                    <a:lnB w="12700" cap="flat" cmpd="sng" algn="ctr">
                      <a:solidFill>
                        <a:srgbClr val="DCDCE1"/>
                      </a:solidFill>
                      <a:prstDash val="solid"/>
                      <a:round/>
                      <a:headEnd type="none" w="med" len="med"/>
                      <a:tailEnd type="none" w="med" len="med"/>
                    </a:lnB>
                    <a:solidFill>
                      <a:srgbClr val="FFFFFF"/>
                    </a:solidFill>
                  </a:tcPr>
                </a:tc>
                <a:tc>
                  <a:txBody>
                    <a:bodyPr/>
                    <a:lstStyle/>
                    <a:p>
                      <a:pPr indent="0" marL="0">
                        <a:buNone/>
                      </a:pPr>
                      <a:r>
                        <a:rPr lang="en-US" sz="1300" b="1" dirty="0">
                          <a:solidFill>
                            <a:srgbClr val="161617"/>
                          </a:solidFill>
                          <a:latin typeface="Calibri" pitchFamily="34" charset="0"/>
                          <a:ea typeface="Calibri" pitchFamily="34" charset="-122"/>
                          <a:cs typeface="Calibri" pitchFamily="34" charset="-120"/>
                        </a:rPr>
                        <a:t>Current provisional snapshot</a:t>
                      </a:r>
                      <a:endParaRPr lang="en-US" sz="1300" dirty="0">
                        <a:latin typeface="Calibri" charset="0"/>
                        <a:ea typeface="Calibri" charset="0"/>
                        <a:cs typeface="Calibri" charset="0"/>
                      </a:endParaRPr>
                    </a:p>
                  </a:txBody>
                  <a:tcPr marL="101600" marR="101600" marT="101600" marB="101600" anchor="ctr">
                    <a:lnL w="12700" cap="flat" cmpd="sng" algn="ctr">
                      <a:solidFill>
                        <a:srgbClr val="DCDCE1"/>
                      </a:solidFill>
                      <a:prstDash val="solid"/>
                      <a:round/>
                      <a:headEnd type="none" w="med" len="med"/>
                      <a:tailEnd type="none" w="med" len="med"/>
                    </a:lnL>
                    <a:lnR w="12700" cap="flat" cmpd="sng" algn="ctr">
                      <a:solidFill>
                        <a:srgbClr val="DCDCE1"/>
                      </a:solidFill>
                      <a:prstDash val="solid"/>
                      <a:round/>
                      <a:headEnd type="none" w="med" len="med"/>
                      <a:tailEnd type="none" w="med" len="med"/>
                    </a:lnR>
                    <a:lnT w="12700" cap="flat" cmpd="sng" algn="ctr">
                      <a:solidFill>
                        <a:srgbClr val="DCDCE1"/>
                      </a:solidFill>
                      <a:prstDash val="solid"/>
                      <a:round/>
                      <a:headEnd type="none" w="med" len="med"/>
                      <a:tailEnd type="none" w="med" len="med"/>
                    </a:lnT>
                    <a:lnB w="12700" cap="flat" cmpd="sng" algn="ctr">
                      <a:solidFill>
                        <a:srgbClr val="DCDCE1"/>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61617"/>
                          </a:solidFill>
                          <a:latin typeface="Calibri" pitchFamily="34" charset="0"/>
                          <a:ea typeface="Calibri" pitchFamily="34" charset="-122"/>
                          <a:cs typeface="Calibri" pitchFamily="34" charset="-120"/>
                        </a:rPr>
                        <a:t>Start Context</a:t>
                      </a:r>
                      <a:endParaRPr lang="en-US" sz="1300" dirty="0">
                        <a:latin typeface="Calibri" charset="0"/>
                        <a:ea typeface="Calibri" charset="0"/>
                        <a:cs typeface="Calibri" charset="0"/>
                      </a:endParaRPr>
                    </a:p>
                  </a:txBody>
                  <a:tcPr marL="101600" marR="101600" marT="101600" marB="101600" anchor="ctr">
                    <a:lnL w="12700" cap="flat" cmpd="sng" algn="ctr">
                      <a:solidFill>
                        <a:srgbClr val="DCDCE1"/>
                      </a:solidFill>
                      <a:prstDash val="solid"/>
                      <a:round/>
                      <a:headEnd type="none" w="med" len="med"/>
                      <a:tailEnd type="none" w="med" len="med"/>
                    </a:lnL>
                    <a:lnR w="12700" cap="flat" cmpd="sng" algn="ctr">
                      <a:solidFill>
                        <a:srgbClr val="DCDCE1"/>
                      </a:solidFill>
                      <a:prstDash val="solid"/>
                      <a:round/>
                      <a:headEnd type="none" w="med" len="med"/>
                      <a:tailEnd type="none" w="med" len="med"/>
                    </a:lnR>
                    <a:lnT w="12700" cap="flat" cmpd="sng" algn="ctr">
                      <a:solidFill>
                        <a:srgbClr val="DCDCE1"/>
                      </a:solidFill>
                      <a:prstDash val="solid"/>
                      <a:round/>
                      <a:headEnd type="none" w="med" len="med"/>
                      <a:tailEnd type="none" w="med" len="med"/>
                    </a:lnT>
                    <a:lnB w="12700" cap="flat" cmpd="sng" algn="ctr">
                      <a:solidFill>
                        <a:srgbClr val="DC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617"/>
                          </a:solidFill>
                          <a:latin typeface="Calibri" pitchFamily="34" charset="0"/>
                          <a:ea typeface="Calibri" pitchFamily="34" charset="-122"/>
                          <a:cs typeface="Calibri" pitchFamily="34" charset="-120"/>
                        </a:rPr>
                        <a:t>Pre-decision only</a:t>
                      </a:r>
                      <a:endParaRPr lang="en-US" sz="1300" dirty="0">
                        <a:latin typeface="Calibri" charset="0"/>
                        <a:ea typeface="Calibri" charset="0"/>
                        <a:cs typeface="Calibri" charset="0"/>
                      </a:endParaRPr>
                    </a:p>
                  </a:txBody>
                  <a:tcPr marL="101600" marR="101600" marT="101600" marB="101600" anchor="ctr">
                    <a:lnL w="12700" cap="flat" cmpd="sng" algn="ctr">
                      <a:solidFill>
                        <a:srgbClr val="DCDCE1"/>
                      </a:solidFill>
                      <a:prstDash val="solid"/>
                      <a:round/>
                      <a:headEnd type="none" w="med" len="med"/>
                      <a:tailEnd type="none" w="med" len="med"/>
                    </a:lnL>
                    <a:lnR w="12700" cap="flat" cmpd="sng" algn="ctr">
                      <a:solidFill>
                        <a:srgbClr val="DCDCE1"/>
                      </a:solidFill>
                      <a:prstDash val="solid"/>
                      <a:round/>
                      <a:headEnd type="none" w="med" len="med"/>
                      <a:tailEnd type="none" w="med" len="med"/>
                    </a:lnR>
                    <a:lnT w="12700" cap="flat" cmpd="sng" algn="ctr">
                      <a:solidFill>
                        <a:srgbClr val="DCDCE1"/>
                      </a:solidFill>
                      <a:prstDash val="solid"/>
                      <a:round/>
                      <a:headEnd type="none" w="med" len="med"/>
                      <a:tailEnd type="none" w="med" len="med"/>
                    </a:lnT>
                    <a:lnB w="12700" cap="flat" cmpd="sng" algn="ctr">
                      <a:solidFill>
                        <a:srgbClr val="DC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617"/>
                          </a:solidFill>
                          <a:latin typeface="Calibri" pitchFamily="34" charset="0"/>
                          <a:ea typeface="Calibri" pitchFamily="34" charset="-122"/>
                          <a:cs typeface="Calibri" pitchFamily="34" charset="-120"/>
                        </a:rPr>
                        <a:t>Benchmarked; not the selected layout — see results/coaching_model_benchmark.md</a:t>
                      </a:r>
                      <a:endParaRPr lang="en-US" sz="1300" dirty="0">
                        <a:latin typeface="Calibri" charset="0"/>
                        <a:ea typeface="Calibri" charset="0"/>
                        <a:cs typeface="Calibri" charset="0"/>
                      </a:endParaRPr>
                    </a:p>
                  </a:txBody>
                  <a:tcPr marL="101600" marR="101600" marT="101600" marB="101600" anchor="ctr">
                    <a:lnL w="12700" cap="flat" cmpd="sng" algn="ctr">
                      <a:solidFill>
                        <a:srgbClr val="DCDCE1"/>
                      </a:solidFill>
                      <a:prstDash val="solid"/>
                      <a:round/>
                      <a:headEnd type="none" w="med" len="med"/>
                      <a:tailEnd type="none" w="med" len="med"/>
                    </a:lnL>
                    <a:lnR w="12700" cap="flat" cmpd="sng" algn="ctr">
                      <a:solidFill>
                        <a:srgbClr val="DCDCE1"/>
                      </a:solidFill>
                      <a:prstDash val="solid"/>
                      <a:round/>
                      <a:headEnd type="none" w="med" len="med"/>
                      <a:tailEnd type="none" w="med" len="med"/>
                    </a:lnR>
                    <a:lnT w="12700" cap="flat" cmpd="sng" algn="ctr">
                      <a:solidFill>
                        <a:srgbClr val="DCDCE1"/>
                      </a:solidFill>
                      <a:prstDash val="solid"/>
                      <a:round/>
                      <a:headEnd type="none" w="med" len="med"/>
                      <a:tailEnd type="none" w="med" len="med"/>
                    </a:lnT>
                    <a:lnB w="12700" cap="flat" cmpd="sng" algn="ctr">
                      <a:solidFill>
                        <a:srgbClr val="DCDCE1"/>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61617"/>
                          </a:solidFill>
                          <a:latin typeface="Calibri" pitchFamily="34" charset="0"/>
                          <a:ea typeface="Calibri" pitchFamily="34" charset="-122"/>
                          <a:cs typeface="Calibri" pitchFamily="34" charset="-120"/>
                        </a:rPr>
                        <a:t>Context + Attack Style</a:t>
                      </a:r>
                      <a:endParaRPr lang="en-US" sz="1300" dirty="0">
                        <a:latin typeface="Calibri" charset="0"/>
                        <a:ea typeface="Calibri" charset="0"/>
                        <a:cs typeface="Calibri" charset="0"/>
                      </a:endParaRPr>
                    </a:p>
                  </a:txBody>
                  <a:tcPr marL="101600" marR="101600" marT="101600" marB="101600" anchor="ctr">
                    <a:lnL w="12700" cap="flat" cmpd="sng" algn="ctr">
                      <a:solidFill>
                        <a:srgbClr val="DCDCE1"/>
                      </a:solidFill>
                      <a:prstDash val="solid"/>
                      <a:round/>
                      <a:headEnd type="none" w="med" len="med"/>
                      <a:tailEnd type="none" w="med" len="med"/>
                    </a:lnL>
                    <a:lnR w="12700" cap="flat" cmpd="sng" algn="ctr">
                      <a:solidFill>
                        <a:srgbClr val="DCDCE1"/>
                      </a:solidFill>
                      <a:prstDash val="solid"/>
                      <a:round/>
                      <a:headEnd type="none" w="med" len="med"/>
                      <a:tailEnd type="none" w="med" len="med"/>
                    </a:lnR>
                    <a:lnT w="12700" cap="flat" cmpd="sng" algn="ctr">
                      <a:solidFill>
                        <a:srgbClr val="DCDCE1"/>
                      </a:solidFill>
                      <a:prstDash val="solid"/>
                      <a:round/>
                      <a:headEnd type="none" w="med" len="med"/>
                      <a:tailEnd type="none" w="med" len="med"/>
                    </a:lnT>
                    <a:lnB w="12700" cap="flat" cmpd="sng" algn="ctr">
                      <a:solidFill>
                        <a:srgbClr val="DC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617"/>
                          </a:solidFill>
                          <a:latin typeface="Calibri" pitchFamily="34" charset="0"/>
                          <a:ea typeface="Calibri" pitchFamily="34" charset="-122"/>
                          <a:cs typeface="Calibri" pitchFamily="34" charset="-120"/>
                        </a:rPr>
                        <a:t>Completed-possession attacking style</a:t>
                      </a:r>
                      <a:endParaRPr lang="en-US" sz="1300" dirty="0">
                        <a:latin typeface="Calibri" charset="0"/>
                        <a:ea typeface="Calibri" charset="0"/>
                        <a:cs typeface="Calibri" charset="0"/>
                      </a:endParaRPr>
                    </a:p>
                  </a:txBody>
                  <a:tcPr marL="101600" marR="101600" marT="101600" marB="101600" anchor="ctr">
                    <a:lnL w="12700" cap="flat" cmpd="sng" algn="ctr">
                      <a:solidFill>
                        <a:srgbClr val="DCDCE1"/>
                      </a:solidFill>
                      <a:prstDash val="solid"/>
                      <a:round/>
                      <a:headEnd type="none" w="med" len="med"/>
                      <a:tailEnd type="none" w="med" len="med"/>
                    </a:lnL>
                    <a:lnR w="12700" cap="flat" cmpd="sng" algn="ctr">
                      <a:solidFill>
                        <a:srgbClr val="DCDCE1"/>
                      </a:solidFill>
                      <a:prstDash val="solid"/>
                      <a:round/>
                      <a:headEnd type="none" w="med" len="med"/>
                      <a:tailEnd type="none" w="med" len="med"/>
                    </a:lnR>
                    <a:lnT w="12700" cap="flat" cmpd="sng" algn="ctr">
                      <a:solidFill>
                        <a:srgbClr val="DCDCE1"/>
                      </a:solidFill>
                      <a:prstDash val="solid"/>
                      <a:round/>
                      <a:headEnd type="none" w="med" len="med"/>
                      <a:tailEnd type="none" w="med" len="med"/>
                    </a:lnT>
                    <a:lnB w="12700" cap="flat" cmpd="sng" algn="ctr">
                      <a:solidFill>
                        <a:srgbClr val="DC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617"/>
                          </a:solidFill>
                          <a:latin typeface="Calibri" pitchFamily="34" charset="0"/>
                          <a:ea typeface="Calibri" pitchFamily="34" charset="-122"/>
                          <a:cs typeface="Calibri" pitchFamily="34" charset="-120"/>
                        </a:rPr>
                        <a:t>Benchmarked; not the selected layout</a:t>
                      </a:r>
                      <a:endParaRPr lang="en-US" sz="1300" dirty="0">
                        <a:latin typeface="Calibri" charset="0"/>
                        <a:ea typeface="Calibri" charset="0"/>
                        <a:cs typeface="Calibri" charset="0"/>
                      </a:endParaRPr>
                    </a:p>
                  </a:txBody>
                  <a:tcPr marL="101600" marR="101600" marT="101600" marB="101600" anchor="ctr">
                    <a:lnL w="12700" cap="flat" cmpd="sng" algn="ctr">
                      <a:solidFill>
                        <a:srgbClr val="DCDCE1"/>
                      </a:solidFill>
                      <a:prstDash val="solid"/>
                      <a:round/>
                      <a:headEnd type="none" w="med" len="med"/>
                      <a:tailEnd type="none" w="med" len="med"/>
                    </a:lnL>
                    <a:lnR w="12700" cap="flat" cmpd="sng" algn="ctr">
                      <a:solidFill>
                        <a:srgbClr val="DCDCE1"/>
                      </a:solidFill>
                      <a:prstDash val="solid"/>
                      <a:round/>
                      <a:headEnd type="none" w="med" len="med"/>
                      <a:tailEnd type="none" w="med" len="med"/>
                    </a:lnR>
                    <a:lnT w="12700" cap="flat" cmpd="sng" algn="ctr">
                      <a:solidFill>
                        <a:srgbClr val="DCDCE1"/>
                      </a:solidFill>
                      <a:prstDash val="solid"/>
                      <a:round/>
                      <a:headEnd type="none" w="med" len="med"/>
                      <a:tailEnd type="none" w="med" len="med"/>
                    </a:lnT>
                    <a:lnB w="12700" cap="flat" cmpd="sng" algn="ctr">
                      <a:solidFill>
                        <a:srgbClr val="DCDCE1"/>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61617"/>
                          </a:solidFill>
                          <a:latin typeface="Calibri" pitchFamily="34" charset="0"/>
                          <a:ea typeface="Calibri" pitchFamily="34" charset="-122"/>
                          <a:cs typeface="Calibri" pitchFamily="34" charset="-120"/>
                        </a:rPr>
                        <a:t>Context + Both Styles</a:t>
                      </a:r>
                      <a:endParaRPr lang="en-US" sz="1300" dirty="0">
                        <a:latin typeface="Calibri" charset="0"/>
                        <a:ea typeface="Calibri" charset="0"/>
                        <a:cs typeface="Calibri" charset="0"/>
                      </a:endParaRPr>
                    </a:p>
                  </a:txBody>
                  <a:tcPr marL="101600" marR="101600" marT="101600" marB="101600" anchor="ctr">
                    <a:lnL w="12700" cap="flat" cmpd="sng" algn="ctr">
                      <a:solidFill>
                        <a:srgbClr val="DCDCE1"/>
                      </a:solidFill>
                      <a:prstDash val="solid"/>
                      <a:round/>
                      <a:headEnd type="none" w="med" len="med"/>
                      <a:tailEnd type="none" w="med" len="med"/>
                    </a:lnL>
                    <a:lnR w="12700" cap="flat" cmpd="sng" algn="ctr">
                      <a:solidFill>
                        <a:srgbClr val="DCDCE1"/>
                      </a:solidFill>
                      <a:prstDash val="solid"/>
                      <a:round/>
                      <a:headEnd type="none" w="med" len="med"/>
                      <a:tailEnd type="none" w="med" len="med"/>
                    </a:lnR>
                    <a:lnT w="12700" cap="flat" cmpd="sng" algn="ctr">
                      <a:solidFill>
                        <a:srgbClr val="DCDCE1"/>
                      </a:solidFill>
                      <a:prstDash val="solid"/>
                      <a:round/>
                      <a:headEnd type="none" w="med" len="med"/>
                      <a:tailEnd type="none" w="med" len="med"/>
                    </a:lnT>
                    <a:lnB w="12700" cap="flat" cmpd="sng" algn="ctr">
                      <a:solidFill>
                        <a:srgbClr val="DC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617"/>
                          </a:solidFill>
                          <a:latin typeface="Calibri" pitchFamily="34" charset="0"/>
                          <a:ea typeface="Calibri" pitchFamily="34" charset="-122"/>
                          <a:cs typeface="Calibri" pitchFamily="34" charset="-120"/>
                        </a:rPr>
                        <a:t>Completed-possession attacking and defensive styles</a:t>
                      </a:r>
                      <a:endParaRPr lang="en-US" sz="1300" dirty="0">
                        <a:latin typeface="Calibri" charset="0"/>
                        <a:ea typeface="Calibri" charset="0"/>
                        <a:cs typeface="Calibri" charset="0"/>
                      </a:endParaRPr>
                    </a:p>
                  </a:txBody>
                  <a:tcPr marL="101600" marR="101600" marT="101600" marB="101600" anchor="ctr">
                    <a:lnL w="12700" cap="flat" cmpd="sng" algn="ctr">
                      <a:solidFill>
                        <a:srgbClr val="DCDCE1"/>
                      </a:solidFill>
                      <a:prstDash val="solid"/>
                      <a:round/>
                      <a:headEnd type="none" w="med" len="med"/>
                      <a:tailEnd type="none" w="med" len="med"/>
                    </a:lnL>
                    <a:lnR w="12700" cap="flat" cmpd="sng" algn="ctr">
                      <a:solidFill>
                        <a:srgbClr val="DCDCE1"/>
                      </a:solidFill>
                      <a:prstDash val="solid"/>
                      <a:round/>
                      <a:headEnd type="none" w="med" len="med"/>
                      <a:tailEnd type="none" w="med" len="med"/>
                    </a:lnR>
                    <a:lnT w="12700" cap="flat" cmpd="sng" algn="ctr">
                      <a:solidFill>
                        <a:srgbClr val="DCDCE1"/>
                      </a:solidFill>
                      <a:prstDash val="solid"/>
                      <a:round/>
                      <a:headEnd type="none" w="med" len="med"/>
                      <a:tailEnd type="none" w="med" len="med"/>
                    </a:lnT>
                    <a:lnB w="12700" cap="flat" cmpd="sng" algn="ctr">
                      <a:solidFill>
                        <a:srgbClr val="DC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617"/>
                          </a:solidFill>
                          <a:latin typeface="Calibri" pitchFamily="34" charset="0"/>
                          <a:ea typeface="Calibri" pitchFamily="34" charset="-122"/>
                          <a:cs typeface="Calibri" pitchFamily="34" charset="-120"/>
                        </a:rPr>
                        <a:t>Benchmarked; not the selected layout</a:t>
                      </a:r>
                      <a:endParaRPr lang="en-US" sz="1300" dirty="0">
                        <a:latin typeface="Calibri" charset="0"/>
                        <a:ea typeface="Calibri" charset="0"/>
                        <a:cs typeface="Calibri" charset="0"/>
                      </a:endParaRPr>
                    </a:p>
                  </a:txBody>
                  <a:tcPr marL="101600" marR="101600" marT="101600" marB="101600" anchor="ctr">
                    <a:lnL w="12700" cap="flat" cmpd="sng" algn="ctr">
                      <a:solidFill>
                        <a:srgbClr val="DCDCE1"/>
                      </a:solidFill>
                      <a:prstDash val="solid"/>
                      <a:round/>
                      <a:headEnd type="none" w="med" len="med"/>
                      <a:tailEnd type="none" w="med" len="med"/>
                    </a:lnL>
                    <a:lnR w="12700" cap="flat" cmpd="sng" algn="ctr">
                      <a:solidFill>
                        <a:srgbClr val="DCDCE1"/>
                      </a:solidFill>
                      <a:prstDash val="solid"/>
                      <a:round/>
                      <a:headEnd type="none" w="med" len="med"/>
                      <a:tailEnd type="none" w="med" len="med"/>
                    </a:lnR>
                    <a:lnT w="12700" cap="flat" cmpd="sng" algn="ctr">
                      <a:solidFill>
                        <a:srgbClr val="DCDCE1"/>
                      </a:solidFill>
                      <a:prstDash val="solid"/>
                      <a:round/>
                      <a:headEnd type="none" w="med" len="med"/>
                      <a:tailEnd type="none" w="med" len="med"/>
                    </a:lnT>
                    <a:lnB w="12700" cap="flat" cmpd="sng" algn="ctr">
                      <a:solidFill>
                        <a:srgbClr val="DCDCE1"/>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61617"/>
                          </a:solidFill>
                          <a:latin typeface="Calibri" pitchFamily="34" charset="0"/>
                          <a:ea typeface="Calibri" pitchFamily="34" charset="-122"/>
                          <a:cs typeface="Calibri" pitchFamily="34" charset="-120"/>
                        </a:rPr>
                        <a:t>Tactical + Shape</a:t>
                      </a:r>
                      <a:endParaRPr lang="en-US" sz="1300" dirty="0">
                        <a:latin typeface="Calibri" charset="0"/>
                        <a:ea typeface="Calibri" charset="0"/>
                        <a:cs typeface="Calibri" charset="0"/>
                      </a:endParaRPr>
                    </a:p>
                  </a:txBody>
                  <a:tcPr marL="101600" marR="101600" marT="101600" marB="101600" anchor="ctr">
                    <a:lnL w="12700" cap="flat" cmpd="sng" algn="ctr">
                      <a:solidFill>
                        <a:srgbClr val="DCDCE1"/>
                      </a:solidFill>
                      <a:prstDash val="solid"/>
                      <a:round/>
                      <a:headEnd type="none" w="med" len="med"/>
                      <a:tailEnd type="none" w="med" len="med"/>
                    </a:lnL>
                    <a:lnR w="12700" cap="flat" cmpd="sng" algn="ctr">
                      <a:solidFill>
                        <a:srgbClr val="DCDCE1"/>
                      </a:solidFill>
                      <a:prstDash val="solid"/>
                      <a:round/>
                      <a:headEnd type="none" w="med" len="med"/>
                      <a:tailEnd type="none" w="med" len="med"/>
                    </a:lnR>
                    <a:lnT w="12700" cap="flat" cmpd="sng" algn="ctr">
                      <a:solidFill>
                        <a:srgbClr val="DCDCE1"/>
                      </a:solidFill>
                      <a:prstDash val="solid"/>
                      <a:round/>
                      <a:headEnd type="none" w="med" len="med"/>
                      <a:tailEnd type="none" w="med" len="med"/>
                    </a:lnT>
                    <a:lnB w="12700" cap="flat" cmpd="sng" algn="ctr">
                      <a:solidFill>
                        <a:srgbClr val="DC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617"/>
                          </a:solidFill>
                          <a:latin typeface="Calibri" pitchFamily="34" charset="0"/>
                          <a:ea typeface="Calibri" pitchFamily="34" charset="-122"/>
                          <a:cs typeface="Calibri" pitchFamily="34" charset="-120"/>
                        </a:rPr>
                        <a:t>Full-possession shape averages</a:t>
                      </a:r>
                      <a:endParaRPr lang="en-US" sz="1300" dirty="0">
                        <a:latin typeface="Calibri" charset="0"/>
                        <a:ea typeface="Calibri" charset="0"/>
                        <a:cs typeface="Calibri" charset="0"/>
                      </a:endParaRPr>
                    </a:p>
                  </a:txBody>
                  <a:tcPr marL="101600" marR="101600" marT="101600" marB="101600" anchor="ctr">
                    <a:lnL w="12700" cap="flat" cmpd="sng" algn="ctr">
                      <a:solidFill>
                        <a:srgbClr val="DCDCE1"/>
                      </a:solidFill>
                      <a:prstDash val="solid"/>
                      <a:round/>
                      <a:headEnd type="none" w="med" len="med"/>
                      <a:tailEnd type="none" w="med" len="med"/>
                    </a:lnL>
                    <a:lnR w="12700" cap="flat" cmpd="sng" algn="ctr">
                      <a:solidFill>
                        <a:srgbClr val="DCDCE1"/>
                      </a:solidFill>
                      <a:prstDash val="solid"/>
                      <a:round/>
                      <a:headEnd type="none" w="med" len="med"/>
                      <a:tailEnd type="none" w="med" len="med"/>
                    </a:lnR>
                    <a:lnT w="12700" cap="flat" cmpd="sng" algn="ctr">
                      <a:solidFill>
                        <a:srgbClr val="DCDCE1"/>
                      </a:solidFill>
                      <a:prstDash val="solid"/>
                      <a:round/>
                      <a:headEnd type="none" w="med" len="med"/>
                      <a:tailEnd type="none" w="med" len="med"/>
                    </a:lnT>
                    <a:lnB w="12700" cap="flat" cmpd="sng" algn="ctr">
                      <a:solidFill>
                        <a:srgbClr val="DC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617"/>
                          </a:solidFill>
                          <a:latin typeface="Calibri" pitchFamily="34" charset="0"/>
                          <a:ea typeface="Calibri" pitchFamily="34" charset="-122"/>
                          <a:cs typeface="Calibri" pitchFamily="34" charset="-120"/>
                        </a:rPr>
                        <a:t>Shot — XGBoost: log loss 0.2486, ROC-AUC 0.8918, PR-AUC 0.5238</a:t>
                      </a:r>
                      <a:endParaRPr lang="en-US" sz="1300" dirty="0">
                        <a:latin typeface="Calibri" charset="0"/>
                        <a:ea typeface="Calibri" charset="0"/>
                        <a:cs typeface="Calibri" charset="0"/>
                      </a:endParaRPr>
                    </a:p>
                    <a:p>
                      <a:pPr indent="0" marL="0">
                        <a:buNone/>
                      </a:pPr>
                      <a:r>
                        <a:rPr lang="en-US" sz="1300" dirty="0">
                          <a:solidFill>
                            <a:srgbClr val="161617"/>
                          </a:solidFill>
                          <a:latin typeface="Calibri" pitchFamily="34" charset="0"/>
                          <a:ea typeface="Calibri" pitchFamily="34" charset="-122"/>
                          <a:cs typeface="Calibri" pitchFamily="34" charset="-120"/>
                        </a:rPr>
                        <a:t>Penalty-area entry — HistGB: log loss 0.3556, ROC-AUC 0.9041, PR-AUC 0.8304</a:t>
                      </a:r>
                      <a:endParaRPr lang="en-US" sz="1300" dirty="0">
                        <a:latin typeface="Calibri" charset="0"/>
                        <a:ea typeface="Calibri" charset="0"/>
                        <a:cs typeface="Calibri" charset="0"/>
                      </a:endParaRPr>
                    </a:p>
                  </a:txBody>
                  <a:tcPr marL="101600" marR="101600" marT="101600" marB="101600" anchor="ctr">
                    <a:lnL w="12700" cap="flat" cmpd="sng" algn="ctr">
                      <a:solidFill>
                        <a:srgbClr val="DCDCE1"/>
                      </a:solidFill>
                      <a:prstDash val="solid"/>
                      <a:round/>
                      <a:headEnd type="none" w="med" len="med"/>
                      <a:tailEnd type="none" w="med" len="med"/>
                    </a:lnL>
                    <a:lnR w="12700" cap="flat" cmpd="sng" algn="ctr">
                      <a:solidFill>
                        <a:srgbClr val="DCDCE1"/>
                      </a:solidFill>
                      <a:prstDash val="solid"/>
                      <a:round/>
                      <a:headEnd type="none" w="med" len="med"/>
                      <a:tailEnd type="none" w="med" len="med"/>
                    </a:lnR>
                    <a:lnT w="12700" cap="flat" cmpd="sng" algn="ctr">
                      <a:solidFill>
                        <a:srgbClr val="DCDCE1"/>
                      </a:solidFill>
                      <a:prstDash val="solid"/>
                      <a:round/>
                      <a:headEnd type="none" w="med" len="med"/>
                      <a:tailEnd type="none" w="med" len="med"/>
                    </a:lnT>
                    <a:lnB w="12700" cap="flat" cmpd="sng" algn="ctr">
                      <a:solidFill>
                        <a:srgbClr val="DCDCE1"/>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61617"/>
                          </a:solidFill>
                          <a:latin typeface="Calibri" pitchFamily="34" charset="0"/>
                          <a:ea typeface="Calibri" pitchFamily="34" charset="-122"/>
                          <a:cs typeface="Calibri" pitchFamily="34" charset="-120"/>
                        </a:rPr>
                        <a:t>Player-Aware</a:t>
                      </a:r>
                      <a:endParaRPr lang="en-US" sz="1300" dirty="0">
                        <a:latin typeface="Calibri" charset="0"/>
                        <a:ea typeface="Calibri" charset="0"/>
                        <a:cs typeface="Calibri" charset="0"/>
                      </a:endParaRPr>
                    </a:p>
                  </a:txBody>
                  <a:tcPr marL="101600" marR="101600" marT="101600" marB="101600" anchor="ctr">
                    <a:lnL w="12700" cap="flat" cmpd="sng" algn="ctr">
                      <a:solidFill>
                        <a:srgbClr val="DCDCE1"/>
                      </a:solidFill>
                      <a:prstDash val="solid"/>
                      <a:round/>
                      <a:headEnd type="none" w="med" len="med"/>
                      <a:tailEnd type="none" w="med" len="med"/>
                    </a:lnL>
                    <a:lnR w="12700" cap="flat" cmpd="sng" algn="ctr">
                      <a:solidFill>
                        <a:srgbClr val="DCDCE1"/>
                      </a:solidFill>
                      <a:prstDash val="solid"/>
                      <a:round/>
                      <a:headEnd type="none" w="med" len="med"/>
                      <a:tailEnd type="none" w="med" len="med"/>
                    </a:lnR>
                    <a:lnT w="12700" cap="flat" cmpd="sng" algn="ctr">
                      <a:solidFill>
                        <a:srgbClr val="DCDCE1"/>
                      </a:solidFill>
                      <a:prstDash val="solid"/>
                      <a:round/>
                      <a:headEnd type="none" w="med" len="med"/>
                      <a:tailEnd type="none" w="med" len="med"/>
                    </a:lnT>
                    <a:lnB w="12700" cap="flat" cmpd="sng" algn="ctr">
                      <a:solidFill>
                        <a:srgbClr val="DC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617"/>
                          </a:solidFill>
                          <a:latin typeface="Calibri" pitchFamily="34" charset="0"/>
                          <a:ea typeface="Calibri" pitchFamily="34" charset="-122"/>
                          <a:cs typeface="Calibri" pitchFamily="34" charset="-120"/>
                        </a:rPr>
                        <a:t>Prior player and lineup history</a:t>
                      </a:r>
                      <a:endParaRPr lang="en-US" sz="1300" dirty="0">
                        <a:latin typeface="Calibri" charset="0"/>
                        <a:ea typeface="Calibri" charset="0"/>
                        <a:cs typeface="Calibri" charset="0"/>
                      </a:endParaRPr>
                    </a:p>
                  </a:txBody>
                  <a:tcPr marL="101600" marR="101600" marT="101600" marB="101600" anchor="ctr">
                    <a:lnL w="12700" cap="flat" cmpd="sng" algn="ctr">
                      <a:solidFill>
                        <a:srgbClr val="DCDCE1"/>
                      </a:solidFill>
                      <a:prstDash val="solid"/>
                      <a:round/>
                      <a:headEnd type="none" w="med" len="med"/>
                      <a:tailEnd type="none" w="med" len="med"/>
                    </a:lnL>
                    <a:lnR w="12700" cap="flat" cmpd="sng" algn="ctr">
                      <a:solidFill>
                        <a:srgbClr val="DCDCE1"/>
                      </a:solidFill>
                      <a:prstDash val="solid"/>
                      <a:round/>
                      <a:headEnd type="none" w="med" len="med"/>
                      <a:tailEnd type="none" w="med" len="med"/>
                    </a:lnR>
                    <a:lnT w="12700" cap="flat" cmpd="sng" algn="ctr">
                      <a:solidFill>
                        <a:srgbClr val="DCDCE1"/>
                      </a:solidFill>
                      <a:prstDash val="solid"/>
                      <a:round/>
                      <a:headEnd type="none" w="med" len="med"/>
                      <a:tailEnd type="none" w="med" len="med"/>
                    </a:lnT>
                    <a:lnB w="12700" cap="flat" cmpd="sng" algn="ctr">
                      <a:solidFill>
                        <a:srgbClr val="DC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617"/>
                          </a:solidFill>
                          <a:latin typeface="Calibri" pitchFamily="34" charset="0"/>
                          <a:ea typeface="Calibri" pitchFamily="34" charset="-122"/>
                          <a:cs typeface="Calibri" pitchFamily="34" charset="-120"/>
                        </a:rPr>
                        <a:t>Benchmarked; not the selected layout</a:t>
                      </a:r>
                      <a:endParaRPr lang="en-US" sz="1300" dirty="0">
                        <a:latin typeface="Calibri" charset="0"/>
                        <a:ea typeface="Calibri" charset="0"/>
                        <a:cs typeface="Calibri" charset="0"/>
                      </a:endParaRPr>
                    </a:p>
                  </a:txBody>
                  <a:tcPr marL="101600" marR="101600" marT="101600" marB="101600" anchor="ctr">
                    <a:lnL w="12700" cap="flat" cmpd="sng" algn="ctr">
                      <a:solidFill>
                        <a:srgbClr val="DCDCE1"/>
                      </a:solidFill>
                      <a:prstDash val="solid"/>
                      <a:round/>
                      <a:headEnd type="none" w="med" len="med"/>
                      <a:tailEnd type="none" w="med" len="med"/>
                    </a:lnL>
                    <a:lnR w="12700" cap="flat" cmpd="sng" algn="ctr">
                      <a:solidFill>
                        <a:srgbClr val="DCDCE1"/>
                      </a:solidFill>
                      <a:prstDash val="solid"/>
                      <a:round/>
                      <a:headEnd type="none" w="med" len="med"/>
                      <a:tailEnd type="none" w="med" len="med"/>
                    </a:lnR>
                    <a:lnT w="12700" cap="flat" cmpd="sng" algn="ctr">
                      <a:solidFill>
                        <a:srgbClr val="DCDCE1"/>
                      </a:solidFill>
                      <a:prstDash val="solid"/>
                      <a:round/>
                      <a:headEnd type="none" w="med" len="med"/>
                      <a:tailEnd type="none" w="med" len="med"/>
                    </a:lnT>
                    <a:lnB w="12700" cap="flat" cmpd="sng" algn="ctr">
                      <a:solidFill>
                        <a:srgbClr val="DCDC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3568F0"/>
                          </a:solidFill>
                          <a:latin typeface="Calibri" pitchFamily="34" charset="0"/>
                          <a:ea typeface="Calibri" pitchFamily="34" charset="-122"/>
                          <a:cs typeface="Calibri" pitchFamily="34" charset="-120"/>
                        </a:rPr>
                        <a:t>Pre-decision branch (prospective)</a:t>
                      </a:r>
                      <a:endParaRPr lang="en-US" sz="1300" dirty="0">
                        <a:latin typeface="Calibri" charset="0"/>
                        <a:ea typeface="Calibri" charset="0"/>
                        <a:cs typeface="Calibri" charset="0"/>
                      </a:endParaRPr>
                    </a:p>
                  </a:txBody>
                  <a:tcPr marL="101600" marR="101600" marT="101600" marB="101600" anchor="ctr">
                    <a:lnL w="12700" cap="flat" cmpd="sng" algn="ctr">
                      <a:solidFill>
                        <a:srgbClr val="DCDCE1"/>
                      </a:solidFill>
                      <a:prstDash val="solid"/>
                      <a:round/>
                      <a:headEnd type="none" w="med" len="med"/>
                      <a:tailEnd type="none" w="med" len="med"/>
                    </a:lnL>
                    <a:lnR w="12700" cap="flat" cmpd="sng" algn="ctr">
                      <a:solidFill>
                        <a:srgbClr val="DCDCE1"/>
                      </a:solidFill>
                      <a:prstDash val="solid"/>
                      <a:round/>
                      <a:headEnd type="none" w="med" len="med"/>
                      <a:tailEnd type="none" w="med" len="med"/>
                    </a:lnR>
                    <a:lnT w="12700" cap="flat" cmpd="sng" algn="ctr">
                      <a:solidFill>
                        <a:srgbClr val="DCDCE1"/>
                      </a:solidFill>
                      <a:prstDash val="solid"/>
                      <a:round/>
                      <a:headEnd type="none" w="med" len="med"/>
                      <a:tailEnd type="none" w="med" len="med"/>
                    </a:lnT>
                    <a:lnB w="12700" cap="flat" cmpd="sng" algn="ctr">
                      <a:solidFill>
                        <a:srgbClr val="DCDCE1"/>
                      </a:solidFill>
                      <a:prstDash val="solid"/>
                      <a:round/>
                      <a:headEnd type="none" w="med" len="med"/>
                      <a:tailEnd type="none" w="med" len="med"/>
                    </a:lnB>
                    <a:solidFill>
                      <a:srgbClr val="FFFFFF"/>
                    </a:solidFill>
                  </a:tcPr>
                </a:tc>
                <a:tc>
                  <a:txBody>
                    <a:bodyPr/>
                    <a:lstStyle/>
                    <a:p>
                      <a:pPr indent="0" marL="0">
                        <a:buNone/>
                      </a:pPr>
                      <a:r>
                        <a:rPr lang="en-US" sz="1300" dirty="0">
                          <a:solidFill>
                            <a:srgbClr val="3568F0"/>
                          </a:solidFill>
                          <a:latin typeface="Calibri" pitchFamily="34" charset="0"/>
                          <a:ea typeface="Calibri" pitchFamily="34" charset="-122"/>
                          <a:cs typeface="Calibri" pitchFamily="34" charset="-120"/>
                        </a:rPr>
                        <a:t>Strictly prior history only</a:t>
                      </a:r>
                      <a:endParaRPr lang="en-US" sz="1300" dirty="0">
                        <a:latin typeface="Calibri" charset="0"/>
                        <a:ea typeface="Calibri" charset="0"/>
                        <a:cs typeface="Calibri" charset="0"/>
                      </a:endParaRPr>
                    </a:p>
                  </a:txBody>
                  <a:tcPr marL="101600" marR="101600" marT="101600" marB="101600" anchor="ctr">
                    <a:lnL w="12700" cap="flat" cmpd="sng" algn="ctr">
                      <a:solidFill>
                        <a:srgbClr val="DCDCE1"/>
                      </a:solidFill>
                      <a:prstDash val="solid"/>
                      <a:round/>
                      <a:headEnd type="none" w="med" len="med"/>
                      <a:tailEnd type="none" w="med" len="med"/>
                    </a:lnL>
                    <a:lnR w="12700" cap="flat" cmpd="sng" algn="ctr">
                      <a:solidFill>
                        <a:srgbClr val="DCDCE1"/>
                      </a:solidFill>
                      <a:prstDash val="solid"/>
                      <a:round/>
                      <a:headEnd type="none" w="med" len="med"/>
                      <a:tailEnd type="none" w="med" len="med"/>
                    </a:lnR>
                    <a:lnT w="12700" cap="flat" cmpd="sng" algn="ctr">
                      <a:solidFill>
                        <a:srgbClr val="DCDCE1"/>
                      </a:solidFill>
                      <a:prstDash val="solid"/>
                      <a:round/>
                      <a:headEnd type="none" w="med" len="med"/>
                      <a:tailEnd type="none" w="med" len="med"/>
                    </a:lnT>
                    <a:lnB w="12700" cap="flat" cmpd="sng" algn="ctr">
                      <a:solidFill>
                        <a:srgbClr val="DCDCE1"/>
                      </a:solidFill>
                      <a:prstDash val="solid"/>
                      <a:round/>
                      <a:headEnd type="none" w="med" len="med"/>
                      <a:tailEnd type="none" w="med" len="med"/>
                    </a:lnB>
                    <a:solidFill>
                      <a:srgbClr val="FFFFFF"/>
                    </a:solidFill>
                  </a:tcPr>
                </a:tc>
                <a:tc>
                  <a:txBody>
                    <a:bodyPr/>
                    <a:lstStyle/>
                    <a:p>
                      <a:pPr indent="0" marL="0">
                        <a:buNone/>
                      </a:pPr>
                      <a:r>
                        <a:rPr lang="en-US" sz="1300" dirty="0">
                          <a:solidFill>
                            <a:srgbClr val="3568F0"/>
                          </a:solidFill>
                          <a:latin typeface="Calibri" pitchFamily="34" charset="0"/>
                          <a:ea typeface="Calibri" pitchFamily="34" charset="-122"/>
                          <a:cs typeface="Calibri" pitchFamily="34" charset="-120"/>
                        </a:rPr>
                        <a:t>9,685 possessions · 58 history features · 126 player and matchup features · 5 match-held-out folds · saved bundle not yet contract-compatible</a:t>
                      </a:r>
                      <a:endParaRPr lang="en-US" sz="1300" dirty="0">
                        <a:latin typeface="Calibri" charset="0"/>
                        <a:ea typeface="Calibri" charset="0"/>
                        <a:cs typeface="Calibri" charset="0"/>
                      </a:endParaRPr>
                    </a:p>
                  </a:txBody>
                  <a:tcPr marL="101600" marR="101600" marT="101600" marB="101600" anchor="ctr">
                    <a:lnL w="12700" cap="flat" cmpd="sng" algn="ctr">
                      <a:solidFill>
                        <a:srgbClr val="DCDCE1"/>
                      </a:solidFill>
                      <a:prstDash val="solid"/>
                      <a:round/>
                      <a:headEnd type="none" w="med" len="med"/>
                      <a:tailEnd type="none" w="med" len="med"/>
                    </a:lnL>
                    <a:lnR w="12700" cap="flat" cmpd="sng" algn="ctr">
                      <a:solidFill>
                        <a:srgbClr val="DCDCE1"/>
                      </a:solidFill>
                      <a:prstDash val="solid"/>
                      <a:round/>
                      <a:headEnd type="none" w="med" len="med"/>
                      <a:tailEnd type="none" w="med" len="med"/>
                    </a:lnR>
                    <a:lnT w="12700" cap="flat" cmpd="sng" algn="ctr">
                      <a:solidFill>
                        <a:srgbClr val="DCDCE1"/>
                      </a:solidFill>
                      <a:prstDash val="solid"/>
                      <a:round/>
                      <a:headEnd type="none" w="med" len="med"/>
                      <a:tailEnd type="none" w="med" len="med"/>
                    </a:lnT>
                    <a:lnB w="12700" cap="flat" cmpd="sng" algn="ctr">
                      <a:solidFill>
                        <a:srgbClr val="DCDCE1"/>
                      </a:solidFill>
                      <a:prstDash val="solid"/>
                      <a:round/>
                      <a:headEnd type="none" w="med" len="med"/>
                      <a:tailEnd type="none" w="med" len="med"/>
                    </a:lnB>
                    <a:solidFill>
                      <a:srgbClr val="FFFFFF"/>
                    </a:solidFill>
                  </a:tcPr>
                </a:tc>
              </a:tr>
            </a:tbl>
          </a:graphicData>
        </a:graphic>
      </p:graphicFrame>
      <p:sp>
        <p:nvSpPr>
          <p:cNvPr id="5" name="Shape 2"/>
          <p:cNvSpPr/>
          <p:nvPr/>
        </p:nvSpPr>
        <p:spPr>
          <a:xfrm>
            <a:off x="685800" y="5413248"/>
            <a:ext cx="10817352" cy="896112"/>
          </a:xfrm>
          <a:prstGeom prst="roundRect">
            <a:avLst>
              <a:gd name="adj" fmla="val 6122"/>
            </a:avLst>
          </a:prstGeom>
          <a:solidFill>
            <a:srgbClr val="F3EDE0"/>
          </a:solidFill>
          <a:ln w="9525">
            <a:solidFill>
              <a:srgbClr val="F3EDE0"/>
            </a:solidFill>
            <a:prstDash val="solid"/>
          </a:ln>
        </p:spPr>
      </p:sp>
      <p:sp>
        <p:nvSpPr>
          <p:cNvPr id="6" name="Text 3"/>
          <p:cNvSpPr/>
          <p:nvPr/>
        </p:nvSpPr>
        <p:spPr>
          <a:xfrm>
            <a:off x="960120" y="5614416"/>
            <a:ext cx="10268712" cy="557784"/>
          </a:xfrm>
          <a:prstGeom prst="rect">
            <a:avLst/>
          </a:prstGeom>
          <a:noFill/>
          <a:ln/>
        </p:spPr>
        <p:txBody>
          <a:bodyPr wrap="square" lIns="0" tIns="0" rIns="0" bIns="0" rtlCol="0" anchor="t"/>
          <a:lstStyle/>
          <a:p>
            <a:pPr indent="0" marL="0">
              <a:lnSpc>
                <a:spcPts val="2000"/>
              </a:lnSpc>
              <a:buNone/>
            </a:pPr>
            <a:r>
              <a:rPr lang="en-US" sz="1600" dirty="0">
                <a:solidFill>
                  <a:srgbClr val="161617"/>
                </a:solidFill>
                <a:latin typeface="Calibri" pitchFamily="34" charset="0"/>
                <a:ea typeface="Calibri" pitchFamily="34" charset="-122"/>
                <a:cs typeface="Calibri" pitchFamily="34" charset="-120"/>
              </a:rPr>
              <a:t>Retrospective rows describe completed possessions. The prospective row is the only one whose inputs exist before the possession begins — the two are not comparable leaderboards.</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APPENDIX D</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Validation checklist</a:t>
            </a:r>
            <a:endParaRPr lang="en-US" sz="3500" dirty="0"/>
          </a:p>
        </p:txBody>
      </p:sp>
      <p:sp>
        <p:nvSpPr>
          <p:cNvPr id="4" name="Shape 2"/>
          <p:cNvSpPr/>
          <p:nvPr/>
        </p:nvSpPr>
        <p:spPr>
          <a:xfrm>
            <a:off x="685800" y="1929384"/>
            <a:ext cx="256032" cy="256032"/>
          </a:xfrm>
          <a:prstGeom prst="rect">
            <a:avLst/>
          </a:prstGeom>
          <a:solidFill>
            <a:srgbClr val="E1EDE8"/>
          </a:solidFill>
          <a:ln w="12700">
            <a:solidFill>
              <a:srgbClr val="24775B"/>
            </a:solidFill>
            <a:prstDash val="solid"/>
          </a:ln>
        </p:spPr>
      </p:sp>
      <p:sp>
        <p:nvSpPr>
          <p:cNvPr id="5" name="Text 3"/>
          <p:cNvSpPr/>
          <p:nvPr/>
        </p:nvSpPr>
        <p:spPr>
          <a:xfrm>
            <a:off x="726948" y="1920240"/>
            <a:ext cx="256032" cy="274320"/>
          </a:xfrm>
          <a:prstGeom prst="rect">
            <a:avLst/>
          </a:prstGeom>
          <a:noFill/>
          <a:ln/>
        </p:spPr>
        <p:txBody>
          <a:bodyPr wrap="square" lIns="0" tIns="0" rIns="0" bIns="0" rtlCol="0" anchor="t"/>
          <a:lstStyle/>
          <a:p>
            <a:pPr indent="0" marL="0">
              <a:buNone/>
            </a:pPr>
            <a:r>
              <a:rPr lang="en-US" sz="1400" b="1" dirty="0">
                <a:solidFill>
                  <a:srgbClr val="24775B"/>
                </a:solidFill>
                <a:latin typeface="Calibri" pitchFamily="34" charset="0"/>
                <a:ea typeface="Calibri" pitchFamily="34" charset="-122"/>
                <a:cs typeface="Calibri" pitchFamily="34" charset="-120"/>
              </a:rPr>
              <a:t>✓</a:t>
            </a:r>
            <a:endParaRPr lang="en-US" sz="1400" dirty="0"/>
          </a:p>
        </p:txBody>
      </p:sp>
      <p:sp>
        <p:nvSpPr>
          <p:cNvPr id="6" name="Text 4"/>
          <p:cNvSpPr/>
          <p:nvPr/>
        </p:nvSpPr>
        <p:spPr>
          <a:xfrm>
            <a:off x="1069848" y="1874520"/>
            <a:ext cx="4846320" cy="566928"/>
          </a:xfrm>
          <a:prstGeom prst="rect">
            <a:avLst/>
          </a:prstGeom>
          <a:noFill/>
          <a:ln/>
        </p:spPr>
        <p:txBody>
          <a:bodyPr wrap="square" lIns="0" tIns="0" rIns="0" bIns="0" rtlCol="0" anchor="t"/>
          <a:lstStyle/>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Group split by match</a:t>
            </a:r>
            <a:endParaRPr lang="en-US" sz="1500" dirty="0"/>
          </a:p>
        </p:txBody>
      </p:sp>
      <p:sp>
        <p:nvSpPr>
          <p:cNvPr id="7" name="Shape 5"/>
          <p:cNvSpPr/>
          <p:nvPr/>
        </p:nvSpPr>
        <p:spPr>
          <a:xfrm>
            <a:off x="685800" y="2587752"/>
            <a:ext cx="256032" cy="256032"/>
          </a:xfrm>
          <a:prstGeom prst="rect">
            <a:avLst/>
          </a:prstGeom>
          <a:solidFill>
            <a:srgbClr val="E1EDE8"/>
          </a:solidFill>
          <a:ln w="12700">
            <a:solidFill>
              <a:srgbClr val="24775B"/>
            </a:solidFill>
            <a:prstDash val="solid"/>
          </a:ln>
        </p:spPr>
      </p:sp>
      <p:sp>
        <p:nvSpPr>
          <p:cNvPr id="8" name="Text 6"/>
          <p:cNvSpPr/>
          <p:nvPr/>
        </p:nvSpPr>
        <p:spPr>
          <a:xfrm>
            <a:off x="726948" y="2578608"/>
            <a:ext cx="256032" cy="274320"/>
          </a:xfrm>
          <a:prstGeom prst="rect">
            <a:avLst/>
          </a:prstGeom>
          <a:noFill/>
          <a:ln/>
        </p:spPr>
        <p:txBody>
          <a:bodyPr wrap="square" lIns="0" tIns="0" rIns="0" bIns="0" rtlCol="0" anchor="t"/>
          <a:lstStyle/>
          <a:p>
            <a:pPr indent="0" marL="0">
              <a:buNone/>
            </a:pPr>
            <a:r>
              <a:rPr lang="en-US" sz="1400" b="1" dirty="0">
                <a:solidFill>
                  <a:srgbClr val="24775B"/>
                </a:solidFill>
                <a:latin typeface="Calibri" pitchFamily="34" charset="0"/>
                <a:ea typeface="Calibri" pitchFamily="34" charset="-122"/>
                <a:cs typeface="Calibri" pitchFamily="34" charset="-120"/>
              </a:rPr>
              <a:t>✓</a:t>
            </a:r>
            <a:endParaRPr lang="en-US" sz="1400" dirty="0"/>
          </a:p>
        </p:txBody>
      </p:sp>
      <p:sp>
        <p:nvSpPr>
          <p:cNvPr id="9" name="Text 7"/>
          <p:cNvSpPr/>
          <p:nvPr/>
        </p:nvSpPr>
        <p:spPr>
          <a:xfrm>
            <a:off x="1069848" y="2532888"/>
            <a:ext cx="4846320" cy="566928"/>
          </a:xfrm>
          <a:prstGeom prst="rect">
            <a:avLst/>
          </a:prstGeom>
          <a:noFill/>
          <a:ln/>
        </p:spPr>
        <p:txBody>
          <a:bodyPr wrap="square" lIns="0" tIns="0" rIns="0" bIns="0" rtlCol="0" anchor="t"/>
          <a:lstStyle/>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Fold-fitted preprocessing</a:t>
            </a:r>
            <a:endParaRPr lang="en-US" sz="1500" dirty="0"/>
          </a:p>
        </p:txBody>
      </p:sp>
      <p:sp>
        <p:nvSpPr>
          <p:cNvPr id="10" name="Shape 8"/>
          <p:cNvSpPr/>
          <p:nvPr/>
        </p:nvSpPr>
        <p:spPr>
          <a:xfrm>
            <a:off x="685800" y="3246120"/>
            <a:ext cx="256032" cy="256032"/>
          </a:xfrm>
          <a:prstGeom prst="rect">
            <a:avLst/>
          </a:prstGeom>
          <a:solidFill>
            <a:srgbClr val="E1EDE8"/>
          </a:solidFill>
          <a:ln w="12700">
            <a:solidFill>
              <a:srgbClr val="24775B"/>
            </a:solidFill>
            <a:prstDash val="solid"/>
          </a:ln>
        </p:spPr>
      </p:sp>
      <p:sp>
        <p:nvSpPr>
          <p:cNvPr id="11" name="Text 9"/>
          <p:cNvSpPr/>
          <p:nvPr/>
        </p:nvSpPr>
        <p:spPr>
          <a:xfrm>
            <a:off x="726948" y="3236976"/>
            <a:ext cx="256032" cy="274320"/>
          </a:xfrm>
          <a:prstGeom prst="rect">
            <a:avLst/>
          </a:prstGeom>
          <a:noFill/>
          <a:ln/>
        </p:spPr>
        <p:txBody>
          <a:bodyPr wrap="square" lIns="0" tIns="0" rIns="0" bIns="0" rtlCol="0" anchor="t"/>
          <a:lstStyle/>
          <a:p>
            <a:pPr indent="0" marL="0">
              <a:buNone/>
            </a:pPr>
            <a:r>
              <a:rPr lang="en-US" sz="1400" b="1" dirty="0">
                <a:solidFill>
                  <a:srgbClr val="24775B"/>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1069848" y="3191256"/>
            <a:ext cx="4846320" cy="566928"/>
          </a:xfrm>
          <a:prstGeom prst="rect">
            <a:avLst/>
          </a:prstGeom>
          <a:noFill/>
          <a:ln/>
        </p:spPr>
        <p:txBody>
          <a:bodyPr wrap="square" lIns="0" tIns="0" rIns="0" bIns="0" rtlCol="0" anchor="t"/>
          <a:lstStyle/>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Outcome exclusion from cluster inputs</a:t>
            </a:r>
            <a:endParaRPr lang="en-US" sz="1500" dirty="0"/>
          </a:p>
        </p:txBody>
      </p:sp>
      <p:sp>
        <p:nvSpPr>
          <p:cNvPr id="13" name="Shape 11"/>
          <p:cNvSpPr/>
          <p:nvPr/>
        </p:nvSpPr>
        <p:spPr>
          <a:xfrm>
            <a:off x="685800" y="3904488"/>
            <a:ext cx="256032" cy="256032"/>
          </a:xfrm>
          <a:prstGeom prst="rect">
            <a:avLst/>
          </a:prstGeom>
          <a:solidFill>
            <a:srgbClr val="E1EDE8"/>
          </a:solidFill>
          <a:ln w="12700">
            <a:solidFill>
              <a:srgbClr val="24775B"/>
            </a:solidFill>
            <a:prstDash val="solid"/>
          </a:ln>
        </p:spPr>
      </p:sp>
      <p:sp>
        <p:nvSpPr>
          <p:cNvPr id="14" name="Text 12"/>
          <p:cNvSpPr/>
          <p:nvPr/>
        </p:nvSpPr>
        <p:spPr>
          <a:xfrm>
            <a:off x="726948" y="3895344"/>
            <a:ext cx="256032" cy="274320"/>
          </a:xfrm>
          <a:prstGeom prst="rect">
            <a:avLst/>
          </a:prstGeom>
          <a:noFill/>
          <a:ln/>
        </p:spPr>
        <p:txBody>
          <a:bodyPr wrap="square" lIns="0" tIns="0" rIns="0" bIns="0" rtlCol="0" anchor="t"/>
          <a:lstStyle/>
          <a:p>
            <a:pPr indent="0" marL="0">
              <a:buNone/>
            </a:pPr>
            <a:r>
              <a:rPr lang="en-US" sz="1400" b="1" dirty="0">
                <a:solidFill>
                  <a:srgbClr val="24775B"/>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1069848" y="3849624"/>
            <a:ext cx="4846320" cy="566928"/>
          </a:xfrm>
          <a:prstGeom prst="rect">
            <a:avLst/>
          </a:prstGeom>
          <a:noFill/>
          <a:ln/>
        </p:spPr>
        <p:txBody>
          <a:bodyPr wrap="square" lIns="0" tIns="0" rIns="0" bIns="0" rtlCol="0" anchor="t"/>
          <a:lstStyle/>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Validation-match exclusion from player profiles</a:t>
            </a:r>
            <a:endParaRPr lang="en-US" sz="1500" dirty="0"/>
          </a:p>
        </p:txBody>
      </p:sp>
      <p:sp>
        <p:nvSpPr>
          <p:cNvPr id="16" name="Shape 14"/>
          <p:cNvSpPr/>
          <p:nvPr/>
        </p:nvSpPr>
        <p:spPr>
          <a:xfrm>
            <a:off x="685800" y="4562856"/>
            <a:ext cx="256032" cy="256032"/>
          </a:xfrm>
          <a:prstGeom prst="rect">
            <a:avLst/>
          </a:prstGeom>
          <a:solidFill>
            <a:srgbClr val="E1EDE8"/>
          </a:solidFill>
          <a:ln w="12700">
            <a:solidFill>
              <a:srgbClr val="24775B"/>
            </a:solidFill>
            <a:prstDash val="solid"/>
          </a:ln>
        </p:spPr>
      </p:sp>
      <p:sp>
        <p:nvSpPr>
          <p:cNvPr id="17" name="Text 15"/>
          <p:cNvSpPr/>
          <p:nvPr/>
        </p:nvSpPr>
        <p:spPr>
          <a:xfrm>
            <a:off x="726948" y="4553712"/>
            <a:ext cx="256032" cy="274320"/>
          </a:xfrm>
          <a:prstGeom prst="rect">
            <a:avLst/>
          </a:prstGeom>
          <a:noFill/>
          <a:ln/>
        </p:spPr>
        <p:txBody>
          <a:bodyPr wrap="square" lIns="0" tIns="0" rIns="0" bIns="0" rtlCol="0" anchor="t"/>
          <a:lstStyle/>
          <a:p>
            <a:pPr indent="0" marL="0">
              <a:buNone/>
            </a:pPr>
            <a:r>
              <a:rPr lang="en-US" sz="1400" b="1" dirty="0">
                <a:solidFill>
                  <a:srgbClr val="24775B"/>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1069848" y="4507992"/>
            <a:ext cx="4846320" cy="566928"/>
          </a:xfrm>
          <a:prstGeom prst="rect">
            <a:avLst/>
          </a:prstGeom>
          <a:noFill/>
          <a:ln/>
        </p:spPr>
        <p:txBody>
          <a:bodyPr wrap="square" lIns="0" tIns="0" rIns="0" bIns="0" rtlCol="0" anchor="t"/>
          <a:lstStyle/>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Match-cluster bootstrap</a:t>
            </a:r>
            <a:endParaRPr lang="en-US" sz="1500" dirty="0"/>
          </a:p>
        </p:txBody>
      </p:sp>
      <p:sp>
        <p:nvSpPr>
          <p:cNvPr id="19" name="Shape 17"/>
          <p:cNvSpPr/>
          <p:nvPr/>
        </p:nvSpPr>
        <p:spPr>
          <a:xfrm>
            <a:off x="685800" y="5221224"/>
            <a:ext cx="256032" cy="256032"/>
          </a:xfrm>
          <a:prstGeom prst="rect">
            <a:avLst/>
          </a:prstGeom>
          <a:solidFill>
            <a:srgbClr val="E1EDE8"/>
          </a:solidFill>
          <a:ln w="12700">
            <a:solidFill>
              <a:srgbClr val="24775B"/>
            </a:solidFill>
            <a:prstDash val="solid"/>
          </a:ln>
        </p:spPr>
      </p:sp>
      <p:sp>
        <p:nvSpPr>
          <p:cNvPr id="20" name="Text 18"/>
          <p:cNvSpPr/>
          <p:nvPr/>
        </p:nvSpPr>
        <p:spPr>
          <a:xfrm>
            <a:off x="726948" y="5212080"/>
            <a:ext cx="256032" cy="274320"/>
          </a:xfrm>
          <a:prstGeom prst="rect">
            <a:avLst/>
          </a:prstGeom>
          <a:noFill/>
          <a:ln/>
        </p:spPr>
        <p:txBody>
          <a:bodyPr wrap="square" lIns="0" tIns="0" rIns="0" bIns="0" rtlCol="0" anchor="t"/>
          <a:lstStyle/>
          <a:p>
            <a:pPr indent="0" marL="0">
              <a:buNone/>
            </a:pPr>
            <a:r>
              <a:rPr lang="en-US" sz="1400" b="1" dirty="0">
                <a:solidFill>
                  <a:srgbClr val="24775B"/>
                </a:solidFill>
                <a:latin typeface="Calibri" pitchFamily="34" charset="0"/>
                <a:ea typeface="Calibri" pitchFamily="34" charset="-122"/>
                <a:cs typeface="Calibri" pitchFamily="34" charset="-120"/>
              </a:rPr>
              <a:t>✓</a:t>
            </a:r>
            <a:endParaRPr lang="en-US" sz="1400" dirty="0"/>
          </a:p>
        </p:txBody>
      </p:sp>
      <p:sp>
        <p:nvSpPr>
          <p:cNvPr id="21" name="Text 19"/>
          <p:cNvSpPr/>
          <p:nvPr/>
        </p:nvSpPr>
        <p:spPr>
          <a:xfrm>
            <a:off x="1069848" y="5166360"/>
            <a:ext cx="4846320" cy="566928"/>
          </a:xfrm>
          <a:prstGeom prst="rect">
            <a:avLst/>
          </a:prstGeom>
          <a:noFill/>
          <a:ln/>
        </p:spPr>
        <p:txBody>
          <a:bodyPr wrap="square" lIns="0" tIns="0" rIns="0" bIns="0" rtlCol="0" anchor="t"/>
          <a:lstStyle/>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Coverage reporting</a:t>
            </a:r>
            <a:endParaRPr lang="en-US" sz="1500" dirty="0"/>
          </a:p>
        </p:txBody>
      </p:sp>
      <p:sp>
        <p:nvSpPr>
          <p:cNvPr id="22" name="Shape 20"/>
          <p:cNvSpPr/>
          <p:nvPr/>
        </p:nvSpPr>
        <p:spPr>
          <a:xfrm>
            <a:off x="6309360" y="1929384"/>
            <a:ext cx="256032" cy="256032"/>
          </a:xfrm>
          <a:prstGeom prst="rect">
            <a:avLst/>
          </a:prstGeom>
          <a:solidFill>
            <a:srgbClr val="E1EDE8"/>
          </a:solidFill>
          <a:ln w="12700">
            <a:solidFill>
              <a:srgbClr val="24775B"/>
            </a:solidFill>
            <a:prstDash val="solid"/>
          </a:ln>
        </p:spPr>
      </p:sp>
      <p:sp>
        <p:nvSpPr>
          <p:cNvPr id="23" name="Text 21"/>
          <p:cNvSpPr/>
          <p:nvPr/>
        </p:nvSpPr>
        <p:spPr>
          <a:xfrm>
            <a:off x="6350508" y="1920240"/>
            <a:ext cx="256032" cy="274320"/>
          </a:xfrm>
          <a:prstGeom prst="rect">
            <a:avLst/>
          </a:prstGeom>
          <a:noFill/>
          <a:ln/>
        </p:spPr>
        <p:txBody>
          <a:bodyPr wrap="square" lIns="0" tIns="0" rIns="0" bIns="0" rtlCol="0" anchor="t"/>
          <a:lstStyle/>
          <a:p>
            <a:pPr indent="0" marL="0">
              <a:buNone/>
            </a:pPr>
            <a:r>
              <a:rPr lang="en-US" sz="1400" b="1" dirty="0">
                <a:solidFill>
                  <a:srgbClr val="24775B"/>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6693408" y="1874520"/>
            <a:ext cx="4846320" cy="566928"/>
          </a:xfrm>
          <a:prstGeom prst="rect">
            <a:avLst/>
          </a:prstGeom>
          <a:noFill/>
          <a:ln/>
        </p:spPr>
        <p:txBody>
          <a:bodyPr wrap="square" lIns="0" tIns="0" rIns="0" bIns="0" rtlCol="0" anchor="t"/>
          <a:lstStyle/>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Prediction-cutoff declaration</a:t>
            </a:r>
            <a:endParaRPr lang="en-US" sz="1500" dirty="0"/>
          </a:p>
        </p:txBody>
      </p:sp>
      <p:sp>
        <p:nvSpPr>
          <p:cNvPr id="25" name="Shape 23"/>
          <p:cNvSpPr/>
          <p:nvPr/>
        </p:nvSpPr>
        <p:spPr>
          <a:xfrm>
            <a:off x="6309360" y="2587752"/>
            <a:ext cx="256032" cy="256032"/>
          </a:xfrm>
          <a:prstGeom prst="rect">
            <a:avLst/>
          </a:prstGeom>
          <a:solidFill>
            <a:srgbClr val="E1EDE8"/>
          </a:solidFill>
          <a:ln w="12700">
            <a:solidFill>
              <a:srgbClr val="24775B"/>
            </a:solidFill>
            <a:prstDash val="solid"/>
          </a:ln>
        </p:spPr>
      </p:sp>
      <p:sp>
        <p:nvSpPr>
          <p:cNvPr id="26" name="Text 24"/>
          <p:cNvSpPr/>
          <p:nvPr/>
        </p:nvSpPr>
        <p:spPr>
          <a:xfrm>
            <a:off x="6350508" y="2578608"/>
            <a:ext cx="256032" cy="274320"/>
          </a:xfrm>
          <a:prstGeom prst="rect">
            <a:avLst/>
          </a:prstGeom>
          <a:noFill/>
          <a:ln/>
        </p:spPr>
        <p:txBody>
          <a:bodyPr wrap="square" lIns="0" tIns="0" rIns="0" bIns="0" rtlCol="0" anchor="t"/>
          <a:lstStyle/>
          <a:p>
            <a:pPr indent="0" marL="0">
              <a:buNone/>
            </a:pPr>
            <a:r>
              <a:rPr lang="en-US" sz="1400" b="1" dirty="0">
                <a:solidFill>
                  <a:srgbClr val="24775B"/>
                </a:solidFill>
                <a:latin typeface="Calibri" pitchFamily="34" charset="0"/>
                <a:ea typeface="Calibri" pitchFamily="34" charset="-122"/>
                <a:cs typeface="Calibri" pitchFamily="34" charset="-120"/>
              </a:rPr>
              <a:t>✓</a:t>
            </a:r>
            <a:endParaRPr lang="en-US" sz="1400" dirty="0"/>
          </a:p>
        </p:txBody>
      </p:sp>
      <p:sp>
        <p:nvSpPr>
          <p:cNvPr id="27" name="Text 25"/>
          <p:cNvSpPr/>
          <p:nvPr/>
        </p:nvSpPr>
        <p:spPr>
          <a:xfrm>
            <a:off x="6693408" y="2532888"/>
            <a:ext cx="4846320" cy="566928"/>
          </a:xfrm>
          <a:prstGeom prst="rect">
            <a:avLst/>
          </a:prstGeom>
          <a:noFill/>
          <a:ln/>
        </p:spPr>
        <p:txBody>
          <a:bodyPr wrap="square" lIns="0" tIns="0" rIns="0" bIns="0" rtlCol="0" anchor="t"/>
          <a:lstStyle/>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Rare-event prevalence and PR-AUC</a:t>
            </a:r>
            <a:endParaRPr lang="en-US" sz="1500" dirty="0"/>
          </a:p>
        </p:txBody>
      </p:sp>
      <p:sp>
        <p:nvSpPr>
          <p:cNvPr id="28" name="Shape 26"/>
          <p:cNvSpPr/>
          <p:nvPr/>
        </p:nvSpPr>
        <p:spPr>
          <a:xfrm>
            <a:off x="6309360" y="3246120"/>
            <a:ext cx="256032" cy="256032"/>
          </a:xfrm>
          <a:prstGeom prst="rect">
            <a:avLst/>
          </a:prstGeom>
          <a:solidFill>
            <a:srgbClr val="E1EDE8"/>
          </a:solidFill>
          <a:ln w="12700">
            <a:solidFill>
              <a:srgbClr val="24775B"/>
            </a:solidFill>
            <a:prstDash val="solid"/>
          </a:ln>
        </p:spPr>
      </p:sp>
      <p:sp>
        <p:nvSpPr>
          <p:cNvPr id="29" name="Text 27"/>
          <p:cNvSpPr/>
          <p:nvPr/>
        </p:nvSpPr>
        <p:spPr>
          <a:xfrm>
            <a:off x="6350508" y="3236976"/>
            <a:ext cx="256032" cy="274320"/>
          </a:xfrm>
          <a:prstGeom prst="rect">
            <a:avLst/>
          </a:prstGeom>
          <a:noFill/>
          <a:ln/>
        </p:spPr>
        <p:txBody>
          <a:bodyPr wrap="square" lIns="0" tIns="0" rIns="0" bIns="0" rtlCol="0" anchor="t"/>
          <a:lstStyle/>
          <a:p>
            <a:pPr indent="0" marL="0">
              <a:buNone/>
            </a:pPr>
            <a:r>
              <a:rPr lang="en-US" sz="1400" b="1" dirty="0">
                <a:solidFill>
                  <a:srgbClr val="24775B"/>
                </a:solidFill>
                <a:latin typeface="Calibri" pitchFamily="34" charset="0"/>
                <a:ea typeface="Calibri" pitchFamily="34" charset="-122"/>
                <a:cs typeface="Calibri" pitchFamily="34" charset="-120"/>
              </a:rPr>
              <a:t>✓</a:t>
            </a:r>
            <a:endParaRPr lang="en-US" sz="1400" dirty="0"/>
          </a:p>
        </p:txBody>
      </p:sp>
      <p:sp>
        <p:nvSpPr>
          <p:cNvPr id="30" name="Text 28"/>
          <p:cNvSpPr/>
          <p:nvPr/>
        </p:nvSpPr>
        <p:spPr>
          <a:xfrm>
            <a:off x="6693408" y="3191256"/>
            <a:ext cx="4846320" cy="566928"/>
          </a:xfrm>
          <a:prstGeom prst="rect">
            <a:avLst/>
          </a:prstGeom>
          <a:noFill/>
          <a:ln/>
        </p:spPr>
        <p:txBody>
          <a:bodyPr wrap="square" lIns="0" tIns="0" rIns="0" bIns="0" rtlCol="0" anchor="t"/>
          <a:lstStyle/>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Artifact replay and schema checks</a:t>
            </a:r>
            <a:endParaRPr lang="en-US" sz="1500" dirty="0"/>
          </a:p>
        </p:txBody>
      </p:sp>
      <p:sp>
        <p:nvSpPr>
          <p:cNvPr id="31" name="Shape 29"/>
          <p:cNvSpPr/>
          <p:nvPr/>
        </p:nvSpPr>
        <p:spPr>
          <a:xfrm>
            <a:off x="6309360" y="3904488"/>
            <a:ext cx="256032" cy="256032"/>
          </a:xfrm>
          <a:prstGeom prst="rect">
            <a:avLst/>
          </a:prstGeom>
          <a:solidFill>
            <a:srgbClr val="F9E7E8"/>
          </a:solidFill>
          <a:ln w="12700">
            <a:solidFill>
              <a:srgbClr val="D44B52"/>
            </a:solidFill>
            <a:prstDash val="solid"/>
          </a:ln>
        </p:spPr>
      </p:sp>
      <p:sp>
        <p:nvSpPr>
          <p:cNvPr id="32" name="Text 30"/>
          <p:cNvSpPr/>
          <p:nvPr/>
        </p:nvSpPr>
        <p:spPr>
          <a:xfrm>
            <a:off x="6350508" y="3895344"/>
            <a:ext cx="256032" cy="274320"/>
          </a:xfrm>
          <a:prstGeom prst="rect">
            <a:avLst/>
          </a:prstGeom>
          <a:noFill/>
          <a:ln/>
        </p:spPr>
        <p:txBody>
          <a:bodyPr wrap="square" lIns="0" tIns="0" rIns="0" bIns="0" rtlCol="0" anchor="t"/>
          <a:lstStyle/>
          <a:p>
            <a:pPr indent="0" marL="0">
              <a:buNone/>
            </a:pPr>
            <a:endParaRPr lang="en-US" sz="1400" dirty="0"/>
          </a:p>
        </p:txBody>
      </p:sp>
      <p:sp>
        <p:nvSpPr>
          <p:cNvPr id="33" name="Text 31"/>
          <p:cNvSpPr/>
          <p:nvPr/>
        </p:nvSpPr>
        <p:spPr>
          <a:xfrm>
            <a:off x="6693408" y="3849624"/>
            <a:ext cx="4846320" cy="566928"/>
          </a:xfrm>
          <a:prstGeom prst="rect">
            <a:avLst/>
          </a:prstGeom>
          <a:noFill/>
          <a:ln/>
        </p:spPr>
        <p:txBody>
          <a:bodyPr wrap="square" lIns="0" tIns="0" rIns="0" bIns="0" rtlCol="0" anchor="t"/>
          <a:lstStyle/>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Exact agreement between the saved classifier schema and the generated feature table</a:t>
            </a:r>
            <a:endParaRPr lang="en-US" sz="1500" dirty="0"/>
          </a:p>
        </p:txBody>
      </p:sp>
      <p:sp>
        <p:nvSpPr>
          <p:cNvPr id="34" name="Shape 32"/>
          <p:cNvSpPr/>
          <p:nvPr/>
        </p:nvSpPr>
        <p:spPr>
          <a:xfrm>
            <a:off x="6309360" y="4562856"/>
            <a:ext cx="256032" cy="256032"/>
          </a:xfrm>
          <a:prstGeom prst="rect">
            <a:avLst/>
          </a:prstGeom>
          <a:solidFill>
            <a:srgbClr val="F9E7E8"/>
          </a:solidFill>
          <a:ln w="12700">
            <a:solidFill>
              <a:srgbClr val="D44B52"/>
            </a:solidFill>
            <a:prstDash val="solid"/>
          </a:ln>
        </p:spPr>
      </p:sp>
      <p:sp>
        <p:nvSpPr>
          <p:cNvPr id="35" name="Text 33"/>
          <p:cNvSpPr/>
          <p:nvPr/>
        </p:nvSpPr>
        <p:spPr>
          <a:xfrm>
            <a:off x="6350508" y="4553712"/>
            <a:ext cx="256032" cy="274320"/>
          </a:xfrm>
          <a:prstGeom prst="rect">
            <a:avLst/>
          </a:prstGeom>
          <a:noFill/>
          <a:ln/>
        </p:spPr>
        <p:txBody>
          <a:bodyPr wrap="square" lIns="0" tIns="0" rIns="0" bIns="0" rtlCol="0" anchor="t"/>
          <a:lstStyle/>
          <a:p>
            <a:pPr indent="0" marL="0">
              <a:buNone/>
            </a:pPr>
            <a:endParaRPr lang="en-US" sz="1400" dirty="0"/>
          </a:p>
        </p:txBody>
      </p:sp>
      <p:sp>
        <p:nvSpPr>
          <p:cNvPr id="36" name="Text 34"/>
          <p:cNvSpPr/>
          <p:nvPr/>
        </p:nvSpPr>
        <p:spPr>
          <a:xfrm>
            <a:off x="6693408" y="4507992"/>
            <a:ext cx="4846320" cy="566928"/>
          </a:xfrm>
          <a:prstGeom prst="rect">
            <a:avLst/>
          </a:prstGeom>
          <a:noFill/>
          <a:ln/>
        </p:spPr>
        <p:txBody>
          <a:bodyPr wrap="square" lIns="0" tIns="0" rIns="0" bIns="0" rtlCol="0" anchor="t"/>
          <a:lstStyle/>
          <a:p>
            <a:pPr indent="0" marL="0">
              <a:lnSpc>
                <a:spcPts val="1800"/>
              </a:lnSpc>
              <a:buNone/>
            </a:pPr>
            <a:r>
              <a:rPr lang="en-US" sz="1500" dirty="0">
                <a:solidFill>
                  <a:srgbClr val="161617"/>
                </a:solidFill>
                <a:latin typeface="Calibri" pitchFamily="34" charset="0"/>
                <a:ea typeface="Calibri" pitchFamily="34" charset="-122"/>
                <a:cs typeface="Calibri" pitchFamily="34" charset="-120"/>
              </a:rPr>
              <a:t>A freshly rerun 16-of-16 acceptance result from the same checkout</a:t>
            </a:r>
            <a:endParaRPr lang="en-US" sz="1500" dirty="0"/>
          </a:p>
        </p:txBody>
      </p:sp>
      <p:sp>
        <p:nvSpPr>
          <p:cNvPr id="37" name="Shape 35"/>
          <p:cNvSpPr/>
          <p:nvPr/>
        </p:nvSpPr>
        <p:spPr>
          <a:xfrm>
            <a:off x="685800" y="5623560"/>
            <a:ext cx="10817352" cy="868680"/>
          </a:xfrm>
          <a:prstGeom prst="roundRect">
            <a:avLst>
              <a:gd name="adj" fmla="val 6316"/>
            </a:avLst>
          </a:prstGeom>
          <a:solidFill>
            <a:srgbClr val="F9E7E8"/>
          </a:solidFill>
          <a:ln w="9525">
            <a:solidFill>
              <a:srgbClr val="F9E7E8"/>
            </a:solidFill>
            <a:prstDash val="solid"/>
          </a:ln>
        </p:spPr>
      </p:sp>
      <p:sp>
        <p:nvSpPr>
          <p:cNvPr id="38" name="Text 36"/>
          <p:cNvSpPr/>
          <p:nvPr/>
        </p:nvSpPr>
        <p:spPr>
          <a:xfrm>
            <a:off x="960120" y="5824728"/>
            <a:ext cx="10268712" cy="530352"/>
          </a:xfrm>
          <a:prstGeom prst="rect">
            <a:avLst/>
          </a:prstGeom>
          <a:noFill/>
          <a:ln/>
        </p:spPr>
        <p:txBody>
          <a:bodyPr wrap="square" lIns="0" tIns="0" rIns="0" bIns="0" rtlCol="0" anchor="t"/>
          <a:lstStyle/>
          <a:p>
            <a:pPr indent="0" marL="0">
              <a:lnSpc>
                <a:spcPts val="2000"/>
              </a:lnSpc>
              <a:buNone/>
            </a:pPr>
            <a:r>
              <a:rPr lang="en-US" sz="1600" dirty="0">
                <a:solidFill>
                  <a:srgbClr val="161617"/>
                </a:solidFill>
                <a:latin typeface="Calibri" pitchFamily="34" charset="0"/>
                <a:ea typeface="Calibri" pitchFamily="34" charset="-122"/>
                <a:cs typeface="Calibri" pitchFamily="34" charset="-120"/>
              </a:rPr>
              <a:t>The last two items are the current blockers: the classifier bundle expects play_pattern while the generated table provides first_play_pattern, so the suite stands at 15 of 16.</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APPENDIX E · 1 OF 2</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Soccer and data glossary — the pitch</a:t>
            </a:r>
            <a:endParaRPr lang="en-US" sz="3500" dirty="0"/>
          </a:p>
        </p:txBody>
      </p:sp>
      <p:sp>
        <p:nvSpPr>
          <p:cNvPr id="4" name="Text 2"/>
          <p:cNvSpPr/>
          <p:nvPr/>
        </p:nvSpPr>
        <p:spPr>
          <a:xfrm>
            <a:off x="685800" y="1874520"/>
            <a:ext cx="2834640" cy="384048"/>
          </a:xfrm>
          <a:prstGeom prst="rect">
            <a:avLst/>
          </a:prstGeom>
          <a:noFill/>
          <a:ln/>
        </p:spPr>
        <p:txBody>
          <a:bodyPr wrap="square" lIns="0" tIns="0" rIns="0" bIns="0" rtlCol="0" anchor="t"/>
          <a:lstStyle/>
          <a:p>
            <a:pPr indent="0" marL="0">
              <a:buNone/>
            </a:pPr>
            <a:r>
              <a:rPr lang="en-US" sz="1400" b="1" dirty="0">
                <a:solidFill>
                  <a:srgbClr val="161617"/>
                </a:solidFill>
                <a:latin typeface="Calibri" pitchFamily="34" charset="0"/>
                <a:ea typeface="Calibri" pitchFamily="34" charset="-122"/>
                <a:cs typeface="Calibri" pitchFamily="34" charset="-120"/>
              </a:rPr>
              <a:t>Possession</a:t>
            </a:r>
            <a:endParaRPr lang="en-US" sz="1400" dirty="0"/>
          </a:p>
        </p:txBody>
      </p:sp>
      <p:sp>
        <p:nvSpPr>
          <p:cNvPr id="5" name="Text 3"/>
          <p:cNvSpPr/>
          <p:nvPr/>
        </p:nvSpPr>
        <p:spPr>
          <a:xfrm>
            <a:off x="3657600" y="1874520"/>
            <a:ext cx="7845552" cy="402336"/>
          </a:xfrm>
          <a:prstGeom prst="rect">
            <a:avLst/>
          </a:prstGeom>
          <a:noFill/>
          <a:ln/>
        </p:spPr>
        <p:txBody>
          <a:bodyPr wrap="square" lIns="0" tIns="0" rIns="0" bIns="0" rtlCol="0" anchor="t"/>
          <a:lstStyle/>
          <a:p>
            <a:pPr indent="0" marL="0">
              <a:lnSpc>
                <a:spcPts val="1600"/>
              </a:lnSpc>
              <a:buNone/>
            </a:pPr>
            <a:r>
              <a:rPr lang="en-US" sz="1400" dirty="0">
                <a:solidFill>
                  <a:srgbClr val="6E6E73"/>
                </a:solidFill>
                <a:latin typeface="Calibri" pitchFamily="34" charset="0"/>
                <a:ea typeface="Calibri" pitchFamily="34" charset="-122"/>
                <a:cs typeface="Calibri" pitchFamily="34" charset="-120"/>
              </a:rPr>
              <a:t>An uninterrupted sequence of actions by one team, keyed by match, period and possession ID</a:t>
            </a:r>
            <a:endParaRPr lang="en-US" sz="1400" dirty="0"/>
          </a:p>
        </p:txBody>
      </p:sp>
      <p:sp>
        <p:nvSpPr>
          <p:cNvPr id="6" name="Text 4"/>
          <p:cNvSpPr/>
          <p:nvPr/>
        </p:nvSpPr>
        <p:spPr>
          <a:xfrm>
            <a:off x="685800" y="2322576"/>
            <a:ext cx="2834640" cy="384048"/>
          </a:xfrm>
          <a:prstGeom prst="rect">
            <a:avLst/>
          </a:prstGeom>
          <a:noFill/>
          <a:ln/>
        </p:spPr>
        <p:txBody>
          <a:bodyPr wrap="square" lIns="0" tIns="0" rIns="0" bIns="0" rtlCol="0" anchor="t"/>
          <a:lstStyle/>
          <a:p>
            <a:pPr indent="0" marL="0">
              <a:buNone/>
            </a:pPr>
            <a:r>
              <a:rPr lang="en-US" sz="1400" b="1" dirty="0">
                <a:solidFill>
                  <a:srgbClr val="161617"/>
                </a:solidFill>
                <a:latin typeface="Calibri" pitchFamily="34" charset="0"/>
                <a:ea typeface="Calibri" pitchFamily="34" charset="-122"/>
                <a:cs typeface="Calibri" pitchFamily="34" charset="-120"/>
              </a:rPr>
              <a:t>xG</a:t>
            </a:r>
            <a:endParaRPr lang="en-US" sz="1400" dirty="0"/>
          </a:p>
        </p:txBody>
      </p:sp>
      <p:sp>
        <p:nvSpPr>
          <p:cNvPr id="7" name="Text 5"/>
          <p:cNvSpPr/>
          <p:nvPr/>
        </p:nvSpPr>
        <p:spPr>
          <a:xfrm>
            <a:off x="3657600" y="2322576"/>
            <a:ext cx="7845552" cy="402336"/>
          </a:xfrm>
          <a:prstGeom prst="rect">
            <a:avLst/>
          </a:prstGeom>
          <a:noFill/>
          <a:ln/>
        </p:spPr>
        <p:txBody>
          <a:bodyPr wrap="square" lIns="0" tIns="0" rIns="0" bIns="0" rtlCol="0" anchor="t"/>
          <a:lstStyle/>
          <a:p>
            <a:pPr indent="0" marL="0">
              <a:lnSpc>
                <a:spcPts val="1600"/>
              </a:lnSpc>
              <a:buNone/>
            </a:pPr>
            <a:r>
              <a:rPr lang="en-US" sz="1400" dirty="0">
                <a:solidFill>
                  <a:srgbClr val="6E6E73"/>
                </a:solidFill>
                <a:latin typeface="Calibri" pitchFamily="34" charset="0"/>
                <a:ea typeface="Calibri" pitchFamily="34" charset="-122"/>
                <a:cs typeface="Calibri" pitchFamily="34" charset="-120"/>
              </a:rPr>
              <a:t>StatsBomb-supplied expected-goals value of a shot; consumed by this project, not fitted</a:t>
            </a:r>
            <a:endParaRPr lang="en-US" sz="1400" dirty="0"/>
          </a:p>
        </p:txBody>
      </p:sp>
      <p:sp>
        <p:nvSpPr>
          <p:cNvPr id="8" name="Text 6"/>
          <p:cNvSpPr/>
          <p:nvPr/>
        </p:nvSpPr>
        <p:spPr>
          <a:xfrm>
            <a:off x="685800" y="2770632"/>
            <a:ext cx="2834640" cy="384048"/>
          </a:xfrm>
          <a:prstGeom prst="rect">
            <a:avLst/>
          </a:prstGeom>
          <a:noFill/>
          <a:ln/>
        </p:spPr>
        <p:txBody>
          <a:bodyPr wrap="square" lIns="0" tIns="0" rIns="0" bIns="0" rtlCol="0" anchor="t"/>
          <a:lstStyle/>
          <a:p>
            <a:pPr indent="0" marL="0">
              <a:buNone/>
            </a:pPr>
            <a:r>
              <a:rPr lang="en-US" sz="1400" b="1" dirty="0">
                <a:solidFill>
                  <a:srgbClr val="161617"/>
                </a:solidFill>
                <a:latin typeface="Calibri" pitchFamily="34" charset="0"/>
                <a:ea typeface="Calibri" pitchFamily="34" charset="-122"/>
                <a:cs typeface="Calibri" pitchFamily="34" charset="-120"/>
              </a:rPr>
              <a:t>Progressive pass / carry</a:t>
            </a:r>
            <a:endParaRPr lang="en-US" sz="1400" dirty="0"/>
          </a:p>
        </p:txBody>
      </p:sp>
      <p:sp>
        <p:nvSpPr>
          <p:cNvPr id="9" name="Text 7"/>
          <p:cNvSpPr/>
          <p:nvPr/>
        </p:nvSpPr>
        <p:spPr>
          <a:xfrm>
            <a:off x="3657600" y="2770632"/>
            <a:ext cx="7845552" cy="402336"/>
          </a:xfrm>
          <a:prstGeom prst="rect">
            <a:avLst/>
          </a:prstGeom>
          <a:noFill/>
          <a:ln/>
        </p:spPr>
        <p:txBody>
          <a:bodyPr wrap="square" lIns="0" tIns="0" rIns="0" bIns="0" rtlCol="0" anchor="t"/>
          <a:lstStyle/>
          <a:p>
            <a:pPr indent="0" marL="0">
              <a:lnSpc>
                <a:spcPts val="1600"/>
              </a:lnSpc>
              <a:buNone/>
            </a:pPr>
            <a:r>
              <a:rPr lang="en-US" sz="1400" dirty="0">
                <a:solidFill>
                  <a:srgbClr val="6E6E73"/>
                </a:solidFill>
                <a:latin typeface="Calibri" pitchFamily="34" charset="0"/>
                <a:ea typeface="Calibri" pitchFamily="34" charset="-122"/>
                <a:cs typeface="Calibri" pitchFamily="34" charset="-120"/>
              </a:rPr>
              <a:t>A pass or carry that advances the ball meaningfully toward the opponent goal</a:t>
            </a:r>
            <a:endParaRPr lang="en-US" sz="1400" dirty="0"/>
          </a:p>
        </p:txBody>
      </p:sp>
      <p:sp>
        <p:nvSpPr>
          <p:cNvPr id="10" name="Text 8"/>
          <p:cNvSpPr/>
          <p:nvPr/>
        </p:nvSpPr>
        <p:spPr>
          <a:xfrm>
            <a:off x="685800" y="3218688"/>
            <a:ext cx="2834640" cy="384048"/>
          </a:xfrm>
          <a:prstGeom prst="rect">
            <a:avLst/>
          </a:prstGeom>
          <a:noFill/>
          <a:ln/>
        </p:spPr>
        <p:txBody>
          <a:bodyPr wrap="square" lIns="0" tIns="0" rIns="0" bIns="0" rtlCol="0" anchor="t"/>
          <a:lstStyle/>
          <a:p>
            <a:pPr indent="0" marL="0">
              <a:buNone/>
            </a:pPr>
            <a:r>
              <a:rPr lang="en-US" sz="1400" b="1" dirty="0">
                <a:solidFill>
                  <a:srgbClr val="161617"/>
                </a:solidFill>
                <a:latin typeface="Calibri" pitchFamily="34" charset="0"/>
                <a:ea typeface="Calibri" pitchFamily="34" charset="-122"/>
                <a:cs typeface="Calibri" pitchFamily="34" charset="-120"/>
              </a:rPr>
              <a:t>Final third</a:t>
            </a:r>
            <a:endParaRPr lang="en-US" sz="1400" dirty="0"/>
          </a:p>
        </p:txBody>
      </p:sp>
      <p:sp>
        <p:nvSpPr>
          <p:cNvPr id="11" name="Text 9"/>
          <p:cNvSpPr/>
          <p:nvPr/>
        </p:nvSpPr>
        <p:spPr>
          <a:xfrm>
            <a:off x="3657600" y="3218688"/>
            <a:ext cx="7845552" cy="402336"/>
          </a:xfrm>
          <a:prstGeom prst="rect">
            <a:avLst/>
          </a:prstGeom>
          <a:noFill/>
          <a:ln/>
        </p:spPr>
        <p:txBody>
          <a:bodyPr wrap="square" lIns="0" tIns="0" rIns="0" bIns="0" rtlCol="0" anchor="t"/>
          <a:lstStyle/>
          <a:p>
            <a:pPr indent="0" marL="0">
              <a:lnSpc>
                <a:spcPts val="1600"/>
              </a:lnSpc>
              <a:buNone/>
            </a:pPr>
            <a:r>
              <a:rPr lang="en-US" sz="1400" dirty="0">
                <a:solidFill>
                  <a:srgbClr val="6E6E73"/>
                </a:solidFill>
                <a:latin typeface="Calibri" pitchFamily="34" charset="0"/>
                <a:ea typeface="Calibri" pitchFamily="34" charset="-122"/>
                <a:cs typeface="Calibri" pitchFamily="34" charset="-120"/>
              </a:rPr>
              <a:t>The attacking third of the 120-unit pitch length</a:t>
            </a:r>
            <a:endParaRPr lang="en-US" sz="1400" dirty="0"/>
          </a:p>
        </p:txBody>
      </p:sp>
      <p:sp>
        <p:nvSpPr>
          <p:cNvPr id="12" name="Text 10"/>
          <p:cNvSpPr/>
          <p:nvPr/>
        </p:nvSpPr>
        <p:spPr>
          <a:xfrm>
            <a:off x="685800" y="3666744"/>
            <a:ext cx="2834640" cy="384048"/>
          </a:xfrm>
          <a:prstGeom prst="rect">
            <a:avLst/>
          </a:prstGeom>
          <a:noFill/>
          <a:ln/>
        </p:spPr>
        <p:txBody>
          <a:bodyPr wrap="square" lIns="0" tIns="0" rIns="0" bIns="0" rtlCol="0" anchor="t"/>
          <a:lstStyle/>
          <a:p>
            <a:pPr indent="0" marL="0">
              <a:buNone/>
            </a:pPr>
            <a:r>
              <a:rPr lang="en-US" sz="1400" b="1" dirty="0">
                <a:solidFill>
                  <a:srgbClr val="161617"/>
                </a:solidFill>
                <a:latin typeface="Calibri" pitchFamily="34" charset="0"/>
                <a:ea typeface="Calibri" pitchFamily="34" charset="-122"/>
                <a:cs typeface="Calibri" pitchFamily="34" charset="-120"/>
              </a:rPr>
              <a:t>Penalty area</a:t>
            </a:r>
            <a:endParaRPr lang="en-US" sz="1400" dirty="0"/>
          </a:p>
        </p:txBody>
      </p:sp>
      <p:sp>
        <p:nvSpPr>
          <p:cNvPr id="13" name="Text 11"/>
          <p:cNvSpPr/>
          <p:nvPr/>
        </p:nvSpPr>
        <p:spPr>
          <a:xfrm>
            <a:off x="3657600" y="3666744"/>
            <a:ext cx="7845552" cy="402336"/>
          </a:xfrm>
          <a:prstGeom prst="rect">
            <a:avLst/>
          </a:prstGeom>
          <a:noFill/>
          <a:ln/>
        </p:spPr>
        <p:txBody>
          <a:bodyPr wrap="square" lIns="0" tIns="0" rIns="0" bIns="0" rtlCol="0" anchor="t"/>
          <a:lstStyle/>
          <a:p>
            <a:pPr indent="0" marL="0">
              <a:lnSpc>
                <a:spcPts val="1600"/>
              </a:lnSpc>
              <a:buNone/>
            </a:pPr>
            <a:r>
              <a:rPr lang="en-US" sz="1400" dirty="0">
                <a:solidFill>
                  <a:srgbClr val="6E6E73"/>
                </a:solidFill>
                <a:latin typeface="Calibri" pitchFamily="34" charset="0"/>
                <a:ea typeface="Calibri" pitchFamily="34" charset="-122"/>
                <a:cs typeface="Calibri" pitchFamily="34" charset="-120"/>
              </a:rPr>
              <a:t>The box in front of goal; entering or ending inside it is a modeling target</a:t>
            </a:r>
            <a:endParaRPr lang="en-US" sz="1400" dirty="0"/>
          </a:p>
        </p:txBody>
      </p:sp>
      <p:sp>
        <p:nvSpPr>
          <p:cNvPr id="14" name="Text 12"/>
          <p:cNvSpPr/>
          <p:nvPr/>
        </p:nvSpPr>
        <p:spPr>
          <a:xfrm>
            <a:off x="685800" y="4114800"/>
            <a:ext cx="2834640" cy="384048"/>
          </a:xfrm>
          <a:prstGeom prst="rect">
            <a:avLst/>
          </a:prstGeom>
          <a:noFill/>
          <a:ln/>
        </p:spPr>
        <p:txBody>
          <a:bodyPr wrap="square" lIns="0" tIns="0" rIns="0" bIns="0" rtlCol="0" anchor="t"/>
          <a:lstStyle/>
          <a:p>
            <a:pPr indent="0" marL="0">
              <a:buNone/>
            </a:pPr>
            <a:r>
              <a:rPr lang="en-US" sz="1400" b="1" dirty="0">
                <a:solidFill>
                  <a:srgbClr val="161617"/>
                </a:solidFill>
                <a:latin typeface="Calibri" pitchFamily="34" charset="0"/>
                <a:ea typeface="Calibri" pitchFamily="34" charset="-122"/>
                <a:cs typeface="Calibri" pitchFamily="34" charset="-120"/>
              </a:rPr>
              <a:t>Press / counterpress</a:t>
            </a:r>
            <a:endParaRPr lang="en-US" sz="1400" dirty="0"/>
          </a:p>
        </p:txBody>
      </p:sp>
      <p:sp>
        <p:nvSpPr>
          <p:cNvPr id="15" name="Text 13"/>
          <p:cNvSpPr/>
          <p:nvPr/>
        </p:nvSpPr>
        <p:spPr>
          <a:xfrm>
            <a:off x="3657600" y="4114800"/>
            <a:ext cx="7845552" cy="402336"/>
          </a:xfrm>
          <a:prstGeom prst="rect">
            <a:avLst/>
          </a:prstGeom>
          <a:noFill/>
          <a:ln/>
        </p:spPr>
        <p:txBody>
          <a:bodyPr wrap="square" lIns="0" tIns="0" rIns="0" bIns="0" rtlCol="0" anchor="t"/>
          <a:lstStyle/>
          <a:p>
            <a:pPr indent="0" marL="0">
              <a:lnSpc>
                <a:spcPts val="1600"/>
              </a:lnSpc>
              <a:buNone/>
            </a:pPr>
            <a:r>
              <a:rPr lang="en-US" sz="1400" dirty="0">
                <a:solidFill>
                  <a:srgbClr val="6E6E73"/>
                </a:solidFill>
                <a:latin typeface="Calibri" pitchFamily="34" charset="0"/>
                <a:ea typeface="Calibri" pitchFamily="34" charset="-122"/>
                <a:cs typeface="Calibri" pitchFamily="34" charset="-120"/>
              </a:rPr>
              <a:t>Coordinated pressure on the ball carrier; counterpress is pressure applied immediately after losing the ball</a:t>
            </a:r>
            <a:endParaRPr lang="en-US" sz="1400" dirty="0"/>
          </a:p>
        </p:txBody>
      </p:sp>
      <p:sp>
        <p:nvSpPr>
          <p:cNvPr id="16" name="Text 14"/>
          <p:cNvSpPr/>
          <p:nvPr/>
        </p:nvSpPr>
        <p:spPr>
          <a:xfrm>
            <a:off x="685800" y="4562856"/>
            <a:ext cx="2834640" cy="384048"/>
          </a:xfrm>
          <a:prstGeom prst="rect">
            <a:avLst/>
          </a:prstGeom>
          <a:noFill/>
          <a:ln/>
        </p:spPr>
        <p:txBody>
          <a:bodyPr wrap="square" lIns="0" tIns="0" rIns="0" bIns="0" rtlCol="0" anchor="t"/>
          <a:lstStyle/>
          <a:p>
            <a:pPr indent="0" marL="0">
              <a:buNone/>
            </a:pPr>
            <a:r>
              <a:rPr lang="en-US" sz="1400" b="1" dirty="0">
                <a:solidFill>
                  <a:srgbClr val="161617"/>
                </a:solidFill>
                <a:latin typeface="Calibri" pitchFamily="34" charset="0"/>
                <a:ea typeface="Calibri" pitchFamily="34" charset="-122"/>
                <a:cs typeface="Calibri" pitchFamily="34" charset="-120"/>
              </a:rPr>
              <a:t>Defensive line height</a:t>
            </a:r>
            <a:endParaRPr lang="en-US" sz="1400" dirty="0"/>
          </a:p>
        </p:txBody>
      </p:sp>
      <p:sp>
        <p:nvSpPr>
          <p:cNvPr id="17" name="Text 15"/>
          <p:cNvSpPr/>
          <p:nvPr/>
        </p:nvSpPr>
        <p:spPr>
          <a:xfrm>
            <a:off x="3657600" y="4562856"/>
            <a:ext cx="7845552" cy="402336"/>
          </a:xfrm>
          <a:prstGeom prst="rect">
            <a:avLst/>
          </a:prstGeom>
          <a:noFill/>
          <a:ln/>
        </p:spPr>
        <p:txBody>
          <a:bodyPr wrap="square" lIns="0" tIns="0" rIns="0" bIns="0" rtlCol="0" anchor="t"/>
          <a:lstStyle/>
          <a:p>
            <a:pPr indent="0" marL="0">
              <a:lnSpc>
                <a:spcPts val="1600"/>
              </a:lnSpc>
              <a:buNone/>
            </a:pPr>
            <a:r>
              <a:rPr lang="en-US" sz="1400" dirty="0">
                <a:solidFill>
                  <a:srgbClr val="6E6E73"/>
                </a:solidFill>
                <a:latin typeface="Calibri" pitchFamily="34" charset="0"/>
                <a:ea typeface="Calibri" pitchFamily="34" charset="-122"/>
                <a:cs typeface="Calibri" pitchFamily="34" charset="-120"/>
              </a:rPr>
              <a:t>How far up the pitch the deepest defensive line sits</a:t>
            </a:r>
            <a:endParaRPr lang="en-US" sz="1400" dirty="0"/>
          </a:p>
        </p:txBody>
      </p:sp>
      <p:sp>
        <p:nvSpPr>
          <p:cNvPr id="18" name="Text 16"/>
          <p:cNvSpPr/>
          <p:nvPr/>
        </p:nvSpPr>
        <p:spPr>
          <a:xfrm>
            <a:off x="685800" y="5010912"/>
            <a:ext cx="2834640" cy="384048"/>
          </a:xfrm>
          <a:prstGeom prst="rect">
            <a:avLst/>
          </a:prstGeom>
          <a:noFill/>
          <a:ln/>
        </p:spPr>
        <p:txBody>
          <a:bodyPr wrap="square" lIns="0" tIns="0" rIns="0" bIns="0" rtlCol="0" anchor="t"/>
          <a:lstStyle/>
          <a:p>
            <a:pPr indent="0" marL="0">
              <a:buNone/>
            </a:pPr>
            <a:r>
              <a:rPr lang="en-US" sz="1400" b="1" dirty="0">
                <a:solidFill>
                  <a:srgbClr val="161617"/>
                </a:solidFill>
                <a:latin typeface="Calibri" pitchFamily="34" charset="0"/>
                <a:ea typeface="Calibri" pitchFamily="34" charset="-122"/>
                <a:cs typeface="Calibri" pitchFamily="34" charset="-120"/>
              </a:rPr>
              <a:t>Compactness</a:t>
            </a:r>
            <a:endParaRPr lang="en-US" sz="1400" dirty="0"/>
          </a:p>
        </p:txBody>
      </p:sp>
      <p:sp>
        <p:nvSpPr>
          <p:cNvPr id="19" name="Text 17"/>
          <p:cNvSpPr/>
          <p:nvPr/>
        </p:nvSpPr>
        <p:spPr>
          <a:xfrm>
            <a:off x="3657600" y="5010912"/>
            <a:ext cx="7845552" cy="402336"/>
          </a:xfrm>
          <a:prstGeom prst="rect">
            <a:avLst/>
          </a:prstGeom>
          <a:noFill/>
          <a:ln/>
        </p:spPr>
        <p:txBody>
          <a:bodyPr wrap="square" lIns="0" tIns="0" rIns="0" bIns="0" rtlCol="0" anchor="t"/>
          <a:lstStyle/>
          <a:p>
            <a:pPr indent="0" marL="0">
              <a:lnSpc>
                <a:spcPts val="1600"/>
              </a:lnSpc>
              <a:buNone/>
            </a:pPr>
            <a:r>
              <a:rPr lang="en-US" sz="1400" dirty="0">
                <a:solidFill>
                  <a:srgbClr val="6E6E73"/>
                </a:solidFill>
                <a:latin typeface="Calibri" pitchFamily="34" charset="0"/>
                <a:ea typeface="Calibri" pitchFamily="34" charset="-122"/>
                <a:cs typeface="Calibri" pitchFamily="34" charset="-120"/>
              </a:rPr>
              <a:t>How tightly the defensive block is packed in space</a:t>
            </a:r>
            <a:endParaRPr lang="en-US" sz="1400" dirty="0"/>
          </a:p>
        </p:txBody>
      </p:sp>
      <p:sp>
        <p:nvSpPr>
          <p:cNvPr id="20" name="Text 18"/>
          <p:cNvSpPr/>
          <p:nvPr/>
        </p:nvSpPr>
        <p:spPr>
          <a:xfrm>
            <a:off x="685800" y="5458968"/>
            <a:ext cx="2834640" cy="384048"/>
          </a:xfrm>
          <a:prstGeom prst="rect">
            <a:avLst/>
          </a:prstGeom>
          <a:noFill/>
          <a:ln/>
        </p:spPr>
        <p:txBody>
          <a:bodyPr wrap="square" lIns="0" tIns="0" rIns="0" bIns="0" rtlCol="0" anchor="t"/>
          <a:lstStyle/>
          <a:p>
            <a:pPr indent="0" marL="0">
              <a:buNone/>
            </a:pPr>
            <a:r>
              <a:rPr lang="en-US" sz="1400" b="1" dirty="0">
                <a:solidFill>
                  <a:srgbClr val="161617"/>
                </a:solidFill>
                <a:latin typeface="Calibri" pitchFamily="34" charset="0"/>
                <a:ea typeface="Calibri" pitchFamily="34" charset="-122"/>
                <a:cs typeface="Calibri" pitchFamily="34" charset="-120"/>
              </a:rPr>
              <a:t>StatsBomb 360</a:t>
            </a:r>
            <a:endParaRPr lang="en-US" sz="1400" dirty="0"/>
          </a:p>
        </p:txBody>
      </p:sp>
      <p:sp>
        <p:nvSpPr>
          <p:cNvPr id="21" name="Text 19"/>
          <p:cNvSpPr/>
          <p:nvPr/>
        </p:nvSpPr>
        <p:spPr>
          <a:xfrm>
            <a:off x="3657600" y="5458968"/>
            <a:ext cx="7845552" cy="402336"/>
          </a:xfrm>
          <a:prstGeom prst="rect">
            <a:avLst/>
          </a:prstGeom>
          <a:noFill/>
          <a:ln/>
        </p:spPr>
        <p:txBody>
          <a:bodyPr wrap="square" lIns="0" tIns="0" rIns="0" bIns="0" rtlCol="0" anchor="t"/>
          <a:lstStyle/>
          <a:p>
            <a:pPr indent="0" marL="0">
              <a:lnSpc>
                <a:spcPts val="1600"/>
              </a:lnSpc>
              <a:buNone/>
            </a:pPr>
            <a:r>
              <a:rPr lang="en-US" sz="1400" dirty="0">
                <a:solidFill>
                  <a:srgbClr val="6E6E73"/>
                </a:solidFill>
                <a:latin typeface="Calibri" pitchFamily="34" charset="0"/>
                <a:ea typeface="Calibri" pitchFamily="34" charset="-122"/>
                <a:cs typeface="Calibri" pitchFamily="34" charset="-120"/>
              </a:rPr>
              <a:t>Event-time freeze frames of visible player locations plus a visible-area polygon — not continuous tracking</a:t>
            </a:r>
            <a:endParaRPr lang="en-US" sz="1400" dirty="0"/>
          </a:p>
        </p:txBody>
      </p:sp>
      <p:sp>
        <p:nvSpPr>
          <p:cNvPr id="22" name="Text 20"/>
          <p:cNvSpPr/>
          <p:nvPr/>
        </p:nvSpPr>
        <p:spPr>
          <a:xfrm>
            <a:off x="685800" y="5907024"/>
            <a:ext cx="2834640" cy="384048"/>
          </a:xfrm>
          <a:prstGeom prst="rect">
            <a:avLst/>
          </a:prstGeom>
          <a:noFill/>
          <a:ln/>
        </p:spPr>
        <p:txBody>
          <a:bodyPr wrap="square" lIns="0" tIns="0" rIns="0" bIns="0" rtlCol="0" anchor="t"/>
          <a:lstStyle/>
          <a:p>
            <a:pPr indent="0" marL="0">
              <a:buNone/>
            </a:pPr>
            <a:r>
              <a:rPr lang="en-US" sz="1400" b="1" dirty="0">
                <a:solidFill>
                  <a:srgbClr val="161617"/>
                </a:solidFill>
                <a:latin typeface="Calibri" pitchFamily="34" charset="0"/>
                <a:ea typeface="Calibri" pitchFamily="34" charset="-122"/>
                <a:cs typeface="Calibri" pitchFamily="34" charset="-120"/>
              </a:rPr>
              <a:t>Counterfactual simulation</a:t>
            </a:r>
            <a:endParaRPr lang="en-US" sz="1400" dirty="0"/>
          </a:p>
        </p:txBody>
      </p:sp>
      <p:sp>
        <p:nvSpPr>
          <p:cNvPr id="23" name="Text 21"/>
          <p:cNvSpPr/>
          <p:nvPr/>
        </p:nvSpPr>
        <p:spPr>
          <a:xfrm>
            <a:off x="3657600" y="5907024"/>
            <a:ext cx="7845552" cy="402336"/>
          </a:xfrm>
          <a:prstGeom prst="rect">
            <a:avLst/>
          </a:prstGeom>
          <a:noFill/>
          <a:ln/>
        </p:spPr>
        <p:txBody>
          <a:bodyPr wrap="square" lIns="0" tIns="0" rIns="0" bIns="0" rtlCol="0" anchor="t"/>
          <a:lstStyle/>
          <a:p>
            <a:pPr indent="0" marL="0">
              <a:lnSpc>
                <a:spcPts val="1600"/>
              </a:lnSpc>
              <a:buNone/>
            </a:pPr>
            <a:r>
              <a:rPr lang="en-US" sz="1400" dirty="0">
                <a:solidFill>
                  <a:srgbClr val="6E6E73"/>
                </a:solidFill>
                <a:latin typeface="Calibri" pitchFamily="34" charset="0"/>
                <a:ea typeface="Calibri" pitchFamily="34" charset="-122"/>
                <a:cs typeface="Calibri" pitchFamily="34" charset="-120"/>
              </a:rPr>
              <a:t>Re-scoring a possession under a different candidate style while holding other inputs fixed — observational, not causal</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APPENDIX E · 2 OF 2</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Soccer and data glossary — the methods</a:t>
            </a:r>
            <a:endParaRPr lang="en-US" sz="3500" dirty="0"/>
          </a:p>
        </p:txBody>
      </p:sp>
      <p:sp>
        <p:nvSpPr>
          <p:cNvPr id="4" name="Text 2"/>
          <p:cNvSpPr/>
          <p:nvPr/>
        </p:nvSpPr>
        <p:spPr>
          <a:xfrm>
            <a:off x="685800" y="1874520"/>
            <a:ext cx="2834640" cy="365760"/>
          </a:xfrm>
          <a:prstGeom prst="rect">
            <a:avLst/>
          </a:prstGeom>
          <a:noFill/>
          <a:ln/>
        </p:spPr>
        <p:txBody>
          <a:bodyPr wrap="square" lIns="0" tIns="0" rIns="0" bIns="0" rtlCol="0" anchor="t"/>
          <a:lstStyle/>
          <a:p>
            <a:pPr indent="0" marL="0">
              <a:buNone/>
            </a:pPr>
            <a:r>
              <a:rPr lang="en-US" sz="1400" b="1" dirty="0">
                <a:solidFill>
                  <a:srgbClr val="161617"/>
                </a:solidFill>
                <a:latin typeface="Calibri" pitchFamily="34" charset="0"/>
                <a:ea typeface="Calibri" pitchFamily="34" charset="-122"/>
                <a:cs typeface="Calibri" pitchFamily="34" charset="-120"/>
              </a:rPr>
              <a:t>K-Means</a:t>
            </a:r>
            <a:endParaRPr lang="en-US" sz="1400" dirty="0"/>
          </a:p>
        </p:txBody>
      </p:sp>
      <p:sp>
        <p:nvSpPr>
          <p:cNvPr id="5" name="Text 3"/>
          <p:cNvSpPr/>
          <p:nvPr/>
        </p:nvSpPr>
        <p:spPr>
          <a:xfrm>
            <a:off x="3657600" y="1874520"/>
            <a:ext cx="7845552" cy="365760"/>
          </a:xfrm>
          <a:prstGeom prst="rect">
            <a:avLst/>
          </a:prstGeom>
          <a:noFill/>
          <a:ln/>
        </p:spPr>
        <p:txBody>
          <a:bodyPr wrap="square" lIns="0" tIns="0" rIns="0" bIns="0" rtlCol="0" anchor="t"/>
          <a:lstStyle/>
          <a:p>
            <a:pPr indent="0" marL="0">
              <a:lnSpc>
                <a:spcPts val="1600"/>
              </a:lnSpc>
              <a:buNone/>
            </a:pPr>
            <a:r>
              <a:rPr lang="en-US" sz="1400" dirty="0">
                <a:solidFill>
                  <a:srgbClr val="6E6E73"/>
                </a:solidFill>
                <a:latin typeface="Calibri" pitchFamily="34" charset="0"/>
                <a:ea typeface="Calibri" pitchFamily="34" charset="-122"/>
                <a:cs typeface="Calibri" pitchFamily="34" charset="-120"/>
              </a:rPr>
              <a:t>Partitions observations into k clusters by minimising distance to cluster centroids</a:t>
            </a:r>
            <a:endParaRPr lang="en-US" sz="1400" dirty="0"/>
          </a:p>
        </p:txBody>
      </p:sp>
      <p:sp>
        <p:nvSpPr>
          <p:cNvPr id="6" name="Text 4"/>
          <p:cNvSpPr/>
          <p:nvPr/>
        </p:nvSpPr>
        <p:spPr>
          <a:xfrm>
            <a:off x="685800" y="2286000"/>
            <a:ext cx="2834640" cy="365760"/>
          </a:xfrm>
          <a:prstGeom prst="rect">
            <a:avLst/>
          </a:prstGeom>
          <a:noFill/>
          <a:ln/>
        </p:spPr>
        <p:txBody>
          <a:bodyPr wrap="square" lIns="0" tIns="0" rIns="0" bIns="0" rtlCol="0" anchor="t"/>
          <a:lstStyle/>
          <a:p>
            <a:pPr indent="0" marL="0">
              <a:buNone/>
            </a:pPr>
            <a:r>
              <a:rPr lang="en-US" sz="1400" b="1" dirty="0">
                <a:solidFill>
                  <a:srgbClr val="161617"/>
                </a:solidFill>
                <a:latin typeface="Calibri" pitchFamily="34" charset="0"/>
                <a:ea typeface="Calibri" pitchFamily="34" charset="-122"/>
                <a:cs typeface="Calibri" pitchFamily="34" charset="-120"/>
              </a:rPr>
              <a:t>Silhouette score</a:t>
            </a:r>
            <a:endParaRPr lang="en-US" sz="1400" dirty="0"/>
          </a:p>
        </p:txBody>
      </p:sp>
      <p:sp>
        <p:nvSpPr>
          <p:cNvPr id="7" name="Text 5"/>
          <p:cNvSpPr/>
          <p:nvPr/>
        </p:nvSpPr>
        <p:spPr>
          <a:xfrm>
            <a:off x="3657600" y="2286000"/>
            <a:ext cx="7845552" cy="365760"/>
          </a:xfrm>
          <a:prstGeom prst="rect">
            <a:avLst/>
          </a:prstGeom>
          <a:noFill/>
          <a:ln/>
        </p:spPr>
        <p:txBody>
          <a:bodyPr wrap="square" lIns="0" tIns="0" rIns="0" bIns="0" rtlCol="0" anchor="t"/>
          <a:lstStyle/>
          <a:p>
            <a:pPr indent="0" marL="0">
              <a:lnSpc>
                <a:spcPts val="1600"/>
              </a:lnSpc>
              <a:buNone/>
            </a:pPr>
            <a:r>
              <a:rPr lang="en-US" sz="1400" dirty="0">
                <a:solidFill>
                  <a:srgbClr val="6E6E73"/>
                </a:solidFill>
                <a:latin typeface="Calibri" pitchFamily="34" charset="0"/>
                <a:ea typeface="Calibri" pitchFamily="34" charset="-122"/>
                <a:cs typeface="Calibri" pitchFamily="34" charset="-120"/>
              </a:rPr>
              <a:t>How well a point fits its own cluster versus the nearest other cluster; higher is better separated</a:t>
            </a:r>
            <a:endParaRPr lang="en-US" sz="1400" dirty="0"/>
          </a:p>
        </p:txBody>
      </p:sp>
      <p:sp>
        <p:nvSpPr>
          <p:cNvPr id="8" name="Text 6"/>
          <p:cNvSpPr/>
          <p:nvPr/>
        </p:nvSpPr>
        <p:spPr>
          <a:xfrm>
            <a:off x="685800" y="2697480"/>
            <a:ext cx="2834640" cy="365760"/>
          </a:xfrm>
          <a:prstGeom prst="rect">
            <a:avLst/>
          </a:prstGeom>
          <a:noFill/>
          <a:ln/>
        </p:spPr>
        <p:txBody>
          <a:bodyPr wrap="square" lIns="0" tIns="0" rIns="0" bIns="0" rtlCol="0" anchor="t"/>
          <a:lstStyle/>
          <a:p>
            <a:pPr indent="0" marL="0">
              <a:buNone/>
            </a:pPr>
            <a:r>
              <a:rPr lang="en-US" sz="1400" b="1" dirty="0">
                <a:solidFill>
                  <a:srgbClr val="161617"/>
                </a:solidFill>
                <a:latin typeface="Calibri" pitchFamily="34" charset="0"/>
                <a:ea typeface="Calibri" pitchFamily="34" charset="-122"/>
                <a:cs typeface="Calibri" pitchFamily="34" charset="-120"/>
              </a:rPr>
              <a:t>Adjusted Rand Index</a:t>
            </a:r>
            <a:endParaRPr lang="en-US" sz="1400" dirty="0"/>
          </a:p>
        </p:txBody>
      </p:sp>
      <p:sp>
        <p:nvSpPr>
          <p:cNvPr id="9" name="Text 7"/>
          <p:cNvSpPr/>
          <p:nvPr/>
        </p:nvSpPr>
        <p:spPr>
          <a:xfrm>
            <a:off x="3657600" y="2697480"/>
            <a:ext cx="7845552" cy="365760"/>
          </a:xfrm>
          <a:prstGeom prst="rect">
            <a:avLst/>
          </a:prstGeom>
          <a:noFill/>
          <a:ln/>
        </p:spPr>
        <p:txBody>
          <a:bodyPr wrap="square" lIns="0" tIns="0" rIns="0" bIns="0" rtlCol="0" anchor="t"/>
          <a:lstStyle/>
          <a:p>
            <a:pPr indent="0" marL="0">
              <a:lnSpc>
                <a:spcPts val="1600"/>
              </a:lnSpc>
              <a:buNone/>
            </a:pPr>
            <a:r>
              <a:rPr lang="en-US" sz="1400" dirty="0">
                <a:solidFill>
                  <a:srgbClr val="6E6E73"/>
                </a:solidFill>
                <a:latin typeface="Calibri" pitchFamily="34" charset="0"/>
                <a:ea typeface="Calibri" pitchFamily="34" charset="-122"/>
                <a:cs typeface="Calibri" pitchFamily="34" charset="-120"/>
              </a:rPr>
              <a:t>Agreement between two clusterings; 1.0 means identical assignments</a:t>
            </a:r>
            <a:endParaRPr lang="en-US" sz="1400" dirty="0"/>
          </a:p>
        </p:txBody>
      </p:sp>
      <p:sp>
        <p:nvSpPr>
          <p:cNvPr id="10" name="Text 8"/>
          <p:cNvSpPr/>
          <p:nvPr/>
        </p:nvSpPr>
        <p:spPr>
          <a:xfrm>
            <a:off x="685800" y="3108960"/>
            <a:ext cx="2834640" cy="365760"/>
          </a:xfrm>
          <a:prstGeom prst="rect">
            <a:avLst/>
          </a:prstGeom>
          <a:noFill/>
          <a:ln/>
        </p:spPr>
        <p:txBody>
          <a:bodyPr wrap="square" lIns="0" tIns="0" rIns="0" bIns="0" rtlCol="0" anchor="t"/>
          <a:lstStyle/>
          <a:p>
            <a:pPr indent="0" marL="0">
              <a:buNone/>
            </a:pPr>
            <a:r>
              <a:rPr lang="en-US" sz="1400" b="1" dirty="0">
                <a:solidFill>
                  <a:srgbClr val="161617"/>
                </a:solidFill>
                <a:latin typeface="Calibri" pitchFamily="34" charset="0"/>
                <a:ea typeface="Calibri" pitchFamily="34" charset="-122"/>
                <a:cs typeface="Calibri" pitchFamily="34" charset="-120"/>
              </a:rPr>
              <a:t>ROC-AUC</a:t>
            </a:r>
            <a:endParaRPr lang="en-US" sz="1400" dirty="0"/>
          </a:p>
        </p:txBody>
      </p:sp>
      <p:sp>
        <p:nvSpPr>
          <p:cNvPr id="11" name="Text 9"/>
          <p:cNvSpPr/>
          <p:nvPr/>
        </p:nvSpPr>
        <p:spPr>
          <a:xfrm>
            <a:off x="3657600" y="3108960"/>
            <a:ext cx="7845552" cy="365760"/>
          </a:xfrm>
          <a:prstGeom prst="rect">
            <a:avLst/>
          </a:prstGeom>
          <a:noFill/>
          <a:ln/>
        </p:spPr>
        <p:txBody>
          <a:bodyPr wrap="square" lIns="0" tIns="0" rIns="0" bIns="0" rtlCol="0" anchor="t"/>
          <a:lstStyle/>
          <a:p>
            <a:pPr indent="0" marL="0">
              <a:lnSpc>
                <a:spcPts val="1600"/>
              </a:lnSpc>
              <a:buNone/>
            </a:pPr>
            <a:r>
              <a:rPr lang="en-US" sz="1400" dirty="0">
                <a:solidFill>
                  <a:srgbClr val="6E6E73"/>
                </a:solidFill>
                <a:latin typeface="Calibri" pitchFamily="34" charset="0"/>
                <a:ea typeface="Calibri" pitchFamily="34" charset="-122"/>
                <a:cs typeface="Calibri" pitchFamily="34" charset="-120"/>
              </a:rPr>
              <a:t>Ranking quality across all thresholds; insensitive to class imbalance and easy to over-read on rare events</a:t>
            </a:r>
            <a:endParaRPr lang="en-US" sz="1400" dirty="0"/>
          </a:p>
        </p:txBody>
      </p:sp>
      <p:sp>
        <p:nvSpPr>
          <p:cNvPr id="12" name="Text 10"/>
          <p:cNvSpPr/>
          <p:nvPr/>
        </p:nvSpPr>
        <p:spPr>
          <a:xfrm>
            <a:off x="685800" y="3520440"/>
            <a:ext cx="2834640" cy="365760"/>
          </a:xfrm>
          <a:prstGeom prst="rect">
            <a:avLst/>
          </a:prstGeom>
          <a:noFill/>
          <a:ln/>
        </p:spPr>
        <p:txBody>
          <a:bodyPr wrap="square" lIns="0" tIns="0" rIns="0" bIns="0" rtlCol="0" anchor="t"/>
          <a:lstStyle/>
          <a:p>
            <a:pPr indent="0" marL="0">
              <a:buNone/>
            </a:pPr>
            <a:r>
              <a:rPr lang="en-US" sz="1400" b="1" dirty="0">
                <a:solidFill>
                  <a:srgbClr val="161617"/>
                </a:solidFill>
                <a:latin typeface="Calibri" pitchFamily="34" charset="0"/>
                <a:ea typeface="Calibri" pitchFamily="34" charset="-122"/>
                <a:cs typeface="Calibri" pitchFamily="34" charset="-120"/>
              </a:rPr>
              <a:t>PR-AUC</a:t>
            </a:r>
            <a:endParaRPr lang="en-US" sz="1400" dirty="0"/>
          </a:p>
        </p:txBody>
      </p:sp>
      <p:sp>
        <p:nvSpPr>
          <p:cNvPr id="13" name="Text 11"/>
          <p:cNvSpPr/>
          <p:nvPr/>
        </p:nvSpPr>
        <p:spPr>
          <a:xfrm>
            <a:off x="3657600" y="3520440"/>
            <a:ext cx="7845552" cy="365760"/>
          </a:xfrm>
          <a:prstGeom prst="rect">
            <a:avLst/>
          </a:prstGeom>
          <a:noFill/>
          <a:ln/>
        </p:spPr>
        <p:txBody>
          <a:bodyPr wrap="square" lIns="0" tIns="0" rIns="0" bIns="0" rtlCol="0" anchor="t"/>
          <a:lstStyle/>
          <a:p>
            <a:pPr indent="0" marL="0">
              <a:lnSpc>
                <a:spcPts val="1600"/>
              </a:lnSpc>
              <a:buNone/>
            </a:pPr>
            <a:r>
              <a:rPr lang="en-US" sz="1400" dirty="0">
                <a:solidFill>
                  <a:srgbClr val="6E6E73"/>
                </a:solidFill>
                <a:latin typeface="Calibri" pitchFamily="34" charset="0"/>
                <a:ea typeface="Calibri" pitchFamily="34" charset="-122"/>
                <a:cs typeface="Calibri" pitchFamily="34" charset="-120"/>
              </a:rPr>
              <a:t>Ranking quality focused on the positive class; comparable only across models on the same prevalence</a:t>
            </a:r>
            <a:endParaRPr lang="en-US" sz="1400" dirty="0"/>
          </a:p>
        </p:txBody>
      </p:sp>
      <p:sp>
        <p:nvSpPr>
          <p:cNvPr id="14" name="Text 12"/>
          <p:cNvSpPr/>
          <p:nvPr/>
        </p:nvSpPr>
        <p:spPr>
          <a:xfrm>
            <a:off x="685800" y="3931920"/>
            <a:ext cx="2834640" cy="365760"/>
          </a:xfrm>
          <a:prstGeom prst="rect">
            <a:avLst/>
          </a:prstGeom>
          <a:noFill/>
          <a:ln/>
        </p:spPr>
        <p:txBody>
          <a:bodyPr wrap="square" lIns="0" tIns="0" rIns="0" bIns="0" rtlCol="0" anchor="t"/>
          <a:lstStyle/>
          <a:p>
            <a:pPr indent="0" marL="0">
              <a:buNone/>
            </a:pPr>
            <a:r>
              <a:rPr lang="en-US" sz="1400" b="1" dirty="0">
                <a:solidFill>
                  <a:srgbClr val="161617"/>
                </a:solidFill>
                <a:latin typeface="Calibri" pitchFamily="34" charset="0"/>
                <a:ea typeface="Calibri" pitchFamily="34" charset="-122"/>
                <a:cs typeface="Calibri" pitchFamily="34" charset="-120"/>
              </a:rPr>
              <a:t>Log loss</a:t>
            </a:r>
            <a:endParaRPr lang="en-US" sz="1400" dirty="0"/>
          </a:p>
        </p:txBody>
      </p:sp>
      <p:sp>
        <p:nvSpPr>
          <p:cNvPr id="15" name="Text 13"/>
          <p:cNvSpPr/>
          <p:nvPr/>
        </p:nvSpPr>
        <p:spPr>
          <a:xfrm>
            <a:off x="3657600" y="3931920"/>
            <a:ext cx="7845552" cy="365760"/>
          </a:xfrm>
          <a:prstGeom prst="rect">
            <a:avLst/>
          </a:prstGeom>
          <a:noFill/>
          <a:ln/>
        </p:spPr>
        <p:txBody>
          <a:bodyPr wrap="square" lIns="0" tIns="0" rIns="0" bIns="0" rtlCol="0" anchor="t"/>
          <a:lstStyle/>
          <a:p>
            <a:pPr indent="0" marL="0">
              <a:lnSpc>
                <a:spcPts val="1600"/>
              </a:lnSpc>
              <a:buNone/>
            </a:pPr>
            <a:r>
              <a:rPr lang="en-US" sz="1400" dirty="0">
                <a:solidFill>
                  <a:srgbClr val="6E6E73"/>
                </a:solidFill>
                <a:latin typeface="Calibri" pitchFamily="34" charset="0"/>
                <a:ea typeface="Calibri" pitchFamily="34" charset="-122"/>
                <a:cs typeface="Calibri" pitchFamily="34" charset="-120"/>
              </a:rPr>
              <a:t>Penalises confident wrong probabilities; the project's primary selection metric</a:t>
            </a:r>
            <a:endParaRPr lang="en-US" sz="1400" dirty="0"/>
          </a:p>
        </p:txBody>
      </p:sp>
      <p:sp>
        <p:nvSpPr>
          <p:cNvPr id="16" name="Text 14"/>
          <p:cNvSpPr/>
          <p:nvPr/>
        </p:nvSpPr>
        <p:spPr>
          <a:xfrm>
            <a:off x="685800" y="4343400"/>
            <a:ext cx="2834640" cy="365760"/>
          </a:xfrm>
          <a:prstGeom prst="rect">
            <a:avLst/>
          </a:prstGeom>
          <a:noFill/>
          <a:ln/>
        </p:spPr>
        <p:txBody>
          <a:bodyPr wrap="square" lIns="0" tIns="0" rIns="0" bIns="0" rtlCol="0" anchor="t"/>
          <a:lstStyle/>
          <a:p>
            <a:pPr indent="0" marL="0">
              <a:buNone/>
            </a:pPr>
            <a:r>
              <a:rPr lang="en-US" sz="1400" b="1" dirty="0">
                <a:solidFill>
                  <a:srgbClr val="161617"/>
                </a:solidFill>
                <a:latin typeface="Calibri" pitchFamily="34" charset="0"/>
                <a:ea typeface="Calibri" pitchFamily="34" charset="-122"/>
                <a:cs typeface="Calibri" pitchFamily="34" charset="-120"/>
              </a:rPr>
              <a:t>Brier score</a:t>
            </a:r>
            <a:endParaRPr lang="en-US" sz="1400" dirty="0"/>
          </a:p>
        </p:txBody>
      </p:sp>
      <p:sp>
        <p:nvSpPr>
          <p:cNvPr id="17" name="Text 15"/>
          <p:cNvSpPr/>
          <p:nvPr/>
        </p:nvSpPr>
        <p:spPr>
          <a:xfrm>
            <a:off x="3657600" y="4343400"/>
            <a:ext cx="7845552" cy="365760"/>
          </a:xfrm>
          <a:prstGeom prst="rect">
            <a:avLst/>
          </a:prstGeom>
          <a:noFill/>
          <a:ln/>
        </p:spPr>
        <p:txBody>
          <a:bodyPr wrap="square" lIns="0" tIns="0" rIns="0" bIns="0" rtlCol="0" anchor="t"/>
          <a:lstStyle/>
          <a:p>
            <a:pPr indent="0" marL="0">
              <a:lnSpc>
                <a:spcPts val="1600"/>
              </a:lnSpc>
              <a:buNone/>
            </a:pPr>
            <a:r>
              <a:rPr lang="en-US" sz="1400" dirty="0">
                <a:solidFill>
                  <a:srgbClr val="6E6E73"/>
                </a:solidFill>
                <a:latin typeface="Calibri" pitchFamily="34" charset="0"/>
                <a:ea typeface="Calibri" pitchFamily="34" charset="-122"/>
                <a:cs typeface="Calibri" pitchFamily="34" charset="-120"/>
              </a:rPr>
              <a:t>Mean squared error of predicted probabilities</a:t>
            </a:r>
            <a:endParaRPr lang="en-US" sz="1400" dirty="0"/>
          </a:p>
        </p:txBody>
      </p:sp>
      <p:sp>
        <p:nvSpPr>
          <p:cNvPr id="18" name="Text 16"/>
          <p:cNvSpPr/>
          <p:nvPr/>
        </p:nvSpPr>
        <p:spPr>
          <a:xfrm>
            <a:off x="685800" y="4754880"/>
            <a:ext cx="2834640" cy="365760"/>
          </a:xfrm>
          <a:prstGeom prst="rect">
            <a:avLst/>
          </a:prstGeom>
          <a:noFill/>
          <a:ln/>
        </p:spPr>
        <p:txBody>
          <a:bodyPr wrap="square" lIns="0" tIns="0" rIns="0" bIns="0" rtlCol="0" anchor="t"/>
          <a:lstStyle/>
          <a:p>
            <a:pPr indent="0" marL="0">
              <a:buNone/>
            </a:pPr>
            <a:r>
              <a:rPr lang="en-US" sz="1400" b="1" dirty="0">
                <a:solidFill>
                  <a:srgbClr val="161617"/>
                </a:solidFill>
                <a:latin typeface="Calibri" pitchFamily="34" charset="0"/>
                <a:ea typeface="Calibri" pitchFamily="34" charset="-122"/>
                <a:cs typeface="Calibri" pitchFamily="34" charset="-120"/>
              </a:rPr>
              <a:t>Calibration</a:t>
            </a:r>
            <a:endParaRPr lang="en-US" sz="1400" dirty="0"/>
          </a:p>
        </p:txBody>
      </p:sp>
      <p:sp>
        <p:nvSpPr>
          <p:cNvPr id="19" name="Text 17"/>
          <p:cNvSpPr/>
          <p:nvPr/>
        </p:nvSpPr>
        <p:spPr>
          <a:xfrm>
            <a:off x="3657600" y="4754880"/>
            <a:ext cx="7845552" cy="365760"/>
          </a:xfrm>
          <a:prstGeom prst="rect">
            <a:avLst/>
          </a:prstGeom>
          <a:noFill/>
          <a:ln/>
        </p:spPr>
        <p:txBody>
          <a:bodyPr wrap="square" lIns="0" tIns="0" rIns="0" bIns="0" rtlCol="0" anchor="t"/>
          <a:lstStyle/>
          <a:p>
            <a:pPr indent="0" marL="0">
              <a:lnSpc>
                <a:spcPts val="1600"/>
              </a:lnSpc>
              <a:buNone/>
            </a:pPr>
            <a:r>
              <a:rPr lang="en-US" sz="1400" dirty="0">
                <a:solidFill>
                  <a:srgbClr val="6E6E73"/>
                </a:solidFill>
                <a:latin typeface="Calibri" pitchFamily="34" charset="0"/>
                <a:ea typeface="Calibri" pitchFamily="34" charset="-122"/>
                <a:cs typeface="Calibri" pitchFamily="34" charset="-120"/>
              </a:rPr>
              <a:t>Whether a predicted 0.3 occurs about 30% of the time in practice</a:t>
            </a:r>
            <a:endParaRPr lang="en-US" sz="1400" dirty="0"/>
          </a:p>
        </p:txBody>
      </p:sp>
      <p:sp>
        <p:nvSpPr>
          <p:cNvPr id="20" name="Text 18"/>
          <p:cNvSpPr/>
          <p:nvPr/>
        </p:nvSpPr>
        <p:spPr>
          <a:xfrm>
            <a:off x="685800" y="5166360"/>
            <a:ext cx="2834640" cy="365760"/>
          </a:xfrm>
          <a:prstGeom prst="rect">
            <a:avLst/>
          </a:prstGeom>
          <a:noFill/>
          <a:ln/>
        </p:spPr>
        <p:txBody>
          <a:bodyPr wrap="square" lIns="0" tIns="0" rIns="0" bIns="0" rtlCol="0" anchor="t"/>
          <a:lstStyle/>
          <a:p>
            <a:pPr indent="0" marL="0">
              <a:buNone/>
            </a:pPr>
            <a:r>
              <a:rPr lang="en-US" sz="1400" b="1" dirty="0">
                <a:solidFill>
                  <a:srgbClr val="161617"/>
                </a:solidFill>
                <a:latin typeface="Calibri" pitchFamily="34" charset="0"/>
                <a:ea typeface="Calibri" pitchFamily="34" charset="-122"/>
                <a:cs typeface="Calibri" pitchFamily="34" charset="-120"/>
              </a:rPr>
              <a:t>Out-of-fold prediction</a:t>
            </a:r>
            <a:endParaRPr lang="en-US" sz="1400" dirty="0"/>
          </a:p>
        </p:txBody>
      </p:sp>
      <p:sp>
        <p:nvSpPr>
          <p:cNvPr id="21" name="Text 19"/>
          <p:cNvSpPr/>
          <p:nvPr/>
        </p:nvSpPr>
        <p:spPr>
          <a:xfrm>
            <a:off x="3657600" y="5166360"/>
            <a:ext cx="7845552" cy="365760"/>
          </a:xfrm>
          <a:prstGeom prst="rect">
            <a:avLst/>
          </a:prstGeom>
          <a:noFill/>
          <a:ln/>
        </p:spPr>
        <p:txBody>
          <a:bodyPr wrap="square" lIns="0" tIns="0" rIns="0" bIns="0" rtlCol="0" anchor="t"/>
          <a:lstStyle/>
          <a:p>
            <a:pPr indent="0" marL="0">
              <a:lnSpc>
                <a:spcPts val="1600"/>
              </a:lnSpc>
              <a:buNone/>
            </a:pPr>
            <a:r>
              <a:rPr lang="en-US" sz="1400" dirty="0">
                <a:solidFill>
                  <a:srgbClr val="6E6E73"/>
                </a:solidFill>
                <a:latin typeface="Calibri" pitchFamily="34" charset="0"/>
                <a:ea typeface="Calibri" pitchFamily="34" charset="-122"/>
                <a:cs typeface="Calibri" pitchFamily="34" charset="-120"/>
              </a:rPr>
              <a:t>A prediction made for data held out of the fold that fitted the model</a:t>
            </a:r>
            <a:endParaRPr lang="en-US" sz="1400" dirty="0"/>
          </a:p>
        </p:txBody>
      </p:sp>
      <p:sp>
        <p:nvSpPr>
          <p:cNvPr id="22" name="Text 20"/>
          <p:cNvSpPr/>
          <p:nvPr/>
        </p:nvSpPr>
        <p:spPr>
          <a:xfrm>
            <a:off x="685800" y="5577840"/>
            <a:ext cx="2834640" cy="365760"/>
          </a:xfrm>
          <a:prstGeom prst="rect">
            <a:avLst/>
          </a:prstGeom>
          <a:noFill/>
          <a:ln/>
        </p:spPr>
        <p:txBody>
          <a:bodyPr wrap="square" lIns="0" tIns="0" rIns="0" bIns="0" rtlCol="0" anchor="t"/>
          <a:lstStyle/>
          <a:p>
            <a:pPr indent="0" marL="0">
              <a:buNone/>
            </a:pPr>
            <a:r>
              <a:rPr lang="en-US" sz="1400" b="1" dirty="0">
                <a:solidFill>
                  <a:srgbClr val="161617"/>
                </a:solidFill>
                <a:latin typeface="Calibri" pitchFamily="34" charset="0"/>
                <a:ea typeface="Calibri" pitchFamily="34" charset="-122"/>
                <a:cs typeface="Calibri" pitchFamily="34" charset="-120"/>
              </a:rPr>
              <a:t>Transductive evaluation</a:t>
            </a:r>
            <a:endParaRPr lang="en-US" sz="1400" dirty="0"/>
          </a:p>
        </p:txBody>
      </p:sp>
      <p:sp>
        <p:nvSpPr>
          <p:cNvPr id="23" name="Text 21"/>
          <p:cNvSpPr/>
          <p:nvPr/>
        </p:nvSpPr>
        <p:spPr>
          <a:xfrm>
            <a:off x="3657600" y="5577840"/>
            <a:ext cx="7845552" cy="365760"/>
          </a:xfrm>
          <a:prstGeom prst="rect">
            <a:avLst/>
          </a:prstGeom>
          <a:noFill/>
          <a:ln/>
        </p:spPr>
        <p:txBody>
          <a:bodyPr wrap="square" lIns="0" tIns="0" rIns="0" bIns="0" rtlCol="0" anchor="t"/>
          <a:lstStyle/>
          <a:p>
            <a:pPr indent="0" marL="0">
              <a:lnSpc>
                <a:spcPts val="1600"/>
              </a:lnSpc>
              <a:buNone/>
            </a:pPr>
            <a:r>
              <a:rPr lang="en-US" sz="1400" dirty="0">
                <a:solidFill>
                  <a:srgbClr val="6E6E73"/>
                </a:solidFill>
                <a:latin typeface="Calibri" pitchFamily="34" charset="0"/>
                <a:ea typeface="Calibri" pitchFamily="34" charset="-122"/>
                <a:cs typeface="Calibri" pitchFamily="34" charset="-120"/>
              </a:rPr>
              <a:t>Evaluation where structure was learned using data that also appears in validation — as with tournament-wide clustering</a:t>
            </a:r>
            <a:endParaRPr lang="en-US" sz="1400" dirty="0"/>
          </a:p>
        </p:txBody>
      </p:sp>
      <p:sp>
        <p:nvSpPr>
          <p:cNvPr id="24" name="Text 22"/>
          <p:cNvSpPr/>
          <p:nvPr/>
        </p:nvSpPr>
        <p:spPr>
          <a:xfrm>
            <a:off x="685800" y="5989320"/>
            <a:ext cx="2834640" cy="365760"/>
          </a:xfrm>
          <a:prstGeom prst="rect">
            <a:avLst/>
          </a:prstGeom>
          <a:noFill/>
          <a:ln/>
        </p:spPr>
        <p:txBody>
          <a:bodyPr wrap="square" lIns="0" tIns="0" rIns="0" bIns="0" rtlCol="0" anchor="t"/>
          <a:lstStyle/>
          <a:p>
            <a:pPr indent="0" marL="0">
              <a:buNone/>
            </a:pPr>
            <a:r>
              <a:rPr lang="en-US" sz="1400" b="1" dirty="0">
                <a:solidFill>
                  <a:srgbClr val="161617"/>
                </a:solidFill>
                <a:latin typeface="Calibri" pitchFamily="34" charset="0"/>
                <a:ea typeface="Calibri" pitchFamily="34" charset="-122"/>
                <a:cs typeface="Calibri" pitchFamily="34" charset="-120"/>
              </a:rPr>
              <a:t>Temporal leakage</a:t>
            </a:r>
            <a:endParaRPr lang="en-US" sz="1400" dirty="0"/>
          </a:p>
        </p:txBody>
      </p:sp>
      <p:sp>
        <p:nvSpPr>
          <p:cNvPr id="25" name="Text 23"/>
          <p:cNvSpPr/>
          <p:nvPr/>
        </p:nvSpPr>
        <p:spPr>
          <a:xfrm>
            <a:off x="3657600" y="5989320"/>
            <a:ext cx="7845552" cy="365760"/>
          </a:xfrm>
          <a:prstGeom prst="rect">
            <a:avLst/>
          </a:prstGeom>
          <a:noFill/>
          <a:ln/>
        </p:spPr>
        <p:txBody>
          <a:bodyPr wrap="square" lIns="0" tIns="0" rIns="0" bIns="0" rtlCol="0" anchor="t"/>
          <a:lstStyle/>
          <a:p>
            <a:pPr indent="0" marL="0">
              <a:lnSpc>
                <a:spcPts val="1600"/>
              </a:lnSpc>
              <a:buNone/>
            </a:pPr>
            <a:r>
              <a:rPr lang="en-US" sz="1400" dirty="0">
                <a:solidFill>
                  <a:srgbClr val="6E6E73"/>
                </a:solidFill>
                <a:latin typeface="Calibri" pitchFamily="34" charset="0"/>
                <a:ea typeface="Calibri" pitchFamily="34" charset="-122"/>
                <a:cs typeface="Calibri" pitchFamily="34" charset="-120"/>
              </a:rPr>
              <a:t>Using information that would not exist at the declared prediction cutoff</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5F7"/>
        </a:solidFill>
      </p:bgPr>
    </p:bg>
    <p:spTree>
      <p:nvGrpSpPr>
        <p:cNvPr id="1" name=""/>
        <p:cNvGrpSpPr/>
        <p:nvPr/>
      </p:nvGrpSpPr>
      <p:grpSpPr>
        <a:xfrm>
          <a:off x="0" y="0"/>
          <a:ext cx="0" cy="0"/>
          <a:chOff x="0" y="0"/>
          <a:chExt cx="0" cy="0"/>
        </a:xfrm>
      </p:grpSpPr>
      <p:sp>
        <p:nvSpPr>
          <p:cNvPr id="2" name="Text 0"/>
          <p:cNvSpPr/>
          <p:nvPr/>
        </p:nvSpPr>
        <p:spPr>
          <a:xfrm>
            <a:off x="685800" y="365760"/>
            <a:ext cx="10817352" cy="256032"/>
          </a:xfrm>
          <a:prstGeom prst="rect">
            <a:avLst/>
          </a:prstGeom>
          <a:noFill/>
          <a:ln/>
        </p:spPr>
        <p:txBody>
          <a:bodyPr wrap="square" lIns="0" tIns="0" rIns="0" bIns="0" rtlCol="0" anchor="t"/>
          <a:lstStyle/>
          <a:p>
            <a:pPr indent="0" marL="0">
              <a:buNone/>
            </a:pPr>
            <a:r>
              <a:rPr lang="en-US" sz="1200" b="1" spc="160" kern="0" dirty="0">
                <a:solidFill>
                  <a:srgbClr val="6E6E73"/>
                </a:solidFill>
                <a:latin typeface="Calibri" pitchFamily="34" charset="0"/>
                <a:ea typeface="Calibri" pitchFamily="34" charset="-122"/>
                <a:cs typeface="Calibri" pitchFamily="34" charset="-120"/>
              </a:rPr>
              <a:t>APPENDIX F</a:t>
            </a:r>
            <a:endParaRPr lang="en-US" sz="1200" dirty="0"/>
          </a:p>
        </p:txBody>
      </p:sp>
      <p:sp>
        <p:nvSpPr>
          <p:cNvPr id="3" name="Text 1"/>
          <p:cNvSpPr/>
          <p:nvPr/>
        </p:nvSpPr>
        <p:spPr>
          <a:xfrm>
            <a:off x="685800" y="640080"/>
            <a:ext cx="10698480" cy="1051560"/>
          </a:xfrm>
          <a:prstGeom prst="rect">
            <a:avLst/>
          </a:prstGeom>
          <a:noFill/>
          <a:ln/>
        </p:spPr>
        <p:txBody>
          <a:bodyPr wrap="square" lIns="0" tIns="0" rIns="0" bIns="0" rtlCol="0" anchor="t"/>
          <a:lstStyle/>
          <a:p>
            <a:pPr indent="0" marL="0">
              <a:lnSpc>
                <a:spcPts val="4000"/>
              </a:lnSpc>
              <a:buNone/>
            </a:pPr>
            <a:r>
              <a:rPr lang="en-US" sz="3500" b="1" dirty="0">
                <a:solidFill>
                  <a:srgbClr val="161617"/>
                </a:solidFill>
                <a:latin typeface="Calibri" pitchFamily="34" charset="0"/>
                <a:ea typeface="Calibri" pitchFamily="34" charset="-122"/>
                <a:cs typeface="Calibri" pitchFamily="34" charset="-120"/>
              </a:rPr>
              <a:t>Source map — internal files behind this deck</a:t>
            </a:r>
            <a:endParaRPr lang="en-US" sz="3500" dirty="0"/>
          </a:p>
        </p:txBody>
      </p:sp>
      <p:sp>
        <p:nvSpPr>
          <p:cNvPr id="4" name="Text 2"/>
          <p:cNvSpPr/>
          <p:nvPr/>
        </p:nvSpPr>
        <p:spPr>
          <a:xfrm>
            <a:off x="685800" y="1874520"/>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data/raw/info.md</a:t>
            </a:r>
            <a:endParaRPr lang="en-US" sz="1300" dirty="0"/>
          </a:p>
        </p:txBody>
      </p:sp>
      <p:sp>
        <p:nvSpPr>
          <p:cNvPr id="5" name="Text 3"/>
          <p:cNvSpPr/>
          <p:nvPr/>
        </p:nvSpPr>
        <p:spPr>
          <a:xfrm>
            <a:off x="685800" y="2162556"/>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README.md</a:t>
            </a:r>
            <a:endParaRPr lang="en-US" sz="1300" dirty="0"/>
          </a:p>
        </p:txBody>
      </p:sp>
      <p:sp>
        <p:nvSpPr>
          <p:cNvPr id="6" name="Text 4"/>
          <p:cNvSpPr/>
          <p:nvPr/>
        </p:nvSpPr>
        <p:spPr>
          <a:xfrm>
            <a:off x="685800" y="2450592"/>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data/processed/possession_data_dictionary.md</a:t>
            </a:r>
            <a:endParaRPr lang="en-US" sz="1300" dirty="0"/>
          </a:p>
        </p:txBody>
      </p:sp>
      <p:sp>
        <p:nvSpPr>
          <p:cNvPr id="7" name="Text 5"/>
          <p:cNvSpPr/>
          <p:nvPr/>
        </p:nvSpPr>
        <p:spPr>
          <a:xfrm>
            <a:off x="685800" y="2738628"/>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config/coaching_input_contract.md</a:t>
            </a:r>
            <a:endParaRPr lang="en-US" sz="1300" dirty="0"/>
          </a:p>
        </p:txBody>
      </p:sp>
      <p:sp>
        <p:nvSpPr>
          <p:cNvPr id="8" name="Text 6"/>
          <p:cNvSpPr/>
          <p:nvPr/>
        </p:nvSpPr>
        <p:spPr>
          <a:xfrm>
            <a:off x="685800" y="3026664"/>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results/possession_validation_report.md</a:t>
            </a:r>
            <a:endParaRPr lang="en-US" sz="1300" dirty="0"/>
          </a:p>
        </p:txBody>
      </p:sp>
      <p:sp>
        <p:nvSpPr>
          <p:cNvPr id="9" name="Text 7"/>
          <p:cNvSpPr/>
          <p:nvPr/>
        </p:nvSpPr>
        <p:spPr>
          <a:xfrm>
            <a:off x="685800" y="3314700"/>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results/frames_360_validation.md</a:t>
            </a:r>
            <a:endParaRPr lang="en-US" sz="1300" dirty="0"/>
          </a:p>
        </p:txBody>
      </p:sp>
      <p:sp>
        <p:nvSpPr>
          <p:cNvPr id="10" name="Text 8"/>
          <p:cNvSpPr/>
          <p:nvPr/>
        </p:nvSpPr>
        <p:spPr>
          <a:xfrm>
            <a:off x="685800" y="3602736"/>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results/defensive_feature_validation.md</a:t>
            </a:r>
            <a:endParaRPr lang="en-US" sz="1300" dirty="0"/>
          </a:p>
        </p:txBody>
      </p:sp>
      <p:sp>
        <p:nvSpPr>
          <p:cNvPr id="11" name="Text 9"/>
          <p:cNvSpPr/>
          <p:nvPr/>
        </p:nvSpPr>
        <p:spPr>
          <a:xfrm>
            <a:off x="685800" y="3890772"/>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results/attacking_style_summary.md</a:t>
            </a:r>
            <a:endParaRPr lang="en-US" sz="1300" dirty="0"/>
          </a:p>
        </p:txBody>
      </p:sp>
      <p:sp>
        <p:nvSpPr>
          <p:cNvPr id="12" name="Text 10"/>
          <p:cNvSpPr/>
          <p:nvPr/>
        </p:nvSpPr>
        <p:spPr>
          <a:xfrm>
            <a:off x="685800" y="4178808"/>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results/defensive_style_summary.md</a:t>
            </a:r>
            <a:endParaRPr lang="en-US" sz="1300" dirty="0"/>
          </a:p>
        </p:txBody>
      </p:sp>
      <p:sp>
        <p:nvSpPr>
          <p:cNvPr id="13" name="Text 11"/>
          <p:cNvSpPr/>
          <p:nvPr/>
        </p:nvSpPr>
        <p:spPr>
          <a:xfrm>
            <a:off x="685800" y="4466844"/>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results/defensive_matchup_summary.md</a:t>
            </a:r>
            <a:endParaRPr lang="en-US" sz="1300" dirty="0"/>
          </a:p>
        </p:txBody>
      </p:sp>
      <p:sp>
        <p:nvSpPr>
          <p:cNvPr id="14" name="Text 12"/>
          <p:cNvSpPr/>
          <p:nvPr/>
        </p:nvSpPr>
        <p:spPr>
          <a:xfrm>
            <a:off x="685800" y="4754880"/>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results/coaching_model_benchmark.md</a:t>
            </a:r>
            <a:endParaRPr lang="en-US" sz="1300" dirty="0"/>
          </a:p>
        </p:txBody>
      </p:sp>
      <p:sp>
        <p:nvSpPr>
          <p:cNvPr id="15" name="Text 13"/>
          <p:cNvSpPr/>
          <p:nvPr/>
        </p:nvSpPr>
        <p:spPr>
          <a:xfrm>
            <a:off x="685800" y="5042916"/>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results/coaching_model_selection.md</a:t>
            </a:r>
            <a:endParaRPr lang="en-US" sz="1300" dirty="0"/>
          </a:p>
        </p:txBody>
      </p:sp>
      <p:sp>
        <p:nvSpPr>
          <p:cNvPr id="16" name="Text 14"/>
          <p:cNvSpPr/>
          <p:nvPr/>
        </p:nvSpPr>
        <p:spPr>
          <a:xfrm>
            <a:off x="685800" y="5330952"/>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results/coaching_model_explanations.md</a:t>
            </a:r>
            <a:endParaRPr lang="en-US" sz="1300" dirty="0"/>
          </a:p>
        </p:txBody>
      </p:sp>
      <p:sp>
        <p:nvSpPr>
          <p:cNvPr id="17" name="Text 15"/>
          <p:cNvSpPr/>
          <p:nvPr/>
        </p:nvSpPr>
        <p:spPr>
          <a:xfrm>
            <a:off x="685800" y="5618988"/>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results/stage5_leakage_audit.md</a:t>
            </a:r>
            <a:endParaRPr lang="en-US" sz="1300" dirty="0"/>
          </a:p>
        </p:txBody>
      </p:sp>
      <p:sp>
        <p:nvSpPr>
          <p:cNvPr id="18" name="Text 16"/>
          <p:cNvSpPr/>
          <p:nvPr/>
        </p:nvSpPr>
        <p:spPr>
          <a:xfrm>
            <a:off x="6309360" y="1874520"/>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results/player_skill_input_validation.md</a:t>
            </a:r>
            <a:endParaRPr lang="en-US" sz="1300" dirty="0"/>
          </a:p>
        </p:txBody>
      </p:sp>
      <p:sp>
        <p:nvSpPr>
          <p:cNvPr id="19" name="Text 17"/>
          <p:cNvSpPr/>
          <p:nvPr/>
        </p:nvSpPr>
        <p:spPr>
          <a:xfrm>
            <a:off x="6309360" y="2162556"/>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results/recommendation_feature_validation.md</a:t>
            </a:r>
            <a:endParaRPr lang="en-US" sz="1300" dirty="0"/>
          </a:p>
        </p:txBody>
      </p:sp>
      <p:sp>
        <p:nvSpPr>
          <p:cNvPr id="20" name="Text 18"/>
          <p:cNvSpPr/>
          <p:nvPr/>
        </p:nvSpPr>
        <p:spPr>
          <a:xfrm>
            <a:off x="6309360" y="2450592"/>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results/recommendation_model_benchmark.md</a:t>
            </a:r>
            <a:endParaRPr lang="en-US" sz="1300" dirty="0"/>
          </a:p>
        </p:txBody>
      </p:sp>
      <p:sp>
        <p:nvSpPr>
          <p:cNvPr id="21" name="Text 19"/>
          <p:cNvSpPr/>
          <p:nvPr/>
        </p:nvSpPr>
        <p:spPr>
          <a:xfrm>
            <a:off x="6309360" y="2738628"/>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results/transition_model_benchmark.md</a:t>
            </a:r>
            <a:endParaRPr lang="en-US" sz="1300" dirty="0"/>
          </a:p>
        </p:txBody>
      </p:sp>
      <p:sp>
        <p:nvSpPr>
          <p:cNvPr id="22" name="Text 20"/>
          <p:cNvSpPr/>
          <p:nvPr/>
        </p:nvSpPr>
        <p:spPr>
          <a:xfrm>
            <a:off x="6309360" y="3026664"/>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results/recommendation_simulator_summary.md</a:t>
            </a:r>
            <a:endParaRPr lang="en-US" sz="1300" dirty="0"/>
          </a:p>
        </p:txBody>
      </p:sp>
      <p:sp>
        <p:nvSpPr>
          <p:cNvPr id="23" name="Text 21"/>
          <p:cNvSpPr/>
          <p:nvPr/>
        </p:nvSpPr>
        <p:spPr>
          <a:xfrm>
            <a:off x="6309360" y="3314700"/>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results/recommendation_validation_summary.md</a:t>
            </a:r>
            <a:endParaRPr lang="en-US" sz="1300" dirty="0"/>
          </a:p>
        </p:txBody>
      </p:sp>
      <p:sp>
        <p:nvSpPr>
          <p:cNvPr id="24" name="Text 22"/>
          <p:cNvSpPr/>
          <p:nvPr/>
        </p:nvSpPr>
        <p:spPr>
          <a:xfrm>
            <a:off x="6309360" y="3602736"/>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results/recommendation_leave_one_team_out.md</a:t>
            </a:r>
            <a:endParaRPr lang="en-US" sz="1300" dirty="0"/>
          </a:p>
        </p:txBody>
      </p:sp>
      <p:sp>
        <p:nvSpPr>
          <p:cNvPr id="25" name="Text 23"/>
          <p:cNvSpPr/>
          <p:nvPr/>
        </p:nvSpPr>
        <p:spPr>
          <a:xfrm>
            <a:off x="6309360" y="3890772"/>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results/reports/pipeline_manifest.json</a:t>
            </a:r>
            <a:endParaRPr lang="en-US" sz="1300" dirty="0"/>
          </a:p>
        </p:txBody>
      </p:sp>
      <p:sp>
        <p:nvSpPr>
          <p:cNvPr id="26" name="Text 24"/>
          <p:cNvSpPr/>
          <p:nvPr/>
        </p:nvSpPr>
        <p:spPr>
          <a:xfrm>
            <a:off x="6309360" y="4178808"/>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results/reports/final/world_cup_team_performance_and_top_players.md</a:t>
            </a:r>
            <a:endParaRPr lang="en-US" sz="1300" dirty="0"/>
          </a:p>
        </p:txBody>
      </p:sp>
      <p:sp>
        <p:nvSpPr>
          <p:cNvPr id="27" name="Text 25"/>
          <p:cNvSpPr/>
          <p:nvPr/>
        </p:nvSpPr>
        <p:spPr>
          <a:xfrm>
            <a:off x="6309360" y="4466844"/>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data/processed/player_evaluation_provenance.json</a:t>
            </a:r>
            <a:endParaRPr lang="en-US" sz="1300" dirty="0"/>
          </a:p>
        </p:txBody>
      </p:sp>
      <p:sp>
        <p:nvSpPr>
          <p:cNvPr id="28" name="Text 26"/>
          <p:cNvSpPr/>
          <p:nvPr/>
        </p:nvSpPr>
        <p:spPr>
          <a:xfrm>
            <a:off x="6309360" y="4754880"/>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scripts/eda_validation_checks.py</a:t>
            </a:r>
            <a:endParaRPr lang="en-US" sz="1300" dirty="0"/>
          </a:p>
        </p:txBody>
      </p:sp>
      <p:sp>
        <p:nvSpPr>
          <p:cNvPr id="29" name="Text 27"/>
          <p:cNvSpPr/>
          <p:nvPr/>
        </p:nvSpPr>
        <p:spPr>
          <a:xfrm>
            <a:off x="6309360" y="5042916"/>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scripts/benchmark_coaching_models_v2.py</a:t>
            </a:r>
            <a:endParaRPr lang="en-US" sz="1300" dirty="0"/>
          </a:p>
        </p:txBody>
      </p:sp>
      <p:sp>
        <p:nvSpPr>
          <p:cNvPr id="30" name="Text 28"/>
          <p:cNvSpPr/>
          <p:nvPr/>
        </p:nvSpPr>
        <p:spPr>
          <a:xfrm>
            <a:off x="6309360" y="5330952"/>
            <a:ext cx="5394960" cy="256032"/>
          </a:xfrm>
          <a:prstGeom prst="rect">
            <a:avLst/>
          </a:prstGeom>
          <a:noFill/>
          <a:ln/>
        </p:spPr>
        <p:txBody>
          <a:bodyPr wrap="square" lIns="0" tIns="0" rIns="0" bIns="0" rtlCol="0" anchor="t"/>
          <a:lstStyle/>
          <a:p>
            <a:pPr indent="0" marL="0">
              <a:buNone/>
            </a:pPr>
            <a:r>
              <a:rPr lang="en-US" sz="1300" dirty="0">
                <a:solidFill>
                  <a:srgbClr val="161617"/>
                </a:solidFill>
                <a:latin typeface="Courier New" pitchFamily="34" charset="0"/>
                <a:ea typeface="Courier New" pitchFamily="34" charset="-122"/>
                <a:cs typeface="Courier New" pitchFamily="34" charset="-120"/>
              </a:rPr>
              <a:t>scripts/build_recommendation_features.py</a:t>
            </a:r>
            <a:endParaRPr lang="en-US" sz="1300" dirty="0"/>
          </a:p>
        </p:txBody>
      </p:sp>
      <p:sp>
        <p:nvSpPr>
          <p:cNvPr id="31" name="Shape 29"/>
          <p:cNvSpPr/>
          <p:nvPr/>
        </p:nvSpPr>
        <p:spPr>
          <a:xfrm>
            <a:off x="685800" y="5897880"/>
            <a:ext cx="10817352" cy="566928"/>
          </a:xfrm>
          <a:prstGeom prst="roundRect">
            <a:avLst>
              <a:gd name="adj" fmla="val 9677"/>
            </a:avLst>
          </a:prstGeom>
          <a:solidFill>
            <a:srgbClr val="F9E7E8"/>
          </a:solidFill>
          <a:ln w="9525">
            <a:solidFill>
              <a:srgbClr val="F9E7E8"/>
            </a:solidFill>
            <a:prstDash val="solid"/>
          </a:ln>
        </p:spPr>
      </p:sp>
      <p:sp>
        <p:nvSpPr>
          <p:cNvPr id="32" name="Text 30"/>
          <p:cNvSpPr/>
          <p:nvPr/>
        </p:nvSpPr>
        <p:spPr>
          <a:xfrm>
            <a:off x="960120" y="6099048"/>
            <a:ext cx="10268712" cy="228600"/>
          </a:xfrm>
          <a:prstGeom prst="rect">
            <a:avLst/>
          </a:prstGeom>
          <a:noFill/>
          <a:ln/>
        </p:spPr>
        <p:txBody>
          <a:bodyPr wrap="square" lIns="0" tIns="0" rIns="0" bIns="0" rtlCol="0" anchor="t"/>
          <a:lstStyle/>
          <a:p>
            <a:pPr indent="0" marL="0">
              <a:lnSpc>
                <a:spcPts val="1875"/>
              </a:lnSpc>
              <a:buNone/>
            </a:pPr>
            <a:r>
              <a:rPr lang="en-US" sz="1500" dirty="0">
                <a:solidFill>
                  <a:srgbClr val="161617"/>
                </a:solidFill>
                <a:latin typeface="Calibri" pitchFamily="34" charset="0"/>
                <a:ea typeface="Calibri" pitchFamily="34" charset="-122"/>
                <a:cs typeface="Calibri" pitchFamily="34" charset="-120"/>
              </a:rPr>
              <a:t>results/eda_validation_report.json is deliberately absent: use it only after regenerating it from the current checkout.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World Cup S-Bomb — Technical Onboarding</dc:title>
  <dc:subject>PptxGenJS Presentation</dc:subject>
  <dc:creator>World Cup S-Bomb project</dc:creator>
  <cp:lastModifiedBy>World Cup S-Bomb project</cp:lastModifiedBy>
  <cp:revision>1</cp:revision>
  <dcterms:created xsi:type="dcterms:W3CDTF">2026-07-27T17:01:52Z</dcterms:created>
  <dcterms:modified xsi:type="dcterms:W3CDTF">2026-07-27T17:01:52Z</dcterms:modified>
</cp:coreProperties>
</file>